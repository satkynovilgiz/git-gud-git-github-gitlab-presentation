
<file path=[Content_Types].xml><?xml version="1.0" encoding="utf-8"?>
<Types xmlns="http://schemas.openxmlformats.org/package/2006/content-types">
  <Default Extension="fntdata" ContentType="application/x-fontdata"/>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embeddedFontLst>
    <p:embeddedFont>
      <p:font typeface="Bungee" pitchFamily="2" charset="77"/>
      <p:regular r:id="rId33"/>
    </p:embeddedFont>
    <p:embeddedFont>
      <p:font typeface="Fredoka" pitchFamily="2" charset="-79"/>
      <p:regular r:id="rId34"/>
      <p:bold r:id="rId35"/>
    </p:embeddedFont>
    <p:embeddedFont>
      <p:font typeface="JetBrains Mono" panose="02000009000000000000" pitchFamily="49" charset="0"/>
      <p:regular r:id="rId36"/>
      <p:bold r:id="rId3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p:scale>
          <a:sx n="109" d="100"/>
          <a:sy n="109" d="100"/>
        </p:scale>
        <p:origin x="704" y="6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7870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leveling up with the one tool every real game studio uses: Git. By the end you’ll know what Git, GitHub and GitLab are, and you’ll know how to push your own game online. Think of this as a 30-minute speedrun.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quest map. Four checkpoints: what Git is, what GitHub and GitLab are, the real commands, and how to push straight from VS Code. If you get lost at any point, shout. There are no dumb questions in this club.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Ilgiz Satkynov, and I’m your host today. Scan the QR codes to connect with me on LinkedIn and follow me on GitHub. By the end of today you’ll have your own GitHub too, so follow me 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Before any commands, let’s get the big picture: what Git is, what GitHub and GitLab are, and why anybody bothers.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way to think about Git: it’s a save system for your code. Every time you “commit”, you make a save point. At 2:47 am when you break everything, you just load the last good save. No more copying folders around.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has its own vocabulary, but every word maps to something you already know from games. Commit is saving. Log is your list of saves. Branch is a parallel timeline. Merge combines timelines. A remote is the online server, like GitHub.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to remember. You edit files in your working folder. git add puts the changes you want into the staging area, like packing a backpack. git commit makes the actual save. git push uploads your saves to GitHub or GitLab so the team can see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confusion point: Git and GitHub are not the same thing. Git is the program on your laptop. GitHub is a website that hosts Git projects online, plus tools for teams: pull requests, issues, and Actions. Bonus: the GitHub Student Developer Pack gives you free pro tools once you verify you’re a student.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GitLab does the same core job as GitHub: hosting Git projects online. Its big thing is being all-in-one, with CI/CD pipelines built right in, and you can run it on your own server. On GitLab, pull requests are called merge requests. Same 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reasons. The big ones for us: your game survives a dead laptop, you get infinite undo, and a team can work on one project without sending zip files around Discord. Plus, knowing Git is expected at basically every internship.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who has a folder that looks like the left side? We’ve all been there. With Git you keep one folder, and every version lives in its history with a message saying what changed.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2. Now we actually type stuff. Everything from here is real commands you can copy. If you have a laptop, follow along.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One-time setup. Install Git from git-scm.com, make a free GitHub or GitLab account, and check it works with git --version. Then tell Git your name and email, which get stamped on every save. git init turns any folder into a Git repo.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90 percent of what you’ll do every day. git status shows what changed. git add picks the files. git commit with a message saves. git push uploads. Write messages like patch notes: “Add double jump,” not “stuff.”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join an existing project, you clone it once. That downloads the code and its full history. Then every day before you start, git pull to grab whatever your teammates pushed. Golden rule: pull before you work, push when you’re done. It prevents most merge conflicts.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branch is a parallel universe of your project. You can go wild adding double jump on a branch while main stays playable. When it works, you merge it back. If it’s a disaster, delete the branch and nobody ever knows.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conflicts sound scary but they’re just Git asking a question. Two people edited the same line. Git marks both versions. You keep the one you want, or combine them, delete the marker lines, then add and commit. VS Code even gives you Accept buttons right above the conflict.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engines generate tons of cache files. Unity’s Library folder alone can be gigabytes, and Unity rebuilds it automatically. A .gitignore tells Git to skip those. Add one before your first commit. GitHub has ready-made templates for Unity and Godot.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3. Everything we just typed, VS Code can do with buttons. Under the hood it runs the exact same Git commands.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VS Code version of add and commit. Click the Source Control icon, the one that looks like a branch. Hover a file and click the plus to stage it. Type your message in the box, then hit Commit. That’s literally git add plus git commit.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it online: click Publish Branch. VS Code asks if you want a private or public GitHub repo, then pops open your browser to sign in. Click Allow, done, your game is on GitHub. After that, the button turns into Sync Changes, which pulls and pushes in one click. For GitLab, create an empty project on the website and point your repo at it with git remote add, then push once.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everyone uses VS Code. In Visual Studio, open the Git Changes window, type a message, Commit All, then push. In Rider it’s Ctrl+K to commit and Ctrl+Shift+K to push. Godot folks can use the terminal, GitHub Desktop, or the official Godot Git plugin. GitHub Desktop is the easiest app if you never want to type a command.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level: how teams actually work together with pull requests, the GitHub versus GitLab showdown, and some pro tips specifically for game projects.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real teams work. Make a branch, commit, push it, then open a pull request on GitHub, or a merge request on GitLab. A teammate reviews the code, leaves comments, and approves. Then it gets merged into main. Reviews catch bugs, and embarrassing debug logs.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to head: GitHub is the biggest community and where most open source and portfolios live. GitLab is the all-in-one platform with CI/CD built in, and you can self-host the free Community Edition. For our club, GitHub is usually easiest for portfolios and game jams. But both run on Git, so everything you learned today works on either.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repos have special problems. Big art and audio files should go in Git LFS. Commit small and often. Write messages like patch notes. Never commit passwords or API keys, because bots scan public repos for them. And in Unity, two people editing the same scene file is pain, so split work into prefabs or separate scenes.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tier list. Left side: commit messages we have all written at 3 am. Right side: messages your teammates, and future you, will actually understand. Formula: start with a verb, say what changed.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twelve commands that cover almost everything you’ll do. Tell everyone to screenshot this slide. If you only remember four: status, add, commit, push.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but fun: install Git, make an account, push any project, even a Pong clone, and post the link in the club Discord. Everyone who does it gets bragging rights. Then open it up for questions. GG everyone!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Play the hamster video, either click the link or let people scan the QR code. Then thank everyone for coming. GG!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B10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FF4E0"/>
                </a:solidFill>
                <a:latin typeface="Bungee" pitchFamily="34" charset="0"/>
                <a:ea typeface="Bungee" pitchFamily="34" charset="-122"/>
                <a:cs typeface="Bungee"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889720"/>
            <a:ext cx="10566400" cy="4155480"/>
          </a:xfrm>
          <a:prstGeom prst="rect">
            <a:avLst/>
          </a:prstGeom>
          <a:noFill/>
          <a:ln/>
        </p:spPr>
        <p:txBody>
          <a:bodyPr wrap="square" lIns="0" tIns="0" rIns="0" bIns="0" rtlCol="0" anchor="t"/>
          <a:lstStyle>
            <a:lvl1pPr marL="0" indent="0" algn="l">
              <a:lnSpc>
                <a:spcPct val="140000"/>
              </a:lnSpc>
              <a:buNone/>
              <a:defRPr lang="en-US" sz="1600" dirty="0">
                <a:solidFill>
                  <a:srgbClr val="FFF4E0"/>
                </a:solidFill>
                <a:latin typeface="Fredoka" pitchFamily="34" charset="0"/>
                <a:ea typeface="Fredoka" pitchFamily="34" charset="-122"/>
                <a:cs typeface="Fredoka"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FF4E0"/>
                </a:solidFill>
                <a:latin typeface="Bungee" pitchFamily="34" charset="0"/>
                <a:ea typeface="Bungee" pitchFamily="34" charset="-122"/>
                <a:cs typeface="Bungee"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889720"/>
            <a:ext cx="10566400" cy="4155480"/>
          </a:xfrm>
          <a:prstGeom prst="rect">
            <a:avLst/>
          </a:prstGeom>
          <a:noFill/>
          <a:ln/>
        </p:spPr>
        <p:txBody>
          <a:bodyPr wrap="square" lIns="0" tIns="0" rIns="0" bIns="0" rtlCol="0" anchor="t"/>
          <a:lstStyle>
            <a:lvl1pPr marL="0" indent="0" algn="l">
              <a:lnSpc>
                <a:spcPct val="140000"/>
              </a:lnSpc>
              <a:buNone/>
              <a:defRPr lang="en-US" sz="1600" dirty="0">
                <a:solidFill>
                  <a:srgbClr val="FFF4E0"/>
                </a:solidFill>
                <a:latin typeface="Fredoka" pitchFamily="34" charset="0"/>
                <a:ea typeface="Fredoka" pitchFamily="34" charset="-122"/>
                <a:cs typeface="Fredoka"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FF4E0"/>
                </a:solidFill>
                <a:latin typeface="Bungee" pitchFamily="34" charset="0"/>
                <a:ea typeface="Bungee" pitchFamily="34" charset="-122"/>
                <a:cs typeface="Bungee"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889720"/>
            <a:ext cx="10566400" cy="4155480"/>
          </a:xfrm>
          <a:prstGeom prst="rect">
            <a:avLst/>
          </a:prstGeom>
          <a:noFill/>
          <a:ln/>
        </p:spPr>
        <p:txBody>
          <a:bodyPr wrap="square" lIns="0" tIns="0" rIns="0" bIns="0" rtlCol="0" anchor="t"/>
          <a:lstStyle>
            <a:lvl1pPr marL="0" indent="0" algn="l">
              <a:lnSpc>
                <a:spcPct val="140000"/>
              </a:lnSpc>
              <a:buNone/>
              <a:defRPr lang="en-US" sz="1600" dirty="0">
                <a:solidFill>
                  <a:srgbClr val="FFF4E0"/>
                </a:solidFill>
                <a:latin typeface="Fredoka" pitchFamily="34" charset="0"/>
                <a:ea typeface="Fredoka" pitchFamily="34" charset="-122"/>
                <a:cs typeface="Fredoka"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FF4E0"/>
                </a:solidFill>
                <a:latin typeface="Bungee" pitchFamily="34" charset="0"/>
                <a:ea typeface="Bungee" pitchFamily="34" charset="-122"/>
                <a:cs typeface="Bungee"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889720"/>
            <a:ext cx="10566400" cy="4155480"/>
          </a:xfrm>
          <a:prstGeom prst="rect">
            <a:avLst/>
          </a:prstGeom>
          <a:noFill/>
          <a:ln/>
        </p:spPr>
        <p:txBody>
          <a:bodyPr wrap="square" lIns="0" tIns="0" rIns="0" bIns="0" rtlCol="0" anchor="t"/>
          <a:lstStyle>
            <a:lvl1pPr marL="0" indent="0" algn="l">
              <a:lnSpc>
                <a:spcPct val="140000"/>
              </a:lnSpc>
              <a:buNone/>
              <a:defRPr lang="en-US" sz="1600" dirty="0">
                <a:solidFill>
                  <a:srgbClr val="FFF4E0"/>
                </a:solidFill>
                <a:latin typeface="Fredoka" pitchFamily="34" charset="0"/>
                <a:ea typeface="Fredoka" pitchFamily="34" charset="-122"/>
                <a:cs typeface="Fredoka"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B10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558800"/>
          </a:xfrm>
          <a:prstGeom prst="rect">
            <a:avLst/>
          </a:prstGeom>
          <a:noFill/>
          <a:ln/>
        </p:spPr>
        <p:txBody>
          <a:bodyPr wrap="square" lIns="0" tIns="0" rIns="0" bIns="0" rtlCol="0" anchor="t"/>
          <a:lstStyle>
            <a:lvl1pPr marL="0" indent="0" algn="l">
              <a:lnSpc>
                <a:spcPct val="115000"/>
              </a:lnSpc>
              <a:buNone/>
              <a:defRPr lang="en-US" sz="4000" dirty="0">
                <a:solidFill>
                  <a:srgbClr val="FFF4E0"/>
                </a:solidFill>
                <a:latin typeface="Bungee" pitchFamily="34" charset="0"/>
                <a:ea typeface="Bungee" pitchFamily="34" charset="-122"/>
                <a:cs typeface="Bungee" pitchFamily="34" charset="-120"/>
              </a:defRPr>
            </a:lvl1pPr>
          </a:lstStyle>
          <a:p>
            <a:pPr marL="0" indent="0" algn="l">
              <a:lnSpc>
                <a:spcPct val="115000"/>
              </a:lnSpc>
              <a:buNone/>
            </a:pPr>
            <a:endParaRPr lang="en-US" sz="4000" dirty="0"/>
          </a:p>
        </p:txBody>
      </p:sp>
      <p:sp>
        <p:nvSpPr>
          <p:cNvPr id="3" name="Text Placeholder 2"/>
          <p:cNvSpPr>
            <a:spLocks noGrp="1"/>
          </p:cNvSpPr>
          <p:nvPr>
            <p:ph type="body" idx="101"/>
          </p:nvPr>
        </p:nvSpPr>
        <p:spPr>
          <a:xfrm>
            <a:off x="812800" y="1889720"/>
            <a:ext cx="10566400" cy="4155480"/>
          </a:xfrm>
          <a:prstGeom prst="rect">
            <a:avLst/>
          </a:prstGeom>
          <a:noFill/>
          <a:ln/>
        </p:spPr>
        <p:txBody>
          <a:bodyPr wrap="square" lIns="0" tIns="0" rIns="0" bIns="0" rtlCol="0" anchor="t"/>
          <a:lstStyle>
            <a:lvl1pPr marL="0" indent="0" algn="l">
              <a:lnSpc>
                <a:spcPct val="140000"/>
              </a:lnSpc>
              <a:buNone/>
              <a:defRPr lang="en-US" sz="1600" dirty="0">
                <a:solidFill>
                  <a:srgbClr val="FFF4E0"/>
                </a:solidFill>
                <a:latin typeface="Fredoka" pitchFamily="34" charset="0"/>
                <a:ea typeface="Fredoka" pitchFamily="34" charset="-122"/>
                <a:cs typeface="Fredoka"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github.com/satkynovilgiz" TargetMode="External"/><Relationship Id="rId5" Type="http://schemas.openxmlformats.org/officeDocument/2006/relationships/image" Target="../media/image9.png"/><Relationship Id="rId4" Type="http://schemas.openxmlformats.org/officeDocument/2006/relationships/hyperlink" Target="https://www.linkedin.com/in/ilgizsatkynov"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6.gif"/></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7.png"/><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709489"/>
            <a:ext cx="65405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6FF3B"/>
                </a:solidFill>
                <a:latin typeface="Press Start 2P" pitchFamily="49" charset="0"/>
                <a:ea typeface="Press Start 2P" pitchFamily="49" charset="-122"/>
                <a:cs typeface="Press Start 2P" pitchFamily="49" charset="-120"/>
              </a:rPr>
              <a:t>PLAYER 1 - PRESS START</a:t>
            </a:r>
            <a:endParaRPr lang="en-US" sz="1400" dirty="0"/>
          </a:p>
        </p:txBody>
      </p:sp>
      <p:sp>
        <p:nvSpPr>
          <p:cNvPr id="3" name="Text 1"/>
          <p:cNvSpPr>
            <a:spLocks noGrp="1"/>
          </p:cNvSpPr>
          <p:nvPr>
            <p:ph type="title"/>
          </p:nvPr>
        </p:nvSpPr>
        <p:spPr>
          <a:xfrm>
            <a:off x="812800" y="2186980"/>
            <a:ext cx="6802120" cy="1168400"/>
          </a:xfrm>
          <a:prstGeom prst="rect">
            <a:avLst/>
          </a:prstGeom>
          <a:noFill/>
          <a:ln/>
        </p:spPr>
        <p:txBody>
          <a:bodyPr wrap="square" lIns="0" tIns="0" rIns="0" bIns="0" rtlCol="0" anchor="t">
            <a:normAutofit fontScale="90000"/>
          </a:bodyPr>
          <a:lstStyle/>
          <a:p>
            <a:pPr marL="0" indent="0" algn="l">
              <a:lnSpc>
                <a:spcPts val="9000"/>
              </a:lnSpc>
              <a:buNone/>
            </a:pPr>
            <a:r>
              <a:rPr lang="en-US" sz="9000" b="0" i="0" dirty="0">
                <a:solidFill>
                  <a:srgbClr val="FFF4E0"/>
                </a:solidFill>
                <a:latin typeface="Bungee" pitchFamily="34" charset="0"/>
                <a:ea typeface="Bungee" pitchFamily="34" charset="-122"/>
                <a:cs typeface="Bungee" pitchFamily="34" charset="-120"/>
              </a:rPr>
              <a:t>GIT GUD</a:t>
            </a:r>
            <a:endParaRPr lang="en-US" sz="9000" dirty="0"/>
          </a:p>
        </p:txBody>
      </p:sp>
      <p:sp>
        <p:nvSpPr>
          <p:cNvPr id="4" name="Text 2"/>
          <p:cNvSpPr/>
          <p:nvPr/>
        </p:nvSpPr>
        <p:spPr>
          <a:xfrm>
            <a:off x="812800" y="3558580"/>
            <a:ext cx="6540500" cy="960041"/>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FF4E0"/>
                </a:solidFill>
                <a:latin typeface="Fredoka" pitchFamily="34" charset="0"/>
                <a:ea typeface="Fredoka" pitchFamily="34" charset="-122"/>
                <a:cs typeface="Fredoka" pitchFamily="34" charset="-120"/>
              </a:rPr>
              <a:t>Git, GitHub &amp; GitLab</a:t>
            </a:r>
            <a:endParaRPr lang="en-US" sz="3200" dirty="0"/>
          </a:p>
          <a:p>
            <a:pPr marL="0" indent="0" algn="l">
              <a:lnSpc>
                <a:spcPts val="3680"/>
              </a:lnSpc>
              <a:buNone/>
            </a:pPr>
            <a:r>
              <a:rPr lang="en-US" sz="3200" b="1" dirty="0">
                <a:solidFill>
                  <a:srgbClr val="FFD23F"/>
                </a:solidFill>
                <a:latin typeface="Fredoka" pitchFamily="34" charset="0"/>
                <a:ea typeface="Fredoka" pitchFamily="34" charset="-122"/>
                <a:cs typeface="Fredoka" pitchFamily="34" charset="-120"/>
              </a:rPr>
              <a:t>for game devs</a:t>
            </a:r>
            <a:endParaRPr lang="en-US" sz="3200" dirty="0"/>
          </a:p>
        </p:txBody>
      </p:sp>
      <p:sp>
        <p:nvSpPr>
          <p:cNvPr id="5" name="Text 3"/>
          <p:cNvSpPr/>
          <p:nvPr/>
        </p:nvSpPr>
        <p:spPr>
          <a:xfrm>
            <a:off x="812800" y="4721820"/>
            <a:ext cx="2519263" cy="426690"/>
          </a:xfrm>
          <a:prstGeom prst="roundRect">
            <a:avLst>
              <a:gd name="adj" fmla="val 50000"/>
            </a:avLst>
          </a:prstGeom>
          <a:solidFill>
            <a:srgbClr val="FF4FA3"/>
          </a:solidFill>
          <a:ln/>
        </p:spPr>
        <p:txBody>
          <a:bodyPr wrap="none" lIns="0" tIns="13713" rIns="0" bIns="0"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De Anza Game Dev Club</a:t>
            </a:r>
            <a:endParaRPr lang="en-US" sz="1400" dirty="0"/>
          </a:p>
        </p:txBody>
      </p:sp>
      <p:pic>
        <p:nvPicPr>
          <p:cNvPr id="8" name="Image 0" descr="Cartoon game controller"/>
          <p:cNvPicPr>
            <a:picLocks noChangeAspect="1"/>
          </p:cNvPicPr>
          <p:nvPr/>
        </p:nvPicPr>
        <p:blipFill>
          <a:blip r:embed="rId3"/>
          <a:srcRect/>
          <a:stretch/>
        </p:blipFill>
        <p:spPr>
          <a:xfrm rot="21120000">
            <a:off x="9531875" y="5238321"/>
            <a:ext cx="2173283" cy="1448855"/>
          </a:xfrm>
          <a:prstGeom prst="rect">
            <a:avLst/>
          </a:prstGeom>
        </p:spPr>
      </p:pic>
      <p:sp>
        <p:nvSpPr>
          <p:cNvPr id="9" name="Text 6"/>
          <p:cNvSpPr/>
          <p:nvPr/>
        </p:nvSpPr>
        <p:spPr>
          <a:xfrm rot="600000">
            <a:off x="10371553" y="897247"/>
            <a:ext cx="1371600" cy="463550"/>
          </a:xfrm>
          <a:custGeom>
            <a:avLst/>
            <a:gdLst/>
            <a:ahLst/>
            <a:cxnLst/>
            <a:rect l="l" t="t" r="r" b="b"/>
            <a:pathLst>
              <a:path w="1371600" h="463550">
                <a:moveTo>
                  <a:pt x="231775" y="0"/>
                </a:moveTo>
                <a:lnTo>
                  <a:pt x="1139825" y="0"/>
                </a:lnTo>
                <a:arcTo wR="231775" hR="231775" stAng="16200000" swAng="5400000"/>
                <a:lnTo>
                  <a:pt x="1371600" y="231775"/>
                </a:lnTo>
                <a:arcTo wR="231775" hR="231775" stAng="0" swAng="5400000"/>
                <a:lnTo>
                  <a:pt x="231775" y="463550"/>
                </a:lnTo>
                <a:arcTo wR="231775" hR="231775" stAng="5400000" swAng="5400000"/>
                <a:lnTo>
                  <a:pt x="0" y="231775"/>
                </a:lnTo>
                <a:arcTo wR="231775" hR="231775" stAng="10800000" swAng="5400000"/>
                <a:close/>
              </a:path>
            </a:pathLst>
          </a:custGeom>
          <a:solidFill>
            <a:srgbClr val="B6FF3B"/>
          </a:solidFill>
          <a:ln w="25400">
            <a:solidFill>
              <a:srgbClr val="1B1035"/>
            </a:solidFill>
            <a:prstDash val="solid"/>
          </a:ln>
          <a:effectLst>
            <a:outerShdw dist="53882" dir="2700000" algn="bl" rotWithShape="0">
              <a:srgbClr val="0E0A1F">
                <a:alpha val="100000"/>
              </a:srgbClr>
            </a:outerShdw>
          </a:effectLst>
        </p:spPr>
        <p:txBody>
          <a:bodyPr wrap="square" lIns="88900" tIns="88900" rIns="88900" bIns="63500" rtlCol="0" anchor="t">
            <a:normAutofit/>
          </a:bodyPr>
          <a:lstStyle/>
          <a:p>
            <a:pPr marL="0" indent="0" algn="ctr">
              <a:lnSpc>
                <a:spcPts val="2240"/>
              </a:lnSpc>
              <a:buNone/>
            </a:pPr>
            <a:r>
              <a:rPr lang="en-US" sz="1600" b="1" dirty="0">
                <a:solidFill>
                  <a:srgbClr val="1B1035"/>
                </a:solidFill>
                <a:latin typeface="Fredoka" pitchFamily="34" charset="0"/>
                <a:ea typeface="Fredoka" pitchFamily="34" charset="-122"/>
                <a:cs typeface="Fredoka" pitchFamily="34" charset="-120"/>
              </a:rPr>
              <a:t>+100 XP</a:t>
            </a:r>
            <a:endParaRPr lang="en-US" sz="1600" dirty="0"/>
          </a:p>
        </p:txBody>
      </p:sp>
      <p:pic>
        <p:nvPicPr>
          <p:cNvPr id="13" name="Picture 12">
            <a:extLst>
              <a:ext uri="{FF2B5EF4-FFF2-40B4-BE49-F238E27FC236}">
                <a16:creationId xmlns:a16="http://schemas.microsoft.com/office/drawing/2014/main" id="{649398DC-27BE-5CDE-F2C2-2F028D0C5385}"/>
              </a:ext>
            </a:extLst>
          </p:cNvPr>
          <p:cNvPicPr>
            <a:picLocks noChangeAspect="1"/>
          </p:cNvPicPr>
          <p:nvPr/>
        </p:nvPicPr>
        <p:blipFill>
          <a:blip r:embed="rId4"/>
          <a:stretch>
            <a:fillRect/>
          </a:stretch>
        </p:blipFill>
        <p:spPr>
          <a:xfrm>
            <a:off x="8392078" y="3049409"/>
            <a:ext cx="2099101" cy="2099101"/>
          </a:xfrm>
          <a:prstGeom prst="rect">
            <a:avLst/>
          </a:prstGeom>
        </p:spPr>
      </p:pic>
      <p:pic>
        <p:nvPicPr>
          <p:cNvPr id="17" name="Picture 16">
            <a:extLst>
              <a:ext uri="{FF2B5EF4-FFF2-40B4-BE49-F238E27FC236}">
                <a16:creationId xmlns:a16="http://schemas.microsoft.com/office/drawing/2014/main" id="{72D11514-FBFA-D3C3-0976-F43873C61E8F}"/>
              </a:ext>
            </a:extLst>
          </p:cNvPr>
          <p:cNvPicPr>
            <a:picLocks noChangeAspect="1"/>
          </p:cNvPicPr>
          <p:nvPr/>
        </p:nvPicPr>
        <p:blipFill>
          <a:blip r:embed="rId5"/>
          <a:stretch>
            <a:fillRect/>
          </a:stretch>
        </p:blipFill>
        <p:spPr>
          <a:xfrm>
            <a:off x="6588105" y="741861"/>
            <a:ext cx="2307548" cy="2307548"/>
          </a:xfrm>
          <a:prstGeom prst="rect">
            <a:avLst/>
          </a:prstGeom>
        </p:spPr>
      </p:pic>
      <p:pic>
        <p:nvPicPr>
          <p:cNvPr id="19" name="Picture 18">
            <a:extLst>
              <a:ext uri="{FF2B5EF4-FFF2-40B4-BE49-F238E27FC236}">
                <a16:creationId xmlns:a16="http://schemas.microsoft.com/office/drawing/2014/main" id="{CC89A808-C77E-C232-F699-61AD3E889F77}"/>
              </a:ext>
            </a:extLst>
          </p:cNvPr>
          <p:cNvPicPr>
            <a:picLocks noChangeAspect="1"/>
          </p:cNvPicPr>
          <p:nvPr/>
        </p:nvPicPr>
        <p:blipFill>
          <a:blip r:embed="rId6"/>
          <a:stretch>
            <a:fillRect/>
          </a:stretch>
        </p:blipFill>
        <p:spPr>
          <a:xfrm>
            <a:off x="5307372" y="3299420"/>
            <a:ext cx="2307548" cy="23075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377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0 &gt; SPAWN</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02/30</a:t>
            </a:r>
            <a:endParaRPr lang="en-US" sz="1200" dirty="0"/>
          </a:p>
        </p:txBody>
      </p:sp>
      <p:sp>
        <p:nvSpPr>
          <p:cNvPr id="4" name="Text 2"/>
          <p:cNvSpPr>
            <a:spLocks noGrp="1"/>
          </p:cNvSpPr>
          <p:nvPr>
            <p:ph type="title"/>
          </p:nvPr>
        </p:nvSpPr>
        <p:spPr>
          <a:xfrm>
            <a:off x="812800" y="1076920"/>
            <a:ext cx="10883392" cy="695920"/>
          </a:xfrm>
          <a:prstGeom prst="rect">
            <a:avLst/>
          </a:prstGeom>
          <a:noFill/>
          <a:ln/>
        </p:spPr>
        <p:txBody>
          <a:bodyPr wrap="square" lIns="0" tIns="0" rIns="0" bIns="0" rtlCol="0" anchor="t">
            <a:normAutofit/>
          </a:bodyPr>
          <a:lstStyle/>
          <a:p>
            <a:pPr marL="0" indent="0" algn="l">
              <a:lnSpc>
                <a:spcPts val="5280"/>
              </a:lnSpc>
              <a:buNone/>
            </a:pPr>
            <a:r>
              <a:rPr lang="en-US" sz="4800" b="0" i="0" dirty="0">
                <a:solidFill>
                  <a:srgbClr val="FFF4E0"/>
                </a:solidFill>
                <a:latin typeface="Bungee" pitchFamily="34" charset="0"/>
                <a:ea typeface="Bungee" pitchFamily="34" charset="-122"/>
                <a:cs typeface="Bungee" pitchFamily="34" charset="-120"/>
              </a:rPr>
              <a:t>Hello, devs! 👋</a:t>
            </a:r>
            <a:endParaRPr lang="en-US" sz="4800" dirty="0"/>
          </a:p>
        </p:txBody>
      </p:sp>
      <p:sp>
        <p:nvSpPr>
          <p:cNvPr id="5" name="Text 3"/>
          <p:cNvSpPr/>
          <p:nvPr/>
        </p:nvSpPr>
        <p:spPr>
          <a:xfrm>
            <a:off x="812800" y="2001441"/>
            <a:ext cx="915670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E9E1FF"/>
                </a:solidFill>
                <a:latin typeface="Fredoka" pitchFamily="34" charset="0"/>
                <a:ea typeface="Fredoka" pitchFamily="34" charset="-122"/>
                <a:cs typeface="Fredoka" pitchFamily="34" charset="-120"/>
              </a:rPr>
              <a:t>Today’s quest: learn the save system every real game studio uses, so you </a:t>
            </a:r>
            <a:r>
              <a:rPr lang="en-US" sz="2000" b="1" dirty="0">
                <a:solidFill>
                  <a:srgbClr val="FFD23F"/>
                </a:solidFill>
                <a:latin typeface="Fredoka" pitchFamily="34" charset="0"/>
                <a:ea typeface="Fredoka" pitchFamily="34" charset="-122"/>
                <a:cs typeface="Fredoka" pitchFamily="34" charset="-120"/>
              </a:rPr>
              <a:t>never lose your game again</a:t>
            </a:r>
            <a:r>
              <a:rPr lang="en-US" sz="2000" dirty="0">
                <a:solidFill>
                  <a:srgbClr val="E9E1FF"/>
                </a:solidFill>
                <a:latin typeface="Fredoka" pitchFamily="34" charset="0"/>
                <a:ea typeface="Fredoka" pitchFamily="34" charset="-122"/>
                <a:cs typeface="Fredoka" pitchFamily="34" charset="-120"/>
              </a:rPr>
              <a:t>.</a:t>
            </a:r>
            <a:endParaRPr lang="en-US" sz="2000" dirty="0"/>
          </a:p>
        </p:txBody>
      </p:sp>
      <p:sp>
        <p:nvSpPr>
          <p:cNvPr id="6" name="Shape 4"/>
          <p:cNvSpPr/>
          <p:nvPr/>
        </p:nvSpPr>
        <p:spPr>
          <a:xfrm>
            <a:off x="825500" y="2979341"/>
            <a:ext cx="2482850" cy="1569591"/>
          </a:xfrm>
          <a:prstGeom prst="roundRect">
            <a:avLst>
              <a:gd name="adj" fmla="val 8900"/>
            </a:avLst>
          </a:prstGeom>
          <a:solidFill>
            <a:srgbClr val="2A1A52"/>
          </a:solidFill>
          <a:ln w="25400">
            <a:solidFill>
              <a:srgbClr val="3BE8FF"/>
            </a:solidFill>
            <a:prstDash val="solid"/>
          </a:ln>
          <a:effectLst>
            <a:outerShdw dist="71842" dir="2700000" algn="bl" rotWithShape="0">
              <a:srgbClr val="3BE8FF">
                <a:alpha val="100000"/>
              </a:srgbClr>
            </a:outerShdw>
          </a:effectLst>
        </p:spPr>
        <p:txBody>
          <a:bodyPr/>
          <a:lstStyle/>
          <a:p>
            <a:endParaRPr lang="en-US"/>
          </a:p>
        </p:txBody>
      </p:sp>
      <p:sp>
        <p:nvSpPr>
          <p:cNvPr id="7" name="Text 5"/>
          <p:cNvSpPr/>
          <p:nvPr/>
        </p:nvSpPr>
        <p:spPr>
          <a:xfrm>
            <a:off x="1041400" y="3195241"/>
            <a:ext cx="21125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E8FF"/>
                </a:solidFill>
                <a:latin typeface="Press Start 2P" pitchFamily="49" charset="0"/>
                <a:ea typeface="Press Start 2P" pitchFamily="49" charset="-122"/>
                <a:cs typeface="Press Start 2P" pitchFamily="49" charset="-120"/>
              </a:rPr>
              <a:t>01</a:t>
            </a:r>
            <a:endParaRPr lang="en-US" sz="1200" dirty="0"/>
          </a:p>
        </p:txBody>
      </p:sp>
      <p:sp>
        <p:nvSpPr>
          <p:cNvPr id="8" name="Text 6"/>
          <p:cNvSpPr/>
          <p:nvPr/>
        </p:nvSpPr>
        <p:spPr>
          <a:xfrm>
            <a:off x="1041400" y="3484761"/>
            <a:ext cx="211258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4E0"/>
                </a:solidFill>
                <a:latin typeface="Fredoka" pitchFamily="34" charset="0"/>
                <a:ea typeface="Fredoka" pitchFamily="34" charset="-122"/>
                <a:cs typeface="Fredoka" pitchFamily="34" charset="-120"/>
              </a:rPr>
              <a:t>What is Git?</a:t>
            </a:r>
            <a:endParaRPr lang="en-US" sz="1800" dirty="0"/>
          </a:p>
        </p:txBody>
      </p:sp>
      <p:sp>
        <p:nvSpPr>
          <p:cNvPr id="9" name="Text 7"/>
          <p:cNvSpPr/>
          <p:nvPr/>
        </p:nvSpPr>
        <p:spPr>
          <a:xfrm>
            <a:off x="1041400" y="3835251"/>
            <a:ext cx="22542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EDB"/>
                </a:solidFill>
                <a:latin typeface="Fredoka" pitchFamily="34" charset="0"/>
                <a:ea typeface="Fredoka" pitchFamily="34" charset="-122"/>
                <a:cs typeface="Fredoka" pitchFamily="34" charset="-120"/>
              </a:rPr>
              <a:t>Save points for your code</a:t>
            </a:r>
            <a:endParaRPr lang="en-US" sz="1400" dirty="0"/>
          </a:p>
        </p:txBody>
      </p:sp>
      <p:sp>
        <p:nvSpPr>
          <p:cNvPr id="10" name="Shape 8"/>
          <p:cNvSpPr/>
          <p:nvPr/>
        </p:nvSpPr>
        <p:spPr>
          <a:xfrm>
            <a:off x="3511550" y="2979341"/>
            <a:ext cx="2482850" cy="1569591"/>
          </a:xfrm>
          <a:prstGeom prst="roundRect">
            <a:avLst>
              <a:gd name="adj" fmla="val 8900"/>
            </a:avLst>
          </a:prstGeom>
          <a:solidFill>
            <a:srgbClr val="2A1A52"/>
          </a:solidFill>
          <a:ln w="25400">
            <a:solidFill>
              <a:srgbClr val="FF4FA3"/>
            </a:solidFill>
            <a:prstDash val="solid"/>
          </a:ln>
          <a:effectLst>
            <a:outerShdw dist="71842" dir="2700000" algn="bl" rotWithShape="0">
              <a:srgbClr val="FF4FA3">
                <a:alpha val="100000"/>
              </a:srgbClr>
            </a:outerShdw>
          </a:effectLst>
        </p:spPr>
        <p:txBody>
          <a:bodyPr/>
          <a:lstStyle/>
          <a:p>
            <a:endParaRPr lang="en-US"/>
          </a:p>
        </p:txBody>
      </p:sp>
      <p:sp>
        <p:nvSpPr>
          <p:cNvPr id="11" name="Text 9"/>
          <p:cNvSpPr/>
          <p:nvPr/>
        </p:nvSpPr>
        <p:spPr>
          <a:xfrm>
            <a:off x="3727450" y="3195241"/>
            <a:ext cx="21125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02</a:t>
            </a:r>
            <a:endParaRPr lang="en-US" sz="1200" dirty="0"/>
          </a:p>
        </p:txBody>
      </p:sp>
      <p:sp>
        <p:nvSpPr>
          <p:cNvPr id="12" name="Text 10"/>
          <p:cNvSpPr/>
          <p:nvPr/>
        </p:nvSpPr>
        <p:spPr>
          <a:xfrm>
            <a:off x="3727450" y="3484761"/>
            <a:ext cx="211258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4E0"/>
                </a:solidFill>
                <a:latin typeface="Fredoka" pitchFamily="34" charset="0"/>
                <a:ea typeface="Fredoka" pitchFamily="34" charset="-122"/>
                <a:cs typeface="Fredoka" pitchFamily="34" charset="-120"/>
              </a:rPr>
              <a:t>GitHub &amp; GitLab</a:t>
            </a:r>
            <a:endParaRPr lang="en-US" sz="1800" dirty="0"/>
          </a:p>
        </p:txBody>
      </p:sp>
      <p:sp>
        <p:nvSpPr>
          <p:cNvPr id="13" name="Text 11"/>
          <p:cNvSpPr/>
          <p:nvPr/>
        </p:nvSpPr>
        <p:spPr>
          <a:xfrm>
            <a:off x="3727450" y="3835251"/>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EDB"/>
                </a:solidFill>
                <a:latin typeface="Fredoka" pitchFamily="34" charset="0"/>
                <a:ea typeface="Fredoka" pitchFamily="34" charset="-122"/>
                <a:cs typeface="Fredoka" pitchFamily="34" charset="-120"/>
              </a:rPr>
              <a:t>Online co-op servers for code</a:t>
            </a:r>
            <a:endParaRPr lang="en-US" sz="1400" dirty="0"/>
          </a:p>
        </p:txBody>
      </p:sp>
      <p:sp>
        <p:nvSpPr>
          <p:cNvPr id="14" name="Shape 12"/>
          <p:cNvSpPr/>
          <p:nvPr/>
        </p:nvSpPr>
        <p:spPr>
          <a:xfrm>
            <a:off x="6197600" y="2979341"/>
            <a:ext cx="2482850" cy="1569591"/>
          </a:xfrm>
          <a:prstGeom prst="roundRect">
            <a:avLst>
              <a:gd name="adj" fmla="val 8900"/>
            </a:avLst>
          </a:prstGeom>
          <a:solidFill>
            <a:srgbClr val="2A1A52"/>
          </a:solidFill>
          <a:ln w="25400">
            <a:solidFill>
              <a:srgbClr val="B6FF3B"/>
            </a:solidFill>
            <a:prstDash val="solid"/>
          </a:ln>
          <a:effectLst>
            <a:outerShdw dist="71842" dir="2700000" algn="bl" rotWithShape="0">
              <a:srgbClr val="B6FF3B">
                <a:alpha val="100000"/>
              </a:srgbClr>
            </a:outerShdw>
          </a:effectLst>
        </p:spPr>
        <p:txBody>
          <a:bodyPr/>
          <a:lstStyle/>
          <a:p>
            <a:endParaRPr lang="en-US"/>
          </a:p>
        </p:txBody>
      </p:sp>
      <p:sp>
        <p:nvSpPr>
          <p:cNvPr id="15" name="Text 13"/>
          <p:cNvSpPr/>
          <p:nvPr/>
        </p:nvSpPr>
        <p:spPr>
          <a:xfrm>
            <a:off x="6413500" y="3195241"/>
            <a:ext cx="21125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03</a:t>
            </a:r>
            <a:endParaRPr lang="en-US" sz="1200" dirty="0"/>
          </a:p>
        </p:txBody>
      </p:sp>
      <p:sp>
        <p:nvSpPr>
          <p:cNvPr id="16" name="Text 14"/>
          <p:cNvSpPr/>
          <p:nvPr/>
        </p:nvSpPr>
        <p:spPr>
          <a:xfrm>
            <a:off x="6413500" y="3484761"/>
            <a:ext cx="211258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4E0"/>
                </a:solidFill>
                <a:latin typeface="Fredoka" pitchFamily="34" charset="0"/>
                <a:ea typeface="Fredoka" pitchFamily="34" charset="-122"/>
                <a:cs typeface="Fredoka" pitchFamily="34" charset="-120"/>
              </a:rPr>
              <a:t>Real commands</a:t>
            </a:r>
            <a:endParaRPr lang="en-US" sz="1800" dirty="0"/>
          </a:p>
        </p:txBody>
      </p:sp>
      <p:sp>
        <p:nvSpPr>
          <p:cNvPr id="17" name="Text 15"/>
          <p:cNvSpPr/>
          <p:nvPr/>
        </p:nvSpPr>
        <p:spPr>
          <a:xfrm>
            <a:off x="6413500" y="3835251"/>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EDB"/>
                </a:solidFill>
                <a:latin typeface="Fredoka" pitchFamily="34" charset="0"/>
                <a:ea typeface="Fredoka" pitchFamily="34" charset="-122"/>
                <a:cs typeface="Fredoka" pitchFamily="34" charset="-120"/>
              </a:rPr>
              <a:t>Terminal combos you’ll use daily</a:t>
            </a:r>
            <a:endParaRPr lang="en-US" sz="1400" dirty="0"/>
          </a:p>
        </p:txBody>
      </p:sp>
      <p:sp>
        <p:nvSpPr>
          <p:cNvPr id="18" name="Shape 16"/>
          <p:cNvSpPr/>
          <p:nvPr/>
        </p:nvSpPr>
        <p:spPr>
          <a:xfrm>
            <a:off x="8883650" y="2979341"/>
            <a:ext cx="2482850" cy="1569591"/>
          </a:xfrm>
          <a:prstGeom prst="roundRect">
            <a:avLst>
              <a:gd name="adj" fmla="val 8900"/>
            </a:avLst>
          </a:prstGeom>
          <a:solidFill>
            <a:srgbClr val="2A1A52"/>
          </a:solidFill>
          <a:ln w="25400">
            <a:solidFill>
              <a:srgbClr val="FFD23F"/>
            </a:solidFill>
            <a:prstDash val="solid"/>
          </a:ln>
          <a:effectLst>
            <a:outerShdw dist="71842" dir="2700000" algn="bl" rotWithShape="0">
              <a:srgbClr val="FFD23F">
                <a:alpha val="100000"/>
              </a:srgbClr>
            </a:outerShdw>
          </a:effectLst>
        </p:spPr>
        <p:txBody>
          <a:bodyPr/>
          <a:lstStyle/>
          <a:p>
            <a:endParaRPr lang="en-US"/>
          </a:p>
        </p:txBody>
      </p:sp>
      <p:sp>
        <p:nvSpPr>
          <p:cNvPr id="19" name="Text 17"/>
          <p:cNvSpPr/>
          <p:nvPr/>
        </p:nvSpPr>
        <p:spPr>
          <a:xfrm>
            <a:off x="9099550" y="3195241"/>
            <a:ext cx="211258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D23F"/>
                </a:solidFill>
                <a:latin typeface="Press Start 2P" pitchFamily="49" charset="0"/>
                <a:ea typeface="Press Start 2P" pitchFamily="49" charset="-122"/>
                <a:cs typeface="Press Start 2P" pitchFamily="49" charset="-120"/>
              </a:rPr>
              <a:t>04</a:t>
            </a:r>
            <a:endParaRPr lang="en-US" sz="1200" dirty="0"/>
          </a:p>
        </p:txBody>
      </p:sp>
      <p:sp>
        <p:nvSpPr>
          <p:cNvPr id="20" name="Text 18"/>
          <p:cNvSpPr/>
          <p:nvPr/>
        </p:nvSpPr>
        <p:spPr>
          <a:xfrm>
            <a:off x="9099550" y="3484761"/>
            <a:ext cx="211258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4E0"/>
                </a:solidFill>
                <a:latin typeface="Fredoka" pitchFamily="34" charset="0"/>
                <a:ea typeface="Fredoka" pitchFamily="34" charset="-122"/>
                <a:cs typeface="Fredoka" pitchFamily="34" charset="-120"/>
              </a:rPr>
              <a:t>Push from IDE</a:t>
            </a:r>
            <a:endParaRPr lang="en-US" sz="1800" dirty="0"/>
          </a:p>
        </p:txBody>
      </p:sp>
      <p:sp>
        <p:nvSpPr>
          <p:cNvPr id="21" name="Text 19"/>
          <p:cNvSpPr/>
          <p:nvPr/>
        </p:nvSpPr>
        <p:spPr>
          <a:xfrm>
            <a:off x="9099550" y="3835251"/>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AEDB"/>
                </a:solidFill>
                <a:latin typeface="Fredoka" pitchFamily="34" charset="0"/>
                <a:ea typeface="Fredoka" pitchFamily="34" charset="-122"/>
                <a:cs typeface="Fredoka" pitchFamily="34" charset="-120"/>
              </a:rPr>
              <a:t>VS Code &amp; friends, just buttons</a:t>
            </a:r>
            <a:endParaRPr lang="en-US" sz="1400" dirty="0"/>
          </a:p>
        </p:txBody>
      </p:sp>
      <p:sp>
        <p:nvSpPr>
          <p:cNvPr id="22" name="Text 20"/>
          <p:cNvSpPr/>
          <p:nvPr/>
        </p:nvSpPr>
        <p:spPr>
          <a:xfrm>
            <a:off x="812800" y="481563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D23F"/>
                </a:solidFill>
                <a:latin typeface="Fredoka" pitchFamily="34" charset="0"/>
                <a:ea typeface="Fredoka" pitchFamily="34" charset="-122"/>
                <a:cs typeface="Fredoka" pitchFamily="34" charset="-120"/>
              </a:rPr>
              <a:t>Bring: a laptop + curiosity. Leave: with a repo online 🚀</a:t>
            </a:r>
            <a:endParaRPr lang="en-US" sz="1600" dirty="0"/>
          </a:p>
        </p:txBody>
      </p:sp>
      <p:sp>
        <p:nvSpPr>
          <p:cNvPr id="23" name="Text 21"/>
          <p:cNvSpPr/>
          <p:nvPr/>
        </p:nvSpPr>
        <p:spPr>
          <a:xfrm rot="360000">
            <a:off x="8013700" y="1156320"/>
            <a:ext cx="29591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FF4FA3">
                <a:alpha val="100000"/>
              </a:srgbClr>
            </a:outerShdw>
          </a:effectLst>
        </p:spPr>
        <p:txBody>
          <a:bodyPr wrap="square" lIns="33480" tIns="35575" rIns="33480"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no boring lecture, promise 🤞</a:t>
            </a:r>
            <a:endParaRPr lang="en-US" sz="1400" dirty="0"/>
          </a:p>
        </p:txBody>
      </p:sp>
      <p:sp>
        <p:nvSpPr>
          <p:cNvPr id="24" name="Text 22"/>
          <p:cNvSpPr/>
          <p:nvPr/>
        </p:nvSpPr>
        <p:spPr>
          <a:xfrm rot="21120000">
            <a:off x="1917700" y="2807320"/>
            <a:ext cx="1752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FF4FA3">
                <a:alpha val="100000"/>
              </a:srgbClr>
            </a:outerShdw>
          </a:effectLst>
        </p:spPr>
        <p:txBody>
          <a:bodyPr wrap="square" lIns="48275" tIns="35575" rIns="48275"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you are here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194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0 &gt; HOST</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03/30</a:t>
            </a:r>
            <a:endParaRPr lang="en-US" sz="1200" dirty="0"/>
          </a:p>
        </p:txBody>
      </p:sp>
      <p:sp>
        <p:nvSpPr>
          <p:cNvPr id="4" name="Text 2"/>
          <p:cNvSpPr>
            <a:spLocks noGrp="1"/>
          </p:cNvSpPr>
          <p:nvPr>
            <p:ph type="title"/>
          </p:nvPr>
        </p:nvSpPr>
        <p:spPr>
          <a:xfrm>
            <a:off x="812800" y="862203"/>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0" i="0" dirty="0">
                <a:solidFill>
                  <a:srgbClr val="1B1035"/>
                </a:solidFill>
                <a:latin typeface="Bungee" pitchFamily="34" charset="0"/>
                <a:ea typeface="Bungee" pitchFamily="34" charset="-122"/>
                <a:cs typeface="Bungee" pitchFamily="34" charset="-120"/>
              </a:rPr>
              <a:t>Meet your host 🎤</a:t>
            </a:r>
            <a:endParaRPr lang="en-US" sz="4400" dirty="0"/>
          </a:p>
        </p:txBody>
      </p:sp>
      <p:sp>
        <p:nvSpPr>
          <p:cNvPr id="6" name="Text 4"/>
          <p:cNvSpPr/>
          <p:nvPr/>
        </p:nvSpPr>
        <p:spPr>
          <a:xfrm>
            <a:off x="2222500" y="1971030"/>
            <a:ext cx="3518789" cy="878780"/>
          </a:xfrm>
          <a:prstGeom prst="rect">
            <a:avLst/>
          </a:prstGeom>
          <a:noFill/>
          <a:ln/>
        </p:spPr>
        <p:txBody>
          <a:bodyPr wrap="square" lIns="0" tIns="0" rIns="0" bIns="0" rtlCol="0" anchor="t">
            <a:normAutofit/>
          </a:bodyPr>
          <a:lstStyle/>
          <a:p>
            <a:pPr marL="0" indent="0" algn="l">
              <a:lnSpc>
                <a:spcPts val="3360"/>
              </a:lnSpc>
              <a:buNone/>
            </a:pPr>
            <a:r>
              <a:rPr lang="en-US" sz="3200" dirty="0">
                <a:solidFill>
                  <a:srgbClr val="1B1035"/>
                </a:solidFill>
                <a:latin typeface="Bungee" pitchFamily="34" charset="0"/>
                <a:ea typeface="Bungee" pitchFamily="34" charset="-122"/>
                <a:cs typeface="Bungee" pitchFamily="34" charset="-120"/>
              </a:rPr>
              <a:t> Satkynov</a:t>
            </a:r>
            <a:endParaRPr lang="en-US" sz="3200" dirty="0"/>
          </a:p>
        </p:txBody>
      </p:sp>
      <p:sp>
        <p:nvSpPr>
          <p:cNvPr id="7" name="Text 5"/>
          <p:cNvSpPr/>
          <p:nvPr/>
        </p:nvSpPr>
        <p:spPr>
          <a:xfrm>
            <a:off x="2222500" y="2913311"/>
            <a:ext cx="35187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PLAYER 1</a:t>
            </a:r>
            <a:endParaRPr lang="en-US" sz="1200" dirty="0"/>
          </a:p>
        </p:txBody>
      </p:sp>
      <p:sp>
        <p:nvSpPr>
          <p:cNvPr id="8" name="Shape 6"/>
          <p:cNvSpPr/>
          <p:nvPr/>
        </p:nvSpPr>
        <p:spPr>
          <a:xfrm>
            <a:off x="812800" y="3329880"/>
            <a:ext cx="4826000" cy="1579761"/>
          </a:xfrm>
          <a:prstGeom prst="roundRect">
            <a:avLst>
              <a:gd name="adj" fmla="val 9647"/>
            </a:avLst>
          </a:prstGeom>
          <a:solidFill>
            <a:srgbClr val="1B1035"/>
          </a:solidFill>
          <a:ln/>
        </p:spPr>
        <p:txBody>
          <a:bodyPr/>
          <a:lstStyle/>
          <a:p>
            <a:endParaRPr lang="en-US" dirty="0"/>
          </a:p>
        </p:txBody>
      </p:sp>
      <p:sp>
        <p:nvSpPr>
          <p:cNvPr id="9" name="Text 7"/>
          <p:cNvSpPr/>
          <p:nvPr/>
        </p:nvSpPr>
        <p:spPr>
          <a:xfrm>
            <a:off x="1016000" y="3507680"/>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BE8FF"/>
                </a:solidFill>
                <a:latin typeface="Fredoka" pitchFamily="34" charset="0"/>
                <a:ea typeface="Fredoka" pitchFamily="34" charset="-122"/>
                <a:cs typeface="Fredoka" pitchFamily="34" charset="-120"/>
              </a:rPr>
              <a:t>⚔️ CLASS:</a:t>
            </a:r>
            <a:r>
              <a:rPr lang="en-US" sz="1400" dirty="0">
                <a:solidFill>
                  <a:srgbClr val="FFF4E0"/>
                </a:solidFill>
                <a:latin typeface="Fredoka" pitchFamily="34" charset="0"/>
                <a:ea typeface="Fredoka" pitchFamily="34" charset="-122"/>
                <a:cs typeface="Fredoka" pitchFamily="34" charset="-120"/>
              </a:rPr>
              <a:t>  SWE</a:t>
            </a:r>
            <a:endParaRPr lang="en-US" sz="1400" dirty="0"/>
          </a:p>
        </p:txBody>
      </p:sp>
      <p:sp>
        <p:nvSpPr>
          <p:cNvPr id="10" name="Text 8"/>
          <p:cNvSpPr/>
          <p:nvPr/>
        </p:nvSpPr>
        <p:spPr>
          <a:xfrm>
            <a:off x="1016000" y="3832771"/>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6FF3B"/>
                </a:solidFill>
                <a:latin typeface="Fredoka" pitchFamily="34" charset="0"/>
                <a:ea typeface="Fredoka" pitchFamily="34" charset="-122"/>
                <a:cs typeface="Fredoka" pitchFamily="34" charset="-120"/>
              </a:rPr>
              <a:t>✨ SPECIAL MOVE:</a:t>
            </a:r>
            <a:r>
              <a:rPr lang="en-US" sz="1400" dirty="0">
                <a:solidFill>
                  <a:srgbClr val="FFF4E0"/>
                </a:solidFill>
                <a:latin typeface="Fredoka" pitchFamily="34" charset="0"/>
                <a:ea typeface="Fredoka" pitchFamily="34" charset="-122"/>
                <a:cs typeface="Fredoka" pitchFamily="34" charset="-120"/>
              </a:rPr>
              <a:t> git push 🚀</a:t>
            </a:r>
            <a:endParaRPr lang="en-US" sz="1400" dirty="0"/>
          </a:p>
        </p:txBody>
      </p:sp>
      <p:sp>
        <p:nvSpPr>
          <p:cNvPr id="11" name="Text 9"/>
          <p:cNvSpPr/>
          <p:nvPr/>
        </p:nvSpPr>
        <p:spPr>
          <a:xfrm>
            <a:off x="1016000" y="4157861"/>
            <a:ext cx="45521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4FA3"/>
                </a:solidFill>
                <a:latin typeface="Fredoka" pitchFamily="34" charset="0"/>
                <a:ea typeface="Fredoka" pitchFamily="34" charset="-122"/>
                <a:cs typeface="Fredoka" pitchFamily="34" charset="-120"/>
              </a:rPr>
              <a:t>💀 WEAKNESS:</a:t>
            </a:r>
            <a:r>
              <a:rPr lang="en-US" sz="1400" dirty="0">
                <a:solidFill>
                  <a:srgbClr val="FFF4E0"/>
                </a:solidFill>
                <a:latin typeface="Fredoka" pitchFamily="34" charset="0"/>
                <a:ea typeface="Fredoka" pitchFamily="34" charset="-122"/>
                <a:cs typeface="Fredoka" pitchFamily="34" charset="-120"/>
              </a:rPr>
              <a:t> merge conflicts at 3 am</a:t>
            </a:r>
            <a:endParaRPr lang="en-US" sz="1400" dirty="0"/>
          </a:p>
        </p:txBody>
      </p:sp>
      <p:sp>
        <p:nvSpPr>
          <p:cNvPr id="12" name="Text 10"/>
          <p:cNvSpPr/>
          <p:nvPr/>
        </p:nvSpPr>
        <p:spPr>
          <a:xfrm>
            <a:off x="1016000" y="4482951"/>
            <a:ext cx="4552188" cy="274290"/>
          </a:xfrm>
          <a:prstGeom prst="rect">
            <a:avLst/>
          </a:prstGeom>
          <a:noFill/>
          <a:ln/>
        </p:spPr>
        <p:txBody>
          <a:bodyPr wrap="square" lIns="0" tIns="0" rIns="0" bIns="0" rtlCol="0" anchor="t">
            <a:normAutofit fontScale="92500"/>
          </a:bodyPr>
          <a:lstStyle/>
          <a:p>
            <a:pPr>
              <a:lnSpc>
                <a:spcPts val="1960"/>
              </a:lnSpc>
            </a:pPr>
            <a:r>
              <a:rPr lang="en-US" sz="1400" b="1" dirty="0">
                <a:solidFill>
                  <a:srgbClr val="FFD23F"/>
                </a:solidFill>
                <a:latin typeface="Fredoka" pitchFamily="34" charset="0"/>
                <a:ea typeface="Fredoka" pitchFamily="34" charset="-122"/>
                <a:cs typeface="Fredoka" pitchFamily="34" charset="-120"/>
              </a:rPr>
              <a:t>🎯 Experience:</a:t>
            </a:r>
            <a:r>
              <a:rPr lang="en-US" sz="1400" dirty="0">
                <a:solidFill>
                  <a:srgbClr val="FFF4E0"/>
                </a:solidFill>
                <a:latin typeface="Fredoka" pitchFamily="34" charset="0"/>
                <a:ea typeface="Fredoka" pitchFamily="34" charset="-122"/>
                <a:cs typeface="Fredoka" pitchFamily="34" charset="-120"/>
              </a:rPr>
              <a:t> AI Tutor (Grok), ex-SWE Intern (Microsoft)</a:t>
            </a:r>
            <a:endParaRPr lang="en-US" sz="1400" dirty="0"/>
          </a:p>
        </p:txBody>
      </p:sp>
      <p:sp>
        <p:nvSpPr>
          <p:cNvPr id="13" name="Shape 11"/>
          <p:cNvSpPr/>
          <p:nvPr/>
        </p:nvSpPr>
        <p:spPr>
          <a:xfrm>
            <a:off x="5956300" y="1958280"/>
            <a:ext cx="2603500" cy="2799011"/>
          </a:xfrm>
          <a:prstGeom prst="roundRect">
            <a:avLst>
              <a:gd name="adj" fmla="val 6341"/>
            </a:avLst>
          </a:prstGeom>
          <a:solidFill>
            <a:srgbClr val="FFFDF8"/>
          </a:solidFill>
          <a:ln w="25400">
            <a:solidFill>
              <a:srgbClr val="1B1035"/>
            </a:solidFill>
            <a:prstDash val="solid"/>
          </a:ln>
          <a:effectLst>
            <a:outerShdw dist="89803" dir="2700000" algn="bl" rotWithShape="0">
              <a:srgbClr val="3BE8FF">
                <a:alpha val="100000"/>
              </a:srgbClr>
            </a:outerShdw>
          </a:effectLst>
        </p:spPr>
        <p:txBody>
          <a:bodyPr/>
          <a:lstStyle/>
          <a:p>
            <a:endParaRPr lang="en-US"/>
          </a:p>
        </p:txBody>
      </p:sp>
      <p:pic>
        <p:nvPicPr>
          <p:cNvPr id="14" name="Image 0" descr="QR code for Ilgiz Satkynov’s LinkedIn"/>
          <p:cNvPicPr>
            <a:picLocks noChangeAspect="1"/>
          </p:cNvPicPr>
          <p:nvPr/>
        </p:nvPicPr>
        <p:blipFill>
          <a:blip r:embed="rId3"/>
          <a:srcRect/>
          <a:stretch/>
        </p:blipFill>
        <p:spPr>
          <a:xfrm>
            <a:off x="6369050" y="2148780"/>
            <a:ext cx="1778000" cy="1778000"/>
          </a:xfrm>
          <a:prstGeom prst="roundRect">
            <a:avLst>
              <a:gd name="adj" fmla="val 4286"/>
            </a:avLst>
          </a:prstGeom>
        </p:spPr>
      </p:pic>
      <p:sp>
        <p:nvSpPr>
          <p:cNvPr id="15" name="Text 12"/>
          <p:cNvSpPr/>
          <p:nvPr/>
        </p:nvSpPr>
        <p:spPr>
          <a:xfrm>
            <a:off x="6572612" y="4002980"/>
            <a:ext cx="1370826" cy="29969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B1035"/>
                </a:solidFill>
                <a:latin typeface="Fredoka" pitchFamily="34" charset="0"/>
                <a:ea typeface="Fredoka" pitchFamily="34" charset="-122"/>
                <a:cs typeface="Fredoka" pitchFamily="34" charset="-120"/>
              </a:rPr>
              <a:t>💼 LinkedIn</a:t>
            </a:r>
            <a:endParaRPr lang="en-US" sz="1800" dirty="0"/>
          </a:p>
        </p:txBody>
      </p:sp>
      <p:sp>
        <p:nvSpPr>
          <p:cNvPr id="16" name="Text 13"/>
          <p:cNvSpPr/>
          <p:nvPr/>
        </p:nvSpPr>
        <p:spPr>
          <a:xfrm>
            <a:off x="6056179" y="4353471"/>
            <a:ext cx="2403693" cy="238720"/>
          </a:xfrm>
          <a:prstGeom prst="rect">
            <a:avLst/>
          </a:prstGeom>
          <a:noFill/>
          <a:ln/>
        </p:spPr>
        <p:txBody>
          <a:bodyPr wrap="square" lIns="0" tIns="0" rIns="0" bIns="0" rtlCol="0" anchor="t">
            <a:normAutofit/>
          </a:bodyPr>
          <a:lstStyle/>
          <a:p>
            <a:pPr marL="0" indent="0" algn="ctr">
              <a:lnSpc>
                <a:spcPts val="1680"/>
              </a:lnSpc>
              <a:buNone/>
            </a:pPr>
            <a:r>
              <a:rPr lang="en-US" sz="1200" u="sng" dirty="0">
                <a:solidFill>
                  <a:srgbClr val="1B1035"/>
                </a:solidFill>
                <a:latin typeface="Fredoka" pitchFamily="34" charset="0"/>
                <a:ea typeface="Fredoka" pitchFamily="34" charset="-122"/>
                <a:cs typeface="Fredoka" pitchFamily="34" charset="-120"/>
                <a:hlinkClick r:id="rId4">
                  <a:extLst>
                    <a:ext uri="{A12FA001-AC4F-418D-AE19-62706E023703}">
                      <ahyp:hlinkClr xmlns:ahyp="http://schemas.microsoft.com/office/drawing/2018/hyperlinkcolor" val="tx"/>
                    </a:ext>
                  </a:extLst>
                </a:hlinkClick>
              </a:rPr>
              <a:t>linkedin.com/in/ilgizsatkynov</a:t>
            </a:r>
            <a:endParaRPr lang="en-US" sz="1200" dirty="0"/>
          </a:p>
        </p:txBody>
      </p:sp>
      <p:sp>
        <p:nvSpPr>
          <p:cNvPr id="17" name="Shape 14"/>
          <p:cNvSpPr/>
          <p:nvPr/>
        </p:nvSpPr>
        <p:spPr>
          <a:xfrm>
            <a:off x="8763000" y="1958280"/>
            <a:ext cx="2603500" cy="2799011"/>
          </a:xfrm>
          <a:prstGeom prst="roundRect">
            <a:avLst>
              <a:gd name="adj" fmla="val 6341"/>
            </a:avLst>
          </a:prstGeom>
          <a:solidFill>
            <a:srgbClr val="FFFDF8"/>
          </a:solidFill>
          <a:ln w="25400">
            <a:solidFill>
              <a:srgbClr val="1B1035"/>
            </a:solidFill>
            <a:prstDash val="solid"/>
          </a:ln>
          <a:effectLst>
            <a:outerShdw dist="89803" dir="2700000" algn="bl" rotWithShape="0">
              <a:srgbClr val="B6FF3B">
                <a:alpha val="100000"/>
              </a:srgbClr>
            </a:outerShdw>
          </a:effectLst>
        </p:spPr>
        <p:txBody>
          <a:bodyPr/>
          <a:lstStyle/>
          <a:p>
            <a:endParaRPr lang="en-US"/>
          </a:p>
        </p:txBody>
      </p:sp>
      <p:pic>
        <p:nvPicPr>
          <p:cNvPr id="18" name="Image 1" descr="QR code for Ilgiz Satkynov’s GitHub"/>
          <p:cNvPicPr>
            <a:picLocks noChangeAspect="1"/>
          </p:cNvPicPr>
          <p:nvPr/>
        </p:nvPicPr>
        <p:blipFill>
          <a:blip r:embed="rId5"/>
          <a:srcRect/>
          <a:stretch/>
        </p:blipFill>
        <p:spPr>
          <a:xfrm>
            <a:off x="9175750" y="2148780"/>
            <a:ext cx="1778000" cy="1778000"/>
          </a:xfrm>
          <a:prstGeom prst="roundRect">
            <a:avLst>
              <a:gd name="adj" fmla="val 4286"/>
            </a:avLst>
          </a:prstGeom>
        </p:spPr>
      </p:pic>
      <p:sp>
        <p:nvSpPr>
          <p:cNvPr id="19" name="Text 15"/>
          <p:cNvSpPr/>
          <p:nvPr/>
        </p:nvSpPr>
        <p:spPr>
          <a:xfrm>
            <a:off x="9460394" y="4002980"/>
            <a:ext cx="1208663" cy="29969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B1035"/>
                </a:solidFill>
                <a:latin typeface="Fredoka" pitchFamily="34" charset="0"/>
                <a:ea typeface="Fredoka" pitchFamily="34" charset="-122"/>
                <a:cs typeface="Fredoka" pitchFamily="34" charset="-120"/>
              </a:rPr>
              <a:t>🐙 GitHub</a:t>
            </a:r>
            <a:endParaRPr lang="en-US" sz="1800" dirty="0"/>
          </a:p>
        </p:txBody>
      </p:sp>
      <p:sp>
        <p:nvSpPr>
          <p:cNvPr id="20" name="Text 16"/>
          <p:cNvSpPr/>
          <p:nvPr/>
        </p:nvSpPr>
        <p:spPr>
          <a:xfrm>
            <a:off x="9040282" y="4353471"/>
            <a:ext cx="2048887" cy="238720"/>
          </a:xfrm>
          <a:prstGeom prst="rect">
            <a:avLst/>
          </a:prstGeom>
          <a:noFill/>
          <a:ln/>
        </p:spPr>
        <p:txBody>
          <a:bodyPr wrap="square" lIns="0" tIns="0" rIns="0" bIns="0" rtlCol="0" anchor="t">
            <a:normAutofit/>
          </a:bodyPr>
          <a:lstStyle/>
          <a:p>
            <a:pPr marL="0" indent="0" algn="ctr">
              <a:lnSpc>
                <a:spcPts val="1680"/>
              </a:lnSpc>
              <a:buNone/>
            </a:pPr>
            <a:r>
              <a:rPr lang="en-US" sz="1200" u="sng" dirty="0">
                <a:solidFill>
                  <a:srgbClr val="1B1035"/>
                </a:solidFill>
                <a:latin typeface="Fredoka" pitchFamily="34" charset="0"/>
                <a:ea typeface="Fredoka" pitchFamily="34" charset="-122"/>
                <a:cs typeface="Fredoka" pitchFamily="34" charset="-120"/>
                <a:hlinkClick r:id="rId6">
                  <a:extLst>
                    <a:ext uri="{A12FA001-AC4F-418D-AE19-62706E023703}">
                      <ahyp:hlinkClr xmlns:ahyp="http://schemas.microsoft.com/office/drawing/2018/hyperlinkcolor" val="tx"/>
                    </a:ext>
                  </a:extLst>
                </a:hlinkClick>
              </a:rPr>
              <a:t>github.com/satkynovilgiz</a:t>
            </a:r>
            <a:endParaRPr lang="en-US" sz="1200" dirty="0"/>
          </a:p>
        </p:txBody>
      </p:sp>
      <p:sp>
        <p:nvSpPr>
          <p:cNvPr id="21" name="Text 17"/>
          <p:cNvSpPr/>
          <p:nvPr/>
        </p:nvSpPr>
        <p:spPr>
          <a:xfrm rot="480000">
            <a:off x="7886701" y="1579170"/>
            <a:ext cx="1752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1B1035">
                <a:alpha val="100000"/>
              </a:srgbClr>
            </a:outerShdw>
          </a:effectLst>
        </p:spPr>
        <p:txBody>
          <a:bodyPr wrap="square" lIns="48275" tIns="35575" rIns="48275"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scan me! 📱</a:t>
            </a:r>
            <a:endParaRPr lang="en-US" sz="1400" dirty="0"/>
          </a:p>
        </p:txBody>
      </p:sp>
      <p:sp>
        <p:nvSpPr>
          <p:cNvPr id="22" name="Text 18"/>
          <p:cNvSpPr/>
          <p:nvPr/>
        </p:nvSpPr>
        <p:spPr>
          <a:xfrm rot="21360000">
            <a:off x="1028700" y="5474320"/>
            <a:ext cx="2387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1B1035">
                <a:alpha val="100000"/>
              </a:srgbClr>
            </a:outerShdw>
          </a:effectLst>
        </p:spPr>
        <p:txBody>
          <a:bodyPr wrap="square" lIns="42052" tIns="35575" rIns="4205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let’s connect 🤝</a:t>
            </a:r>
            <a:endParaRPr lang="en-US" sz="1400" dirty="0"/>
          </a:p>
        </p:txBody>
      </p:sp>
      <p:sp>
        <p:nvSpPr>
          <p:cNvPr id="23" name="Text 19"/>
          <p:cNvSpPr/>
          <p:nvPr/>
        </p:nvSpPr>
        <p:spPr>
          <a:xfrm rot="180000">
            <a:off x="7632700" y="5474320"/>
            <a:ext cx="2895600" cy="450850"/>
          </a:xfrm>
          <a:prstGeom prst="roundRect">
            <a:avLst>
              <a:gd name="adj" fmla="val 50000"/>
            </a:avLst>
          </a:prstGeom>
          <a:solidFill>
            <a:srgbClr val="FF4FA3"/>
          </a:solidFill>
          <a:ln w="25400">
            <a:solidFill>
              <a:srgbClr val="1B1035"/>
            </a:solidFill>
            <a:prstDash val="solid"/>
          </a:ln>
          <a:effectLst>
            <a:outerShdw dist="53882" dir="2700000" algn="bl" rotWithShape="0">
              <a:srgbClr val="1B1035">
                <a:alpha val="100000"/>
              </a:srgbClr>
            </a:outerShdw>
          </a:effectLst>
        </p:spPr>
        <p:txBody>
          <a:bodyPr wrap="square" lIns="34432" tIns="35575" rIns="3443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follow for more commits 😎</a:t>
            </a:r>
            <a:endParaRPr lang="en-US" sz="1400" dirty="0"/>
          </a:p>
        </p:txBody>
      </p:sp>
      <p:sp>
        <p:nvSpPr>
          <p:cNvPr id="31" name="TextBox 30">
            <a:extLst>
              <a:ext uri="{FF2B5EF4-FFF2-40B4-BE49-F238E27FC236}">
                <a16:creationId xmlns:a16="http://schemas.microsoft.com/office/drawing/2014/main" id="{E364C597-E878-1327-6416-5C0E6E7E4CB4}"/>
              </a:ext>
            </a:extLst>
          </p:cNvPr>
          <p:cNvSpPr txBox="1"/>
          <p:nvPr/>
        </p:nvSpPr>
        <p:spPr>
          <a:xfrm>
            <a:off x="2222500" y="2328536"/>
            <a:ext cx="6096000" cy="584775"/>
          </a:xfrm>
          <a:prstGeom prst="rect">
            <a:avLst/>
          </a:prstGeom>
          <a:noFill/>
        </p:spPr>
        <p:txBody>
          <a:bodyPr wrap="square">
            <a:spAutoFit/>
          </a:bodyPr>
          <a:lstStyle/>
          <a:p>
            <a:r>
              <a:rPr lang="en-US" sz="3200" dirty="0">
                <a:solidFill>
                  <a:srgbClr val="1B1035"/>
                </a:solidFill>
                <a:latin typeface="Bungee" pitchFamily="34" charset="0"/>
                <a:ea typeface="Bungee" pitchFamily="34" charset="-122"/>
                <a:cs typeface="Bungee" pitchFamily="34" charset="-120"/>
              </a:rPr>
              <a:t>Ilgiz</a:t>
            </a:r>
            <a:endParaRPr lang="en-US" dirty="0"/>
          </a:p>
        </p:txBody>
      </p:sp>
      <p:pic>
        <p:nvPicPr>
          <p:cNvPr id="33" name="Picture 32">
            <a:extLst>
              <a:ext uri="{FF2B5EF4-FFF2-40B4-BE49-F238E27FC236}">
                <a16:creationId xmlns:a16="http://schemas.microsoft.com/office/drawing/2014/main" id="{14AE8376-A76A-97B8-908F-C432C8CB86AD}"/>
              </a:ext>
            </a:extLst>
          </p:cNvPr>
          <p:cNvPicPr>
            <a:picLocks noChangeAspect="1"/>
          </p:cNvPicPr>
          <p:nvPr/>
        </p:nvPicPr>
        <p:blipFill>
          <a:blip r:embed="rId7"/>
          <a:stretch>
            <a:fillRect/>
          </a:stretch>
        </p:blipFill>
        <p:spPr>
          <a:xfrm>
            <a:off x="874666" y="1778642"/>
            <a:ext cx="965915" cy="12030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6FF3B"/>
        </a:solidFill>
        <a:effectLst/>
      </p:bgPr>
    </p:bg>
    <p:spTree>
      <p:nvGrpSpPr>
        <p:cNvPr id="1" name=""/>
        <p:cNvGrpSpPr/>
        <p:nvPr/>
      </p:nvGrpSpPr>
      <p:grpSpPr>
        <a:xfrm>
          <a:off x="0" y="0"/>
          <a:ext cx="0" cy="0"/>
          <a:chOff x="0" y="0"/>
          <a:chExt cx="0" cy="0"/>
        </a:xfrm>
      </p:grpSpPr>
      <p:sp>
        <p:nvSpPr>
          <p:cNvPr id="2" name="Text 0"/>
          <p:cNvSpPr/>
          <p:nvPr/>
        </p:nvSpPr>
        <p:spPr>
          <a:xfrm>
            <a:off x="812800" y="1706910"/>
            <a:ext cx="719455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035"/>
                </a:solidFill>
                <a:latin typeface="Press Start 2P" pitchFamily="49" charset="0"/>
                <a:ea typeface="Press Start 2P" pitchFamily="49" charset="-122"/>
                <a:cs typeface="Press Start 2P" pitchFamily="49" charset="-120"/>
              </a:rPr>
              <a:t>LEVEL 1</a:t>
            </a:r>
            <a:endParaRPr lang="en-US" sz="2000" dirty="0"/>
          </a:p>
        </p:txBody>
      </p:sp>
      <p:sp>
        <p:nvSpPr>
          <p:cNvPr id="3" name="Text 1"/>
          <p:cNvSpPr>
            <a:spLocks noGrp="1"/>
          </p:cNvSpPr>
          <p:nvPr>
            <p:ph type="title"/>
          </p:nvPr>
        </p:nvSpPr>
        <p:spPr>
          <a:xfrm>
            <a:off x="812800" y="2291110"/>
            <a:ext cx="7521575" cy="1930400"/>
          </a:xfrm>
          <a:prstGeom prst="rect">
            <a:avLst/>
          </a:prstGeom>
          <a:noFill/>
          <a:ln/>
        </p:spPr>
        <p:txBody>
          <a:bodyPr wrap="square" lIns="0" tIns="0" rIns="0" bIns="0" rtlCol="0" anchor="t">
            <a:normAutofit/>
          </a:bodyPr>
          <a:lstStyle/>
          <a:p>
            <a:pPr marL="0" indent="0" algn="l">
              <a:lnSpc>
                <a:spcPts val="7500"/>
              </a:lnSpc>
              <a:buNone/>
            </a:pPr>
            <a:r>
              <a:rPr lang="en-US" sz="7500" b="0" i="0" dirty="0">
                <a:solidFill>
                  <a:srgbClr val="1B1035"/>
                </a:solidFill>
                <a:latin typeface="Bungee" pitchFamily="34" charset="0"/>
                <a:ea typeface="Bungee" pitchFamily="34" charset="-122"/>
                <a:cs typeface="Bungee" pitchFamily="34" charset="-120"/>
              </a:rPr>
              <a:t>What even is Git?</a:t>
            </a:r>
            <a:endParaRPr lang="en-US" sz="7500" dirty="0"/>
          </a:p>
        </p:txBody>
      </p:sp>
      <p:sp>
        <p:nvSpPr>
          <p:cNvPr id="4" name="Text 2"/>
          <p:cNvSpPr/>
          <p:nvPr/>
        </p:nvSpPr>
        <p:spPr>
          <a:xfrm>
            <a:off x="812800" y="4424710"/>
            <a:ext cx="6867525"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B1035"/>
                </a:solidFill>
                <a:latin typeface="Fredoka" pitchFamily="34" charset="0"/>
                <a:ea typeface="Fredoka" pitchFamily="34" charset="-122"/>
                <a:cs typeface="Fredoka" pitchFamily="34" charset="-120"/>
              </a:rPr>
              <a:t>Git, GitHub, GitLab, and why your future self will thank you.</a:t>
            </a:r>
            <a:endParaRPr lang="en-US" sz="2200" dirty="0"/>
          </a:p>
        </p:txBody>
      </p:sp>
      <p:pic>
        <p:nvPicPr>
          <p:cNvPr id="5" name="Image 0" descr="Floppy disk save icon"/>
          <p:cNvPicPr>
            <a:picLocks noChangeAspect="1"/>
          </p:cNvPicPr>
          <p:nvPr/>
        </p:nvPicPr>
        <p:blipFill>
          <a:blip r:embed="rId3"/>
          <a:srcRect/>
          <a:stretch/>
        </p:blipFill>
        <p:spPr>
          <a:xfrm rot="480000">
            <a:off x="8636000" y="2286000"/>
            <a:ext cx="2413000" cy="2413000"/>
          </a:xfrm>
          <a:prstGeom prst="rect">
            <a:avLst/>
          </a:prstGeom>
        </p:spPr>
      </p:pic>
      <p:sp>
        <p:nvSpPr>
          <p:cNvPr id="6" name="Text 3"/>
          <p:cNvSpPr/>
          <p:nvPr/>
        </p:nvSpPr>
        <p:spPr>
          <a:xfrm rot="21120000">
            <a:off x="8775700" y="1409700"/>
            <a:ext cx="1879600" cy="444500"/>
          </a:xfrm>
          <a:custGeom>
            <a:avLst/>
            <a:gdLst/>
            <a:ahLst/>
            <a:cxnLst/>
            <a:rect l="l" t="t" r="r" b="b"/>
            <a:pathLst>
              <a:path w="1879600" h="444500">
                <a:moveTo>
                  <a:pt x="222250" y="0"/>
                </a:moveTo>
                <a:lnTo>
                  <a:pt x="1657350" y="0"/>
                </a:lnTo>
                <a:arcTo wR="222250" hR="222250" stAng="16200000" swAng="5400000"/>
                <a:lnTo>
                  <a:pt x="1879600" y="222250"/>
                </a:lnTo>
                <a:arcTo wR="222250" hR="222250" stAng="0" swAng="5400000"/>
                <a:lnTo>
                  <a:pt x="222250" y="444500"/>
                </a:lnTo>
                <a:arcTo wR="222250" hR="222250" stAng="5400000" swAng="5400000"/>
                <a:lnTo>
                  <a:pt x="0" y="222250"/>
                </a:lnTo>
                <a:arcTo wR="222250" hR="222250" stAng="10800000" swAng="5400000"/>
                <a:close/>
              </a:path>
            </a:pathLst>
          </a:custGeom>
          <a:solidFill>
            <a:srgbClr val="FF4FA3"/>
          </a:solidFill>
          <a:ln w="25400">
            <a:solidFill>
              <a:srgbClr val="1B1035"/>
            </a:solidFill>
            <a:prstDash val="solid"/>
          </a:ln>
          <a:effectLst>
            <a:outerShdw dist="53882" dir="2700000" algn="bl" rotWithShape="0">
              <a:srgbClr val="1B1035">
                <a:alpha val="100000"/>
              </a:srgbClr>
            </a:outerShdw>
          </a:effectLst>
        </p:spPr>
        <p:txBody>
          <a:bodyPr wrap="square" lIns="88900" tIns="88900" rIns="88900" bIns="63500" rtlCol="0" anchor="t">
            <a:normAutofit/>
          </a:bodyPr>
          <a:lstStyle/>
          <a:p>
            <a:pPr marL="0" indent="0" algn="ctr">
              <a:lnSpc>
                <a:spcPts val="2100"/>
              </a:lnSpc>
              <a:buNone/>
            </a:pPr>
            <a:r>
              <a:rPr lang="en-US" sz="1500" b="1" dirty="0">
                <a:solidFill>
                  <a:srgbClr val="1B1035"/>
                </a:solidFill>
                <a:latin typeface="Fredoka" pitchFamily="34" charset="0"/>
                <a:ea typeface="Fredoka" pitchFamily="34" charset="-122"/>
                <a:cs typeface="Fredoka" pitchFamily="34" charset="-120"/>
              </a:rPr>
              <a:t>loading… 💾</a:t>
            </a:r>
            <a:endParaRPr lang="en-US" sz="1500" dirty="0"/>
          </a:p>
        </p:txBody>
      </p:sp>
      <p:sp>
        <p:nvSpPr>
          <p:cNvPr id="7" name="Text 4"/>
          <p:cNvSpPr/>
          <p:nvPr/>
        </p:nvSpPr>
        <p:spPr>
          <a:xfrm rot="21300000">
            <a:off x="6870700" y="5283819"/>
            <a:ext cx="1625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1B1035">
                <a:alpha val="100000"/>
              </a:srgbClr>
            </a:outerShdw>
          </a:effectLst>
        </p:spPr>
        <p:txBody>
          <a:bodyPr wrap="square" lIns="48275" tIns="35575" rIns="48275"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lore time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011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1 &gt; GIT</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05/30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Git = save points 💾</a:t>
            </a:r>
            <a:endParaRPr lang="en-US" sz="4000" dirty="0"/>
          </a:p>
        </p:txBody>
      </p:sp>
      <p:sp>
        <p:nvSpPr>
          <p:cNvPr id="5" name="Text 3"/>
          <p:cNvSpPr/>
          <p:nvPr/>
        </p:nvSpPr>
        <p:spPr>
          <a:xfrm>
            <a:off x="812800" y="1788120"/>
            <a:ext cx="9483725"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9E1FF"/>
                </a:solidFill>
                <a:latin typeface="Fredoka" pitchFamily="34" charset="0"/>
                <a:ea typeface="Fredoka" pitchFamily="34" charset="-122"/>
                <a:cs typeface="Fredoka" pitchFamily="34" charset="-120"/>
              </a:rPr>
              <a:t>Git is a free program that remembers </a:t>
            </a:r>
            <a:r>
              <a:rPr lang="en-US" sz="1800" b="1" dirty="0">
                <a:solidFill>
                  <a:srgbClr val="FFD23F"/>
                </a:solidFill>
                <a:latin typeface="Fredoka" pitchFamily="34" charset="0"/>
                <a:ea typeface="Fredoka" pitchFamily="34" charset="-122"/>
                <a:cs typeface="Fredoka" pitchFamily="34" charset="-120"/>
              </a:rPr>
              <a:t>every version</a:t>
            </a:r>
            <a:r>
              <a:rPr lang="en-US" sz="1800" dirty="0">
                <a:solidFill>
                  <a:srgbClr val="E9E1FF"/>
                </a:solidFill>
                <a:latin typeface="Fredoka" pitchFamily="34" charset="0"/>
                <a:ea typeface="Fredoka" pitchFamily="34" charset="-122"/>
                <a:cs typeface="Fredoka" pitchFamily="34" charset="-120"/>
              </a:rPr>
              <a:t> of your project. Broke everything? Just load an old save.</a:t>
            </a:r>
            <a:endParaRPr lang="en-US" sz="1800" dirty="0"/>
          </a:p>
        </p:txBody>
      </p:sp>
      <p:sp>
        <p:nvSpPr>
          <p:cNvPr id="6" name="Shape 4"/>
          <p:cNvSpPr/>
          <p:nvPr/>
        </p:nvSpPr>
        <p:spPr>
          <a:xfrm>
            <a:off x="825500" y="2777430"/>
            <a:ext cx="2120900" cy="1201341"/>
          </a:xfrm>
          <a:prstGeom prst="roundRect">
            <a:avLst>
              <a:gd name="adj" fmla="val 9514"/>
            </a:avLst>
          </a:prstGeom>
          <a:solidFill>
            <a:srgbClr val="2A1A52"/>
          </a:solidFill>
          <a:ln w="25400">
            <a:solidFill>
              <a:srgbClr val="3BE8FF"/>
            </a:solidFill>
            <a:prstDash val="solid"/>
          </a:ln>
        </p:spPr>
        <p:txBody>
          <a:bodyPr/>
          <a:lstStyle/>
          <a:p>
            <a:endParaRPr lang="en-US"/>
          </a:p>
        </p:txBody>
      </p:sp>
      <p:sp>
        <p:nvSpPr>
          <p:cNvPr id="7" name="Text 5"/>
          <p:cNvSpPr/>
          <p:nvPr/>
        </p:nvSpPr>
        <p:spPr>
          <a:xfrm>
            <a:off x="1016000" y="2967930"/>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E8FF"/>
                </a:solidFill>
                <a:latin typeface="Press Start 2P" pitchFamily="49" charset="0"/>
                <a:ea typeface="Press Start 2P" pitchFamily="49" charset="-122"/>
                <a:cs typeface="Press Start 2P" pitchFamily="49" charset="-120"/>
              </a:rPr>
              <a:t>SAVE 1</a:t>
            </a:r>
            <a:endParaRPr lang="en-US" sz="1200" dirty="0"/>
          </a:p>
        </p:txBody>
      </p:sp>
      <p:sp>
        <p:nvSpPr>
          <p:cNvPr id="8" name="Text 6"/>
          <p:cNvSpPr/>
          <p:nvPr/>
        </p:nvSpPr>
        <p:spPr>
          <a:xfrm>
            <a:off x="1016000" y="3244751"/>
            <a:ext cx="19177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4E0"/>
                </a:solidFill>
                <a:latin typeface="Fredoka" pitchFamily="34" charset="0"/>
                <a:ea typeface="Fredoka" pitchFamily="34" charset="-122"/>
                <a:cs typeface="Fredoka" pitchFamily="34" charset="-120"/>
              </a:rPr>
              <a:t>Added the player 🧍</a:t>
            </a:r>
            <a:endParaRPr lang="en-US" sz="1500" dirty="0"/>
          </a:p>
        </p:txBody>
      </p:sp>
      <p:sp>
        <p:nvSpPr>
          <p:cNvPr id="9" name="Text 7"/>
          <p:cNvSpPr/>
          <p:nvPr/>
        </p:nvSpPr>
        <p:spPr>
          <a:xfrm>
            <a:off x="1016000" y="3574951"/>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Mon, 4:02 pm</a:t>
            </a:r>
            <a:endParaRPr lang="en-US" sz="1200" dirty="0"/>
          </a:p>
        </p:txBody>
      </p:sp>
      <p:pic>
        <p:nvPicPr>
          <p:cNvPr id="10" name="Image 0" descr="arrow-right"/>
          <p:cNvPicPr>
            <a:picLocks noChangeAspect="1"/>
          </p:cNvPicPr>
          <p:nvPr/>
        </p:nvPicPr>
        <p:blipFill>
          <a:blip r:embed="rId3"/>
          <a:srcRect/>
          <a:stretch/>
        </p:blipFill>
        <p:spPr>
          <a:xfrm>
            <a:off x="3086100" y="3276501"/>
            <a:ext cx="406400" cy="203200"/>
          </a:xfrm>
          <a:prstGeom prst="rect">
            <a:avLst/>
          </a:prstGeom>
        </p:spPr>
      </p:pic>
      <p:sp>
        <p:nvSpPr>
          <p:cNvPr id="11" name="Shape 8"/>
          <p:cNvSpPr/>
          <p:nvPr/>
        </p:nvSpPr>
        <p:spPr>
          <a:xfrm>
            <a:off x="3632200" y="2644080"/>
            <a:ext cx="2120900" cy="1468041"/>
          </a:xfrm>
          <a:prstGeom prst="roundRect">
            <a:avLst>
              <a:gd name="adj" fmla="val 7786"/>
            </a:avLst>
          </a:prstGeom>
          <a:solidFill>
            <a:srgbClr val="2A1A52"/>
          </a:solidFill>
          <a:ln w="25400">
            <a:solidFill>
              <a:srgbClr val="3BE8FF"/>
            </a:solidFill>
            <a:prstDash val="solid"/>
          </a:ln>
        </p:spPr>
        <p:txBody>
          <a:bodyPr/>
          <a:lstStyle/>
          <a:p>
            <a:endParaRPr lang="en-US"/>
          </a:p>
        </p:txBody>
      </p:sp>
      <p:sp>
        <p:nvSpPr>
          <p:cNvPr id="12" name="Text 9"/>
          <p:cNvSpPr/>
          <p:nvPr/>
        </p:nvSpPr>
        <p:spPr>
          <a:xfrm>
            <a:off x="3822700" y="2834580"/>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E8FF"/>
                </a:solidFill>
                <a:latin typeface="Press Start 2P" pitchFamily="49" charset="0"/>
                <a:ea typeface="Press Start 2P" pitchFamily="49" charset="-122"/>
                <a:cs typeface="Press Start 2P" pitchFamily="49" charset="-120"/>
              </a:rPr>
              <a:t>SAVE 2</a:t>
            </a:r>
            <a:endParaRPr lang="en-US" sz="1200" dirty="0"/>
          </a:p>
        </p:txBody>
      </p:sp>
      <p:sp>
        <p:nvSpPr>
          <p:cNvPr id="13" name="Text 10"/>
          <p:cNvSpPr/>
          <p:nvPr/>
        </p:nvSpPr>
        <p:spPr>
          <a:xfrm>
            <a:off x="3822700" y="3111401"/>
            <a:ext cx="179209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4E0"/>
                </a:solidFill>
                <a:latin typeface="Fredoka" pitchFamily="34" charset="0"/>
                <a:ea typeface="Fredoka" pitchFamily="34" charset="-122"/>
                <a:cs typeface="Fredoka" pitchFamily="34" charset="-120"/>
              </a:rPr>
              <a:t>Added double jump 🦘</a:t>
            </a:r>
            <a:endParaRPr lang="en-US" sz="1500" dirty="0"/>
          </a:p>
        </p:txBody>
      </p:sp>
      <p:sp>
        <p:nvSpPr>
          <p:cNvPr id="14" name="Text 11"/>
          <p:cNvSpPr/>
          <p:nvPr/>
        </p:nvSpPr>
        <p:spPr>
          <a:xfrm>
            <a:off x="3822700" y="3708301"/>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Tue, 9:15 pm</a:t>
            </a:r>
            <a:endParaRPr lang="en-US" sz="1200" dirty="0"/>
          </a:p>
        </p:txBody>
      </p:sp>
      <p:pic>
        <p:nvPicPr>
          <p:cNvPr id="15" name="Image 1" descr="arrow-right"/>
          <p:cNvPicPr>
            <a:picLocks noChangeAspect="1"/>
          </p:cNvPicPr>
          <p:nvPr/>
        </p:nvPicPr>
        <p:blipFill>
          <a:blip r:embed="rId3"/>
          <a:srcRect/>
          <a:stretch/>
        </p:blipFill>
        <p:spPr>
          <a:xfrm>
            <a:off x="5892800" y="3276501"/>
            <a:ext cx="406400" cy="203200"/>
          </a:xfrm>
          <a:prstGeom prst="rect">
            <a:avLst/>
          </a:prstGeom>
        </p:spPr>
      </p:pic>
      <p:sp>
        <p:nvSpPr>
          <p:cNvPr id="16" name="Shape 12"/>
          <p:cNvSpPr/>
          <p:nvPr/>
        </p:nvSpPr>
        <p:spPr>
          <a:xfrm>
            <a:off x="6438900" y="2644080"/>
            <a:ext cx="2120900" cy="1468041"/>
          </a:xfrm>
          <a:prstGeom prst="roundRect">
            <a:avLst>
              <a:gd name="adj" fmla="val 7786"/>
            </a:avLst>
          </a:prstGeom>
          <a:solidFill>
            <a:srgbClr val="2A1A52"/>
          </a:solidFill>
          <a:ln w="25400">
            <a:solidFill>
              <a:srgbClr val="FF4FA3"/>
            </a:solidFill>
            <a:prstDash val="solid"/>
          </a:ln>
        </p:spPr>
        <p:txBody>
          <a:bodyPr/>
          <a:lstStyle/>
          <a:p>
            <a:endParaRPr lang="en-US"/>
          </a:p>
        </p:txBody>
      </p:sp>
      <p:sp>
        <p:nvSpPr>
          <p:cNvPr id="17" name="Text 13"/>
          <p:cNvSpPr/>
          <p:nvPr/>
        </p:nvSpPr>
        <p:spPr>
          <a:xfrm>
            <a:off x="6629400" y="2834580"/>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SAVE 3</a:t>
            </a:r>
            <a:endParaRPr lang="en-US" sz="1200" dirty="0"/>
          </a:p>
        </p:txBody>
      </p:sp>
      <p:sp>
        <p:nvSpPr>
          <p:cNvPr id="18" name="Text 14"/>
          <p:cNvSpPr/>
          <p:nvPr/>
        </p:nvSpPr>
        <p:spPr>
          <a:xfrm>
            <a:off x="6629400" y="3111401"/>
            <a:ext cx="179209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4E0"/>
                </a:solidFill>
                <a:latin typeface="Fredoka" pitchFamily="34" charset="0"/>
                <a:ea typeface="Fredoka" pitchFamily="34" charset="-122"/>
                <a:cs typeface="Fredoka" pitchFamily="34" charset="-120"/>
              </a:rPr>
              <a:t>Broke EVERYTHING 💀</a:t>
            </a:r>
            <a:endParaRPr lang="en-US" sz="1500" dirty="0"/>
          </a:p>
        </p:txBody>
      </p:sp>
      <p:sp>
        <p:nvSpPr>
          <p:cNvPr id="19" name="Text 15"/>
          <p:cNvSpPr/>
          <p:nvPr/>
        </p:nvSpPr>
        <p:spPr>
          <a:xfrm>
            <a:off x="6629400" y="3708301"/>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Wed, 2:47 am</a:t>
            </a:r>
            <a:endParaRPr lang="en-US" sz="1200" dirty="0"/>
          </a:p>
        </p:txBody>
      </p:sp>
      <p:pic>
        <p:nvPicPr>
          <p:cNvPr id="20" name="Image 2" descr="arrow-right"/>
          <p:cNvPicPr>
            <a:picLocks noChangeAspect="1"/>
          </p:cNvPicPr>
          <p:nvPr/>
        </p:nvPicPr>
        <p:blipFill>
          <a:blip r:embed="rId3"/>
          <a:srcRect/>
          <a:stretch/>
        </p:blipFill>
        <p:spPr>
          <a:xfrm>
            <a:off x="8699500" y="3276501"/>
            <a:ext cx="406400" cy="203200"/>
          </a:xfrm>
          <a:prstGeom prst="rect">
            <a:avLst/>
          </a:prstGeom>
        </p:spPr>
      </p:pic>
      <p:sp>
        <p:nvSpPr>
          <p:cNvPr id="21" name="Shape 16"/>
          <p:cNvSpPr/>
          <p:nvPr/>
        </p:nvSpPr>
        <p:spPr>
          <a:xfrm>
            <a:off x="9245600" y="2777430"/>
            <a:ext cx="2120900" cy="1201341"/>
          </a:xfrm>
          <a:prstGeom prst="roundRect">
            <a:avLst>
              <a:gd name="adj" fmla="val 9514"/>
            </a:avLst>
          </a:prstGeom>
          <a:solidFill>
            <a:srgbClr val="2A1A52"/>
          </a:solidFill>
          <a:ln w="25400">
            <a:solidFill>
              <a:srgbClr val="B6FF3B"/>
            </a:solidFill>
            <a:prstDash val="solid"/>
          </a:ln>
        </p:spPr>
        <p:txBody>
          <a:bodyPr/>
          <a:lstStyle/>
          <a:p>
            <a:endParaRPr lang="en-US"/>
          </a:p>
        </p:txBody>
      </p:sp>
      <p:sp>
        <p:nvSpPr>
          <p:cNvPr id="22" name="Text 17"/>
          <p:cNvSpPr/>
          <p:nvPr/>
        </p:nvSpPr>
        <p:spPr>
          <a:xfrm>
            <a:off x="9436100" y="2967930"/>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LOAD 2</a:t>
            </a:r>
            <a:endParaRPr lang="en-US" sz="1200" dirty="0"/>
          </a:p>
        </p:txBody>
      </p:sp>
      <p:sp>
        <p:nvSpPr>
          <p:cNvPr id="23" name="Text 18"/>
          <p:cNvSpPr/>
          <p:nvPr/>
        </p:nvSpPr>
        <p:spPr>
          <a:xfrm>
            <a:off x="9436100" y="3244751"/>
            <a:ext cx="179209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4E0"/>
                </a:solidFill>
                <a:latin typeface="Fredoka" pitchFamily="34" charset="0"/>
                <a:ea typeface="Fredoka" pitchFamily="34" charset="-122"/>
                <a:cs typeface="Fredoka" pitchFamily="34" charset="-120"/>
              </a:rPr>
              <a:t>Back in business ✨</a:t>
            </a:r>
            <a:endParaRPr lang="en-US" sz="1500" dirty="0"/>
          </a:p>
        </p:txBody>
      </p:sp>
      <p:sp>
        <p:nvSpPr>
          <p:cNvPr id="24" name="Text 19"/>
          <p:cNvSpPr/>
          <p:nvPr/>
        </p:nvSpPr>
        <p:spPr>
          <a:xfrm>
            <a:off x="9436100" y="3574951"/>
            <a:ext cx="17920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took 0.5 seconds</a:t>
            </a:r>
            <a:endParaRPr lang="en-US" sz="1200" dirty="0"/>
          </a:p>
        </p:txBody>
      </p:sp>
      <p:sp>
        <p:nvSpPr>
          <p:cNvPr id="25" name="Text 20"/>
          <p:cNvSpPr/>
          <p:nvPr/>
        </p:nvSpPr>
        <p:spPr>
          <a:xfrm>
            <a:off x="819150" y="4334371"/>
            <a:ext cx="4004022" cy="396230"/>
          </a:xfrm>
          <a:prstGeom prst="roundRect">
            <a:avLst>
              <a:gd name="adj" fmla="val 50000"/>
            </a:avLst>
          </a:prstGeom>
          <a:solidFill>
            <a:srgbClr val="2A1A52"/>
          </a:solidFill>
          <a:ln w="12700">
            <a:solidFill>
              <a:srgbClr val="9B6BFF"/>
            </a:solidFill>
            <a:prstDash val="solid"/>
          </a:ln>
        </p:spPr>
        <p:txBody>
          <a:bodyPr wrap="none" lIns="0" tIns="0" rIns="0" bIns="0" rtlCol="0" anchor="ctr">
            <a:normAutofit/>
          </a:bodyPr>
          <a:lstStyle/>
          <a:p>
            <a:pPr marL="0" indent="0" algn="ctr">
              <a:lnSpc>
                <a:spcPts val="1820"/>
              </a:lnSpc>
              <a:buNone/>
            </a:pPr>
            <a:r>
              <a:rPr lang="en-US" sz="1300" dirty="0">
                <a:solidFill>
                  <a:srgbClr val="E9E1FF"/>
                </a:solidFill>
                <a:latin typeface="Fredoka" pitchFamily="34" charset="0"/>
                <a:ea typeface="Fredoka" pitchFamily="34" charset="-122"/>
                <a:cs typeface="Fredoka" pitchFamily="34" charset="-120"/>
              </a:rPr>
              <a:t>🐧 Made in 2005 by Linus Torvalds (the Linux guy)</a:t>
            </a:r>
            <a:endParaRPr lang="en-US" sz="1300" dirty="0"/>
          </a:p>
        </p:txBody>
      </p:sp>
      <p:sp>
        <p:nvSpPr>
          <p:cNvPr id="26" name="Text 21"/>
          <p:cNvSpPr/>
          <p:nvPr/>
        </p:nvSpPr>
        <p:spPr>
          <a:xfrm>
            <a:off x="4962872" y="4334371"/>
            <a:ext cx="2931120" cy="396230"/>
          </a:xfrm>
          <a:prstGeom prst="roundRect">
            <a:avLst>
              <a:gd name="adj" fmla="val 50000"/>
            </a:avLst>
          </a:prstGeom>
          <a:solidFill>
            <a:srgbClr val="2A1A52"/>
          </a:solidFill>
          <a:ln w="12700">
            <a:solidFill>
              <a:srgbClr val="9B6BFF"/>
            </a:solidFill>
            <a:prstDash val="solid"/>
          </a:ln>
        </p:spPr>
        <p:txBody>
          <a:bodyPr wrap="none" lIns="0" tIns="0" rIns="0" bIns="0" rtlCol="0" anchor="ctr">
            <a:normAutofit/>
          </a:bodyPr>
          <a:lstStyle/>
          <a:p>
            <a:pPr marL="0" indent="0" algn="ctr">
              <a:lnSpc>
                <a:spcPts val="1820"/>
              </a:lnSpc>
              <a:buNone/>
            </a:pPr>
            <a:r>
              <a:rPr lang="en-US" sz="1300" dirty="0">
                <a:solidFill>
                  <a:srgbClr val="E9E1FF"/>
                </a:solidFill>
                <a:latin typeface="Fredoka" pitchFamily="34" charset="0"/>
                <a:ea typeface="Fredoka" pitchFamily="34" charset="-122"/>
                <a:cs typeface="Fredoka" pitchFamily="34" charset="-120"/>
              </a:rPr>
              <a:t>📴 Runs on your laptop, even offline</a:t>
            </a:r>
            <a:endParaRPr lang="en-US" sz="1300" dirty="0"/>
          </a:p>
        </p:txBody>
      </p:sp>
      <p:sp>
        <p:nvSpPr>
          <p:cNvPr id="27" name="Text 22"/>
          <p:cNvSpPr/>
          <p:nvPr/>
        </p:nvSpPr>
        <p:spPr>
          <a:xfrm>
            <a:off x="8033693" y="4334371"/>
            <a:ext cx="1958380" cy="396230"/>
          </a:xfrm>
          <a:prstGeom prst="roundRect">
            <a:avLst>
              <a:gd name="adj" fmla="val 50000"/>
            </a:avLst>
          </a:prstGeom>
          <a:solidFill>
            <a:srgbClr val="2A1A52"/>
          </a:solidFill>
          <a:ln w="12700">
            <a:solidFill>
              <a:srgbClr val="9B6BFF"/>
            </a:solidFill>
            <a:prstDash val="solid"/>
          </a:ln>
        </p:spPr>
        <p:txBody>
          <a:bodyPr wrap="none" lIns="0" tIns="0" rIns="0" bIns="0" rtlCol="0" anchor="ctr">
            <a:normAutofit/>
          </a:bodyPr>
          <a:lstStyle/>
          <a:p>
            <a:pPr marL="0" indent="0" algn="ctr">
              <a:lnSpc>
                <a:spcPts val="1820"/>
              </a:lnSpc>
              <a:buNone/>
            </a:pPr>
            <a:r>
              <a:rPr lang="en-US" sz="1300" dirty="0">
                <a:solidFill>
                  <a:srgbClr val="E9E1FF"/>
                </a:solidFill>
                <a:latin typeface="Fredoka" pitchFamily="34" charset="0"/>
                <a:ea typeface="Fredoka" pitchFamily="34" charset="-122"/>
                <a:cs typeface="Fredoka" pitchFamily="34" charset="-120"/>
              </a:rPr>
              <a:t>💸 Free &amp; open source</a:t>
            </a:r>
            <a:endParaRPr lang="en-US" sz="1300" dirty="0"/>
          </a:p>
        </p:txBody>
      </p:sp>
      <p:sp>
        <p:nvSpPr>
          <p:cNvPr id="28" name="Text 23"/>
          <p:cNvSpPr/>
          <p:nvPr/>
        </p:nvSpPr>
        <p:spPr>
          <a:xfrm rot="720000">
            <a:off x="7823200" y="2458070"/>
            <a:ext cx="1054100" cy="425450"/>
          </a:xfrm>
          <a:prstGeom prst="roundRect">
            <a:avLst>
              <a:gd name="adj" fmla="val 50000"/>
            </a:avLst>
          </a:prstGeom>
          <a:solidFill>
            <a:srgbClr val="FF4FA3"/>
          </a:solidFill>
          <a:ln w="25400">
            <a:solidFill>
              <a:srgbClr val="1B1035"/>
            </a:solidFill>
            <a:prstDash val="solid"/>
          </a:ln>
          <a:effectLst>
            <a:outerShdw dist="53882" dir="2700000" algn="bl" rotWithShape="0">
              <a:srgbClr val="0E0A1F">
                <a:alpha val="100000"/>
              </a:srgbClr>
            </a:outerShdw>
          </a:effectLst>
        </p:spPr>
        <p:txBody>
          <a:bodyPr wrap="square" lIns="26595" tIns="26595" rIns="26595" bIns="119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RIP 🪦</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011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1 &gt; GIT</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06/30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Speak Git like a gamer</a:t>
            </a:r>
            <a:endParaRPr lang="en-US" sz="4000" dirty="0"/>
          </a:p>
        </p:txBody>
      </p:sp>
      <p:sp>
        <p:nvSpPr>
          <p:cNvPr id="5" name="Shape 3"/>
          <p:cNvSpPr/>
          <p:nvPr/>
        </p:nvSpPr>
        <p:spPr>
          <a:xfrm>
            <a:off x="822325" y="1797645"/>
            <a:ext cx="10547350" cy="460970"/>
          </a:xfrm>
          <a:custGeom>
            <a:avLst/>
            <a:gdLst/>
            <a:ahLst/>
            <a:cxnLst/>
            <a:rect l="l" t="t" r="r" b="b"/>
            <a:pathLst>
              <a:path w="10547350" h="460970">
                <a:moveTo>
                  <a:pt x="92075" y="0"/>
                </a:moveTo>
                <a:lnTo>
                  <a:pt x="10455275" y="0"/>
                </a:lnTo>
                <a:arcTo wR="92075" hR="92075" stAng="16200000" swAng="5400000"/>
                <a:lnTo>
                  <a:pt x="10547350" y="460970"/>
                </a:lnTo>
                <a:lnTo>
                  <a:pt x="0" y="460970"/>
                </a:lnTo>
                <a:lnTo>
                  <a:pt x="0" y="92075"/>
                </a:lnTo>
                <a:arcTo wR="92075" hR="92075" stAng="10800000" swAng="5400000"/>
                <a:close/>
              </a:path>
            </a:pathLst>
          </a:custGeom>
          <a:solidFill>
            <a:srgbClr val="1B1035"/>
          </a:solidFill>
          <a:ln w="19050">
            <a:solidFill>
              <a:srgbClr val="1B1035"/>
            </a:solidFill>
            <a:prstDash val="solid"/>
          </a:ln>
        </p:spPr>
        <p:txBody>
          <a:bodyPr/>
          <a:lstStyle/>
          <a:p>
            <a:endParaRPr lang="en-US"/>
          </a:p>
        </p:txBody>
      </p:sp>
      <p:sp>
        <p:nvSpPr>
          <p:cNvPr id="6" name="Text 4"/>
          <p:cNvSpPr/>
          <p:nvPr/>
        </p:nvSpPr>
        <p:spPr>
          <a:xfrm>
            <a:off x="1009650" y="1921470"/>
            <a:ext cx="3924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D23F"/>
                </a:solidFill>
                <a:latin typeface="Press Start 2P" pitchFamily="49" charset="0"/>
                <a:ea typeface="Press Start 2P" pitchFamily="49" charset="-122"/>
                <a:cs typeface="Press Start 2P" pitchFamily="49" charset="-120"/>
              </a:rPr>
              <a:t>IN GAMES</a:t>
            </a:r>
            <a:endParaRPr lang="en-US" sz="1200" dirty="0"/>
          </a:p>
        </p:txBody>
      </p:sp>
      <p:sp>
        <p:nvSpPr>
          <p:cNvPr id="7" name="Text 5"/>
          <p:cNvSpPr/>
          <p:nvPr/>
        </p:nvSpPr>
        <p:spPr>
          <a:xfrm>
            <a:off x="4819650" y="1921470"/>
            <a:ext cx="24853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E8FF"/>
                </a:solidFill>
                <a:latin typeface="Press Start 2P" pitchFamily="49" charset="0"/>
                <a:ea typeface="Press Start 2P" pitchFamily="49" charset="-122"/>
                <a:cs typeface="Press Start 2P" pitchFamily="49" charset="-120"/>
              </a:rPr>
              <a:t>IN GIT</a:t>
            </a:r>
            <a:endParaRPr lang="en-US" sz="1200" dirty="0"/>
          </a:p>
        </p:txBody>
      </p:sp>
      <p:sp>
        <p:nvSpPr>
          <p:cNvPr id="8" name="Text 6"/>
          <p:cNvSpPr/>
          <p:nvPr/>
        </p:nvSpPr>
        <p:spPr>
          <a:xfrm>
            <a:off x="7232650" y="1921470"/>
            <a:ext cx="406819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TYPE THIS</a:t>
            </a:r>
            <a:endParaRPr lang="en-US" sz="1200" dirty="0"/>
          </a:p>
        </p:txBody>
      </p:sp>
      <p:sp>
        <p:nvSpPr>
          <p:cNvPr id="9" name="Shape 7"/>
          <p:cNvSpPr/>
          <p:nvPr/>
        </p:nvSpPr>
        <p:spPr>
          <a:xfrm>
            <a:off x="812800" y="2268141"/>
            <a:ext cx="10566400" cy="506710"/>
          </a:xfrm>
          <a:prstGeom prst="rect">
            <a:avLst/>
          </a:prstGeom>
          <a:solidFill>
            <a:srgbClr val="FFFDF8"/>
          </a:solidFill>
          <a:ln/>
        </p:spPr>
        <p:txBody>
          <a:bodyPr/>
          <a:lstStyle/>
          <a:p>
            <a:endParaRPr lang="en-US"/>
          </a:p>
        </p:txBody>
      </p:sp>
      <p:sp>
        <p:nvSpPr>
          <p:cNvPr id="10" name="Shape 8"/>
          <p:cNvSpPr/>
          <p:nvPr/>
        </p:nvSpPr>
        <p:spPr>
          <a:xfrm>
            <a:off x="11369675" y="2268141"/>
            <a:ext cx="0" cy="506710"/>
          </a:xfrm>
          <a:prstGeom prst="line">
            <a:avLst/>
          </a:prstGeom>
          <a:noFill/>
          <a:ln w="19050">
            <a:solidFill>
              <a:srgbClr val="1B1035"/>
            </a:solidFill>
            <a:prstDash val="solid"/>
          </a:ln>
        </p:spPr>
        <p:txBody>
          <a:bodyPr/>
          <a:lstStyle/>
          <a:p>
            <a:endParaRPr lang="en-US"/>
          </a:p>
        </p:txBody>
      </p:sp>
      <p:sp>
        <p:nvSpPr>
          <p:cNvPr id="11" name="Shape 9"/>
          <p:cNvSpPr/>
          <p:nvPr/>
        </p:nvSpPr>
        <p:spPr>
          <a:xfrm>
            <a:off x="812800" y="2765326"/>
            <a:ext cx="10566400" cy="0"/>
          </a:xfrm>
          <a:prstGeom prst="line">
            <a:avLst/>
          </a:prstGeom>
          <a:noFill/>
          <a:ln w="19050">
            <a:solidFill>
              <a:srgbClr val="1B1035"/>
            </a:solidFill>
            <a:prstDash val="solid"/>
          </a:ln>
        </p:spPr>
        <p:txBody>
          <a:bodyPr/>
          <a:lstStyle/>
          <a:p>
            <a:endParaRPr lang="en-US"/>
          </a:p>
        </p:txBody>
      </p:sp>
      <p:sp>
        <p:nvSpPr>
          <p:cNvPr id="12" name="Shape 10"/>
          <p:cNvSpPr/>
          <p:nvPr/>
        </p:nvSpPr>
        <p:spPr>
          <a:xfrm>
            <a:off x="822325" y="2268141"/>
            <a:ext cx="0" cy="506710"/>
          </a:xfrm>
          <a:prstGeom prst="line">
            <a:avLst/>
          </a:prstGeom>
          <a:noFill/>
          <a:ln w="19050">
            <a:solidFill>
              <a:srgbClr val="1B1035"/>
            </a:solidFill>
            <a:prstDash val="solid"/>
          </a:ln>
        </p:spPr>
        <p:txBody>
          <a:bodyPr/>
          <a:lstStyle/>
          <a:p>
            <a:endParaRPr lang="en-US"/>
          </a:p>
        </p:txBody>
      </p:sp>
      <p:sp>
        <p:nvSpPr>
          <p:cNvPr id="13" name="Text 11"/>
          <p:cNvSpPr/>
          <p:nvPr/>
        </p:nvSpPr>
        <p:spPr>
          <a:xfrm>
            <a:off x="1009650" y="2369741"/>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035"/>
                </a:solidFill>
                <a:latin typeface="Fredoka" pitchFamily="34" charset="0"/>
                <a:ea typeface="Fredoka" pitchFamily="34" charset="-122"/>
                <a:cs typeface="Fredoka" pitchFamily="34" charset="-120"/>
              </a:rPr>
              <a:t>💾 Save the game</a:t>
            </a:r>
            <a:endParaRPr lang="en-US" sz="1600" dirty="0"/>
          </a:p>
        </p:txBody>
      </p:sp>
      <p:sp>
        <p:nvSpPr>
          <p:cNvPr id="14" name="Text 12"/>
          <p:cNvSpPr/>
          <p:nvPr/>
        </p:nvSpPr>
        <p:spPr>
          <a:xfrm>
            <a:off x="4819650" y="236974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035"/>
                </a:solidFill>
                <a:latin typeface="Fredoka" pitchFamily="34" charset="0"/>
                <a:ea typeface="Fredoka" pitchFamily="34" charset="-122"/>
                <a:cs typeface="Fredoka" pitchFamily="34" charset="-120"/>
              </a:rPr>
              <a:t>commit</a:t>
            </a:r>
            <a:endParaRPr lang="en-US" sz="1600" dirty="0"/>
          </a:p>
        </p:txBody>
      </p:sp>
      <p:sp>
        <p:nvSpPr>
          <p:cNvPr id="15" name="Text 13"/>
          <p:cNvSpPr/>
          <p:nvPr/>
        </p:nvSpPr>
        <p:spPr>
          <a:xfrm>
            <a:off x="7232650" y="2387501"/>
            <a:ext cx="406819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185B"/>
                </a:solidFill>
                <a:latin typeface="JetBrains Mono" pitchFamily="49" charset="0"/>
                <a:ea typeface="JetBrains Mono" pitchFamily="49" charset="-122"/>
                <a:cs typeface="JetBrains Mono" pitchFamily="49" charset="-120"/>
              </a:rPr>
              <a:t>git commit</a:t>
            </a:r>
            <a:endParaRPr lang="en-US" sz="1400" dirty="0"/>
          </a:p>
        </p:txBody>
      </p:sp>
      <p:sp>
        <p:nvSpPr>
          <p:cNvPr id="16" name="Shape 14"/>
          <p:cNvSpPr/>
          <p:nvPr/>
        </p:nvSpPr>
        <p:spPr>
          <a:xfrm>
            <a:off x="812800" y="2774851"/>
            <a:ext cx="10566400" cy="506710"/>
          </a:xfrm>
          <a:prstGeom prst="rect">
            <a:avLst/>
          </a:prstGeom>
          <a:solidFill>
            <a:srgbClr val="F6ECFF"/>
          </a:solidFill>
          <a:ln/>
        </p:spPr>
        <p:txBody>
          <a:bodyPr/>
          <a:lstStyle/>
          <a:p>
            <a:endParaRPr lang="en-US"/>
          </a:p>
        </p:txBody>
      </p:sp>
      <p:sp>
        <p:nvSpPr>
          <p:cNvPr id="17" name="Shape 15"/>
          <p:cNvSpPr/>
          <p:nvPr/>
        </p:nvSpPr>
        <p:spPr>
          <a:xfrm>
            <a:off x="11369675" y="2774851"/>
            <a:ext cx="0" cy="506710"/>
          </a:xfrm>
          <a:prstGeom prst="line">
            <a:avLst/>
          </a:prstGeom>
          <a:noFill/>
          <a:ln w="19050">
            <a:solidFill>
              <a:srgbClr val="1B1035"/>
            </a:solidFill>
            <a:prstDash val="solid"/>
          </a:ln>
        </p:spPr>
        <p:txBody>
          <a:bodyPr/>
          <a:lstStyle/>
          <a:p>
            <a:endParaRPr lang="en-US"/>
          </a:p>
        </p:txBody>
      </p:sp>
      <p:sp>
        <p:nvSpPr>
          <p:cNvPr id="18" name="Shape 16"/>
          <p:cNvSpPr/>
          <p:nvPr/>
        </p:nvSpPr>
        <p:spPr>
          <a:xfrm>
            <a:off x="812800" y="3272036"/>
            <a:ext cx="10566400" cy="0"/>
          </a:xfrm>
          <a:prstGeom prst="line">
            <a:avLst/>
          </a:prstGeom>
          <a:noFill/>
          <a:ln w="19050">
            <a:solidFill>
              <a:srgbClr val="1B1035"/>
            </a:solidFill>
            <a:prstDash val="solid"/>
          </a:ln>
        </p:spPr>
        <p:txBody>
          <a:bodyPr/>
          <a:lstStyle/>
          <a:p>
            <a:endParaRPr lang="en-US"/>
          </a:p>
        </p:txBody>
      </p:sp>
      <p:sp>
        <p:nvSpPr>
          <p:cNvPr id="19" name="Shape 17"/>
          <p:cNvSpPr/>
          <p:nvPr/>
        </p:nvSpPr>
        <p:spPr>
          <a:xfrm>
            <a:off x="822325" y="2774851"/>
            <a:ext cx="0" cy="506710"/>
          </a:xfrm>
          <a:prstGeom prst="line">
            <a:avLst/>
          </a:prstGeom>
          <a:noFill/>
          <a:ln w="19050">
            <a:solidFill>
              <a:srgbClr val="1B1035"/>
            </a:solidFill>
            <a:prstDash val="solid"/>
          </a:ln>
        </p:spPr>
        <p:txBody>
          <a:bodyPr/>
          <a:lstStyle/>
          <a:p>
            <a:endParaRPr lang="en-US"/>
          </a:p>
        </p:txBody>
      </p:sp>
      <p:sp>
        <p:nvSpPr>
          <p:cNvPr id="20" name="Text 18"/>
          <p:cNvSpPr/>
          <p:nvPr/>
        </p:nvSpPr>
        <p:spPr>
          <a:xfrm>
            <a:off x="1009650" y="2876451"/>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035"/>
                </a:solidFill>
                <a:latin typeface="Fredoka" pitchFamily="34" charset="0"/>
                <a:ea typeface="Fredoka" pitchFamily="34" charset="-122"/>
                <a:cs typeface="Fredoka" pitchFamily="34" charset="-120"/>
              </a:rPr>
              <a:t>📜 Your list of saves</a:t>
            </a:r>
            <a:endParaRPr lang="en-US" sz="1600" dirty="0"/>
          </a:p>
        </p:txBody>
      </p:sp>
      <p:sp>
        <p:nvSpPr>
          <p:cNvPr id="21" name="Text 19"/>
          <p:cNvSpPr/>
          <p:nvPr/>
        </p:nvSpPr>
        <p:spPr>
          <a:xfrm>
            <a:off x="4819650" y="287645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035"/>
                </a:solidFill>
                <a:latin typeface="Fredoka" pitchFamily="34" charset="0"/>
                <a:ea typeface="Fredoka" pitchFamily="34" charset="-122"/>
                <a:cs typeface="Fredoka" pitchFamily="34" charset="-120"/>
              </a:rPr>
              <a:t>log (history)</a:t>
            </a:r>
            <a:endParaRPr lang="en-US" sz="1600" dirty="0"/>
          </a:p>
        </p:txBody>
      </p:sp>
      <p:sp>
        <p:nvSpPr>
          <p:cNvPr id="22" name="Text 20"/>
          <p:cNvSpPr/>
          <p:nvPr/>
        </p:nvSpPr>
        <p:spPr>
          <a:xfrm>
            <a:off x="7232650" y="2894211"/>
            <a:ext cx="406819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185B"/>
                </a:solidFill>
                <a:latin typeface="JetBrains Mono" pitchFamily="49" charset="0"/>
                <a:ea typeface="JetBrains Mono" pitchFamily="49" charset="-122"/>
                <a:cs typeface="JetBrains Mono" pitchFamily="49" charset="-120"/>
              </a:rPr>
              <a:t>git log --oneline</a:t>
            </a:r>
            <a:endParaRPr lang="en-US" sz="1400" dirty="0"/>
          </a:p>
        </p:txBody>
      </p:sp>
      <p:sp>
        <p:nvSpPr>
          <p:cNvPr id="23" name="Shape 21"/>
          <p:cNvSpPr/>
          <p:nvPr/>
        </p:nvSpPr>
        <p:spPr>
          <a:xfrm>
            <a:off x="812800" y="3281561"/>
            <a:ext cx="10566400" cy="506710"/>
          </a:xfrm>
          <a:prstGeom prst="rect">
            <a:avLst/>
          </a:prstGeom>
          <a:solidFill>
            <a:srgbClr val="FFFDF8"/>
          </a:solidFill>
          <a:ln/>
        </p:spPr>
        <p:txBody>
          <a:bodyPr/>
          <a:lstStyle/>
          <a:p>
            <a:endParaRPr lang="en-US"/>
          </a:p>
        </p:txBody>
      </p:sp>
      <p:sp>
        <p:nvSpPr>
          <p:cNvPr id="24" name="Shape 22"/>
          <p:cNvSpPr/>
          <p:nvPr/>
        </p:nvSpPr>
        <p:spPr>
          <a:xfrm>
            <a:off x="11369675" y="3281561"/>
            <a:ext cx="0" cy="506710"/>
          </a:xfrm>
          <a:prstGeom prst="line">
            <a:avLst/>
          </a:prstGeom>
          <a:noFill/>
          <a:ln w="19050">
            <a:solidFill>
              <a:srgbClr val="1B1035"/>
            </a:solidFill>
            <a:prstDash val="solid"/>
          </a:ln>
        </p:spPr>
        <p:txBody>
          <a:bodyPr/>
          <a:lstStyle/>
          <a:p>
            <a:endParaRPr lang="en-US"/>
          </a:p>
        </p:txBody>
      </p:sp>
      <p:sp>
        <p:nvSpPr>
          <p:cNvPr id="25" name="Shape 23"/>
          <p:cNvSpPr/>
          <p:nvPr/>
        </p:nvSpPr>
        <p:spPr>
          <a:xfrm>
            <a:off x="812800" y="3778746"/>
            <a:ext cx="10566400" cy="0"/>
          </a:xfrm>
          <a:prstGeom prst="line">
            <a:avLst/>
          </a:prstGeom>
          <a:noFill/>
          <a:ln w="19050">
            <a:solidFill>
              <a:srgbClr val="1B1035"/>
            </a:solidFill>
            <a:prstDash val="solid"/>
          </a:ln>
        </p:spPr>
        <p:txBody>
          <a:bodyPr/>
          <a:lstStyle/>
          <a:p>
            <a:endParaRPr lang="en-US"/>
          </a:p>
        </p:txBody>
      </p:sp>
      <p:sp>
        <p:nvSpPr>
          <p:cNvPr id="26" name="Shape 24"/>
          <p:cNvSpPr/>
          <p:nvPr/>
        </p:nvSpPr>
        <p:spPr>
          <a:xfrm>
            <a:off x="822325" y="3281561"/>
            <a:ext cx="0" cy="506710"/>
          </a:xfrm>
          <a:prstGeom prst="line">
            <a:avLst/>
          </a:prstGeom>
          <a:noFill/>
          <a:ln w="19050">
            <a:solidFill>
              <a:srgbClr val="1B1035"/>
            </a:solidFill>
            <a:prstDash val="solid"/>
          </a:ln>
        </p:spPr>
        <p:txBody>
          <a:bodyPr/>
          <a:lstStyle/>
          <a:p>
            <a:endParaRPr lang="en-US"/>
          </a:p>
        </p:txBody>
      </p:sp>
      <p:sp>
        <p:nvSpPr>
          <p:cNvPr id="27" name="Text 25"/>
          <p:cNvSpPr/>
          <p:nvPr/>
        </p:nvSpPr>
        <p:spPr>
          <a:xfrm>
            <a:off x="1009650" y="3383161"/>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035"/>
                </a:solidFill>
                <a:latin typeface="Fredoka" pitchFamily="34" charset="0"/>
                <a:ea typeface="Fredoka" pitchFamily="34" charset="-122"/>
                <a:cs typeface="Fredoka" pitchFamily="34" charset="-120"/>
              </a:rPr>
              <a:t>⏪ Load an old save</a:t>
            </a:r>
            <a:endParaRPr lang="en-US" sz="1600" dirty="0"/>
          </a:p>
        </p:txBody>
      </p:sp>
      <p:sp>
        <p:nvSpPr>
          <p:cNvPr id="28" name="Text 26"/>
          <p:cNvSpPr/>
          <p:nvPr/>
        </p:nvSpPr>
        <p:spPr>
          <a:xfrm>
            <a:off x="4819650" y="338316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035"/>
                </a:solidFill>
                <a:latin typeface="Fredoka" pitchFamily="34" charset="0"/>
                <a:ea typeface="Fredoka" pitchFamily="34" charset="-122"/>
                <a:cs typeface="Fredoka" pitchFamily="34" charset="-120"/>
              </a:rPr>
              <a:t>checkout</a:t>
            </a:r>
            <a:endParaRPr lang="en-US" sz="1600" dirty="0"/>
          </a:p>
        </p:txBody>
      </p:sp>
      <p:sp>
        <p:nvSpPr>
          <p:cNvPr id="29" name="Text 27"/>
          <p:cNvSpPr/>
          <p:nvPr/>
        </p:nvSpPr>
        <p:spPr>
          <a:xfrm>
            <a:off x="7232650" y="3400921"/>
            <a:ext cx="406819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185B"/>
                </a:solidFill>
                <a:latin typeface="JetBrains Mono" pitchFamily="49" charset="0"/>
                <a:ea typeface="JetBrains Mono" pitchFamily="49" charset="-122"/>
                <a:cs typeface="JetBrains Mono" pitchFamily="49" charset="-120"/>
              </a:rPr>
              <a:t>git checkout a1b2c3d</a:t>
            </a:r>
            <a:endParaRPr lang="en-US" sz="1400" dirty="0"/>
          </a:p>
        </p:txBody>
      </p:sp>
      <p:sp>
        <p:nvSpPr>
          <p:cNvPr id="30" name="Shape 28"/>
          <p:cNvSpPr/>
          <p:nvPr/>
        </p:nvSpPr>
        <p:spPr>
          <a:xfrm>
            <a:off x="812800" y="3788271"/>
            <a:ext cx="10566400" cy="506710"/>
          </a:xfrm>
          <a:prstGeom prst="rect">
            <a:avLst/>
          </a:prstGeom>
          <a:solidFill>
            <a:srgbClr val="F6ECFF"/>
          </a:solidFill>
          <a:ln/>
        </p:spPr>
        <p:txBody>
          <a:bodyPr/>
          <a:lstStyle/>
          <a:p>
            <a:endParaRPr lang="en-US"/>
          </a:p>
        </p:txBody>
      </p:sp>
      <p:sp>
        <p:nvSpPr>
          <p:cNvPr id="31" name="Shape 29"/>
          <p:cNvSpPr/>
          <p:nvPr/>
        </p:nvSpPr>
        <p:spPr>
          <a:xfrm>
            <a:off x="11369675" y="3788271"/>
            <a:ext cx="0" cy="506710"/>
          </a:xfrm>
          <a:prstGeom prst="line">
            <a:avLst/>
          </a:prstGeom>
          <a:noFill/>
          <a:ln w="19050">
            <a:solidFill>
              <a:srgbClr val="1B1035"/>
            </a:solidFill>
            <a:prstDash val="solid"/>
          </a:ln>
        </p:spPr>
        <p:txBody>
          <a:bodyPr/>
          <a:lstStyle/>
          <a:p>
            <a:endParaRPr lang="en-US"/>
          </a:p>
        </p:txBody>
      </p:sp>
      <p:sp>
        <p:nvSpPr>
          <p:cNvPr id="32" name="Shape 30"/>
          <p:cNvSpPr/>
          <p:nvPr/>
        </p:nvSpPr>
        <p:spPr>
          <a:xfrm>
            <a:off x="812800" y="4285456"/>
            <a:ext cx="10566400" cy="0"/>
          </a:xfrm>
          <a:prstGeom prst="line">
            <a:avLst/>
          </a:prstGeom>
          <a:noFill/>
          <a:ln w="19050">
            <a:solidFill>
              <a:srgbClr val="1B1035"/>
            </a:solidFill>
            <a:prstDash val="solid"/>
          </a:ln>
        </p:spPr>
        <p:txBody>
          <a:bodyPr/>
          <a:lstStyle/>
          <a:p>
            <a:endParaRPr lang="en-US"/>
          </a:p>
        </p:txBody>
      </p:sp>
      <p:sp>
        <p:nvSpPr>
          <p:cNvPr id="33" name="Shape 31"/>
          <p:cNvSpPr/>
          <p:nvPr/>
        </p:nvSpPr>
        <p:spPr>
          <a:xfrm>
            <a:off x="822325" y="3788271"/>
            <a:ext cx="0" cy="506710"/>
          </a:xfrm>
          <a:prstGeom prst="line">
            <a:avLst/>
          </a:prstGeom>
          <a:noFill/>
          <a:ln w="19050">
            <a:solidFill>
              <a:srgbClr val="1B1035"/>
            </a:solidFill>
            <a:prstDash val="solid"/>
          </a:ln>
        </p:spPr>
        <p:txBody>
          <a:bodyPr/>
          <a:lstStyle/>
          <a:p>
            <a:endParaRPr lang="en-US"/>
          </a:p>
        </p:txBody>
      </p:sp>
      <p:sp>
        <p:nvSpPr>
          <p:cNvPr id="34" name="Text 32"/>
          <p:cNvSpPr/>
          <p:nvPr/>
        </p:nvSpPr>
        <p:spPr>
          <a:xfrm>
            <a:off x="1009650" y="3889871"/>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035"/>
                </a:solidFill>
                <a:latin typeface="Fredoka" pitchFamily="34" charset="0"/>
                <a:ea typeface="Fredoka" pitchFamily="34" charset="-122"/>
                <a:cs typeface="Fredoka" pitchFamily="34" charset="-120"/>
              </a:rPr>
              <a:t>🌌 Parallel timeline</a:t>
            </a:r>
            <a:endParaRPr lang="en-US" sz="1600" dirty="0"/>
          </a:p>
        </p:txBody>
      </p:sp>
      <p:sp>
        <p:nvSpPr>
          <p:cNvPr id="35" name="Text 33"/>
          <p:cNvSpPr/>
          <p:nvPr/>
        </p:nvSpPr>
        <p:spPr>
          <a:xfrm>
            <a:off x="4819650" y="388987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035"/>
                </a:solidFill>
                <a:latin typeface="Fredoka" pitchFamily="34" charset="0"/>
                <a:ea typeface="Fredoka" pitchFamily="34" charset="-122"/>
                <a:cs typeface="Fredoka" pitchFamily="34" charset="-120"/>
              </a:rPr>
              <a:t>branch</a:t>
            </a:r>
            <a:endParaRPr lang="en-US" sz="1600" dirty="0"/>
          </a:p>
        </p:txBody>
      </p:sp>
      <p:sp>
        <p:nvSpPr>
          <p:cNvPr id="36" name="Text 34"/>
          <p:cNvSpPr/>
          <p:nvPr/>
        </p:nvSpPr>
        <p:spPr>
          <a:xfrm>
            <a:off x="7232650" y="3907631"/>
            <a:ext cx="406819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185B"/>
                </a:solidFill>
                <a:latin typeface="JetBrains Mono" pitchFamily="49" charset="0"/>
                <a:ea typeface="JetBrains Mono" pitchFamily="49" charset="-122"/>
                <a:cs typeface="JetBrains Mono" pitchFamily="49" charset="-120"/>
              </a:rPr>
              <a:t>git switch -c new-idea</a:t>
            </a:r>
            <a:endParaRPr lang="en-US" sz="1400" dirty="0"/>
          </a:p>
        </p:txBody>
      </p:sp>
      <p:sp>
        <p:nvSpPr>
          <p:cNvPr id="37" name="Shape 35"/>
          <p:cNvSpPr/>
          <p:nvPr/>
        </p:nvSpPr>
        <p:spPr>
          <a:xfrm>
            <a:off x="812800" y="4294981"/>
            <a:ext cx="10566400" cy="506710"/>
          </a:xfrm>
          <a:prstGeom prst="rect">
            <a:avLst/>
          </a:prstGeom>
          <a:solidFill>
            <a:srgbClr val="FFFDF8"/>
          </a:solidFill>
          <a:ln/>
        </p:spPr>
        <p:txBody>
          <a:bodyPr/>
          <a:lstStyle/>
          <a:p>
            <a:endParaRPr lang="en-US"/>
          </a:p>
        </p:txBody>
      </p:sp>
      <p:sp>
        <p:nvSpPr>
          <p:cNvPr id="38" name="Shape 36"/>
          <p:cNvSpPr/>
          <p:nvPr/>
        </p:nvSpPr>
        <p:spPr>
          <a:xfrm>
            <a:off x="11369675" y="4294981"/>
            <a:ext cx="0" cy="506710"/>
          </a:xfrm>
          <a:prstGeom prst="line">
            <a:avLst/>
          </a:prstGeom>
          <a:noFill/>
          <a:ln w="19050">
            <a:solidFill>
              <a:srgbClr val="1B1035"/>
            </a:solidFill>
            <a:prstDash val="solid"/>
          </a:ln>
        </p:spPr>
        <p:txBody>
          <a:bodyPr/>
          <a:lstStyle/>
          <a:p>
            <a:endParaRPr lang="en-US"/>
          </a:p>
        </p:txBody>
      </p:sp>
      <p:sp>
        <p:nvSpPr>
          <p:cNvPr id="39" name="Shape 37"/>
          <p:cNvSpPr/>
          <p:nvPr/>
        </p:nvSpPr>
        <p:spPr>
          <a:xfrm>
            <a:off x="812800" y="4792166"/>
            <a:ext cx="10566400" cy="0"/>
          </a:xfrm>
          <a:prstGeom prst="line">
            <a:avLst/>
          </a:prstGeom>
          <a:noFill/>
          <a:ln w="19050">
            <a:solidFill>
              <a:srgbClr val="1B1035"/>
            </a:solidFill>
            <a:prstDash val="solid"/>
          </a:ln>
        </p:spPr>
        <p:txBody>
          <a:bodyPr/>
          <a:lstStyle/>
          <a:p>
            <a:endParaRPr lang="en-US"/>
          </a:p>
        </p:txBody>
      </p:sp>
      <p:sp>
        <p:nvSpPr>
          <p:cNvPr id="40" name="Shape 38"/>
          <p:cNvSpPr/>
          <p:nvPr/>
        </p:nvSpPr>
        <p:spPr>
          <a:xfrm>
            <a:off x="822325" y="4294981"/>
            <a:ext cx="0" cy="506710"/>
          </a:xfrm>
          <a:prstGeom prst="line">
            <a:avLst/>
          </a:prstGeom>
          <a:noFill/>
          <a:ln w="19050">
            <a:solidFill>
              <a:srgbClr val="1B1035"/>
            </a:solidFill>
            <a:prstDash val="solid"/>
          </a:ln>
        </p:spPr>
        <p:txBody>
          <a:bodyPr/>
          <a:lstStyle/>
          <a:p>
            <a:endParaRPr lang="en-US"/>
          </a:p>
        </p:txBody>
      </p:sp>
      <p:sp>
        <p:nvSpPr>
          <p:cNvPr id="41" name="Text 39"/>
          <p:cNvSpPr/>
          <p:nvPr/>
        </p:nvSpPr>
        <p:spPr>
          <a:xfrm>
            <a:off x="1009650" y="4396581"/>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035"/>
                </a:solidFill>
                <a:latin typeface="Fredoka" pitchFamily="34" charset="0"/>
                <a:ea typeface="Fredoka" pitchFamily="34" charset="-122"/>
                <a:cs typeface="Fredoka" pitchFamily="34" charset="-120"/>
              </a:rPr>
              <a:t>🔀 Merge two timelines</a:t>
            </a:r>
            <a:endParaRPr lang="en-US" sz="1600" dirty="0"/>
          </a:p>
        </p:txBody>
      </p:sp>
      <p:sp>
        <p:nvSpPr>
          <p:cNvPr id="42" name="Text 40"/>
          <p:cNvSpPr/>
          <p:nvPr/>
        </p:nvSpPr>
        <p:spPr>
          <a:xfrm>
            <a:off x="4819650" y="439658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035"/>
                </a:solidFill>
                <a:latin typeface="Fredoka" pitchFamily="34" charset="0"/>
                <a:ea typeface="Fredoka" pitchFamily="34" charset="-122"/>
                <a:cs typeface="Fredoka" pitchFamily="34" charset="-120"/>
              </a:rPr>
              <a:t>merge</a:t>
            </a:r>
            <a:endParaRPr lang="en-US" sz="1600" dirty="0"/>
          </a:p>
        </p:txBody>
      </p:sp>
      <p:sp>
        <p:nvSpPr>
          <p:cNvPr id="43" name="Text 41"/>
          <p:cNvSpPr/>
          <p:nvPr/>
        </p:nvSpPr>
        <p:spPr>
          <a:xfrm>
            <a:off x="7232650" y="4414341"/>
            <a:ext cx="406819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185B"/>
                </a:solidFill>
                <a:latin typeface="JetBrains Mono" pitchFamily="49" charset="0"/>
                <a:ea typeface="JetBrains Mono" pitchFamily="49" charset="-122"/>
                <a:cs typeface="JetBrains Mono" pitchFamily="49" charset="-120"/>
              </a:rPr>
              <a:t>git merge new-idea</a:t>
            </a:r>
            <a:endParaRPr lang="en-US" sz="1400" dirty="0"/>
          </a:p>
        </p:txBody>
      </p:sp>
      <p:sp>
        <p:nvSpPr>
          <p:cNvPr id="44" name="Shape 42"/>
          <p:cNvSpPr/>
          <p:nvPr/>
        </p:nvSpPr>
        <p:spPr>
          <a:xfrm>
            <a:off x="812800" y="4801691"/>
            <a:ext cx="10566400" cy="506710"/>
          </a:xfrm>
          <a:custGeom>
            <a:avLst/>
            <a:gdLst/>
            <a:ahLst/>
            <a:cxnLst/>
            <a:rect l="l" t="t" r="r" b="b"/>
            <a:pathLst>
              <a:path w="10566400" h="506710">
                <a:moveTo>
                  <a:pt x="0" y="0"/>
                </a:moveTo>
                <a:lnTo>
                  <a:pt x="10566400" y="0"/>
                </a:lnTo>
                <a:lnTo>
                  <a:pt x="10566400" y="405110"/>
                </a:lnTo>
                <a:arcTo wR="101600" hR="101600" stAng="0" swAng="5400000"/>
                <a:lnTo>
                  <a:pt x="101600" y="506710"/>
                </a:lnTo>
                <a:arcTo wR="101600" hR="101600" stAng="5400000" swAng="5400000"/>
                <a:lnTo>
                  <a:pt x="0" y="0"/>
                </a:lnTo>
                <a:close/>
              </a:path>
            </a:pathLst>
          </a:custGeom>
          <a:solidFill>
            <a:srgbClr val="F6ECFF"/>
          </a:solidFill>
          <a:ln/>
        </p:spPr>
        <p:txBody>
          <a:bodyPr/>
          <a:lstStyle/>
          <a:p>
            <a:endParaRPr lang="en-US"/>
          </a:p>
        </p:txBody>
      </p:sp>
      <p:sp>
        <p:nvSpPr>
          <p:cNvPr id="45" name="Shape 43"/>
          <p:cNvSpPr/>
          <p:nvPr/>
        </p:nvSpPr>
        <p:spPr>
          <a:xfrm>
            <a:off x="812800" y="4801691"/>
            <a:ext cx="10566400" cy="506710"/>
          </a:xfrm>
          <a:custGeom>
            <a:avLst/>
            <a:gdLst/>
            <a:ahLst/>
            <a:cxnLst/>
            <a:rect l="l" t="t" r="r" b="b"/>
            <a:pathLst>
              <a:path w="10566400" h="506710">
                <a:moveTo>
                  <a:pt x="10547350" y="0"/>
                </a:moveTo>
                <a:lnTo>
                  <a:pt x="10566400" y="0"/>
                </a:lnTo>
                <a:lnTo>
                  <a:pt x="10566400" y="405110"/>
                </a:lnTo>
                <a:arcTo wR="101600" hR="101600" stAng="0" swAng="5400000"/>
                <a:lnTo>
                  <a:pt x="101600" y="506710"/>
                </a:lnTo>
                <a:arcTo wR="101600" hR="101600" stAng="5400000" swAng="5400000"/>
                <a:lnTo>
                  <a:pt x="0" y="0"/>
                </a:lnTo>
                <a:lnTo>
                  <a:pt x="19050" y="0"/>
                </a:lnTo>
                <a:lnTo>
                  <a:pt x="19050" y="405110"/>
                </a:lnTo>
                <a:arcTo wR="82550" hR="82550" stAng="10800000" swAng="-5400000"/>
                <a:lnTo>
                  <a:pt x="10464800" y="487660"/>
                </a:lnTo>
                <a:arcTo wR="82550" hR="82550" stAng="5400000" swAng="-5400000"/>
                <a:lnTo>
                  <a:pt x="10547350" y="0"/>
                </a:lnTo>
                <a:close/>
              </a:path>
            </a:pathLst>
          </a:custGeom>
          <a:solidFill>
            <a:srgbClr val="1B1035"/>
          </a:solidFill>
          <a:ln/>
        </p:spPr>
        <p:txBody>
          <a:bodyPr/>
          <a:lstStyle/>
          <a:p>
            <a:endParaRPr lang="en-US"/>
          </a:p>
        </p:txBody>
      </p:sp>
      <p:sp>
        <p:nvSpPr>
          <p:cNvPr id="46" name="Text 44"/>
          <p:cNvSpPr/>
          <p:nvPr/>
        </p:nvSpPr>
        <p:spPr>
          <a:xfrm>
            <a:off x="1009650" y="4903291"/>
            <a:ext cx="39243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1035"/>
                </a:solidFill>
                <a:latin typeface="Fredoka" pitchFamily="34" charset="0"/>
                <a:ea typeface="Fredoka" pitchFamily="34" charset="-122"/>
                <a:cs typeface="Fredoka" pitchFamily="34" charset="-120"/>
              </a:rPr>
              <a:t>🌐 Online co-op server</a:t>
            </a:r>
            <a:endParaRPr lang="en-US" sz="1600" dirty="0"/>
          </a:p>
        </p:txBody>
      </p:sp>
      <p:sp>
        <p:nvSpPr>
          <p:cNvPr id="47" name="Text 45"/>
          <p:cNvSpPr/>
          <p:nvPr/>
        </p:nvSpPr>
        <p:spPr>
          <a:xfrm>
            <a:off x="4819650" y="4903291"/>
            <a:ext cx="248539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035"/>
                </a:solidFill>
                <a:latin typeface="Fredoka" pitchFamily="34" charset="0"/>
                <a:ea typeface="Fredoka" pitchFamily="34" charset="-122"/>
                <a:cs typeface="Fredoka" pitchFamily="34" charset="-120"/>
              </a:rPr>
              <a:t>remote</a:t>
            </a:r>
            <a:endParaRPr lang="en-US" sz="1600" dirty="0"/>
          </a:p>
        </p:txBody>
      </p:sp>
      <p:sp>
        <p:nvSpPr>
          <p:cNvPr id="48" name="Text 46"/>
          <p:cNvSpPr/>
          <p:nvPr/>
        </p:nvSpPr>
        <p:spPr>
          <a:xfrm>
            <a:off x="7232650" y="4921052"/>
            <a:ext cx="406819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185B"/>
                </a:solidFill>
                <a:latin typeface="JetBrains Mono" pitchFamily="49" charset="0"/>
                <a:ea typeface="JetBrains Mono" pitchFamily="49" charset="-122"/>
                <a:cs typeface="JetBrains Mono" pitchFamily="49" charset="-120"/>
              </a:rPr>
              <a:t>git push / git pull</a:t>
            </a:r>
            <a:endParaRPr lang="en-US" sz="1400" dirty="0"/>
          </a:p>
        </p:txBody>
      </p:sp>
      <p:sp>
        <p:nvSpPr>
          <p:cNvPr id="49" name="Text 47"/>
          <p:cNvSpPr/>
          <p:nvPr/>
        </p:nvSpPr>
        <p:spPr>
          <a:xfrm rot="300000">
            <a:off x="8077200" y="1092820"/>
            <a:ext cx="2895600" cy="450850"/>
          </a:xfrm>
          <a:prstGeom prst="roundRect">
            <a:avLst>
              <a:gd name="adj" fmla="val 50000"/>
            </a:avLst>
          </a:prstGeom>
          <a:solidFill>
            <a:srgbClr val="3BE8FF"/>
          </a:solidFill>
          <a:ln w="25400">
            <a:solidFill>
              <a:srgbClr val="1B1035"/>
            </a:solidFill>
            <a:prstDash val="solid"/>
          </a:ln>
          <a:effectLst>
            <a:outerShdw dist="53882" dir="2700000" algn="bl" rotWithShape="0">
              <a:srgbClr val="1B1035">
                <a:alpha val="100000"/>
              </a:srgbClr>
            </a:outerShdw>
          </a:effectLst>
        </p:spPr>
        <p:txBody>
          <a:bodyPr wrap="square" lIns="34432" tIns="35575" rIns="3443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basically a cheat menu 🕹</a:t>
            </a:r>
            <a:endParaRPr lang="en-US" sz="1400" dirty="0"/>
          </a:p>
        </p:txBody>
      </p:sp>
      <p:sp>
        <p:nvSpPr>
          <p:cNvPr id="50" name="Text 48"/>
          <p:cNvSpPr/>
          <p:nvPr/>
        </p:nvSpPr>
        <p:spPr>
          <a:xfrm rot="21360000">
            <a:off x="8648700" y="5525120"/>
            <a:ext cx="2260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1B1035">
                <a:alpha val="100000"/>
              </a:srgbClr>
            </a:outerShdw>
          </a:effectLst>
        </p:spPr>
        <p:txBody>
          <a:bodyPr wrap="square" lIns="43957" tIns="35575" rIns="4395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vocab unlocked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011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1 &gt; GIT</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07/30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How a save happens</a:t>
            </a:r>
            <a:endParaRPr lang="en-US" sz="4000" dirty="0"/>
          </a:p>
        </p:txBody>
      </p:sp>
      <p:sp>
        <p:nvSpPr>
          <p:cNvPr id="5" name="Text 3"/>
          <p:cNvSpPr/>
          <p:nvPr/>
        </p:nvSpPr>
        <p:spPr>
          <a:xfrm>
            <a:off x="812800" y="178812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9E1FF"/>
                </a:solidFill>
                <a:latin typeface="Fredoka" pitchFamily="34" charset="0"/>
                <a:ea typeface="Fredoka" pitchFamily="34" charset="-122"/>
                <a:cs typeface="Fredoka" pitchFamily="34" charset="-120"/>
              </a:rPr>
              <a:t>Every save travels through 3 zones on your laptop, then 1 online.</a:t>
            </a:r>
            <a:endParaRPr lang="en-US" sz="1800" dirty="0"/>
          </a:p>
        </p:txBody>
      </p:sp>
      <p:sp>
        <p:nvSpPr>
          <p:cNvPr id="6" name="Shape 4"/>
          <p:cNvSpPr/>
          <p:nvPr/>
        </p:nvSpPr>
        <p:spPr>
          <a:xfrm>
            <a:off x="825500" y="2324050"/>
            <a:ext cx="1901825" cy="1706761"/>
          </a:xfrm>
          <a:prstGeom prst="roundRect">
            <a:avLst>
              <a:gd name="adj" fmla="val 8185"/>
            </a:avLst>
          </a:prstGeom>
          <a:solidFill>
            <a:srgbClr val="2A1A52"/>
          </a:solidFill>
          <a:ln w="25400">
            <a:solidFill>
              <a:srgbClr val="3BE8FF"/>
            </a:solidFill>
            <a:prstDash val="solid"/>
          </a:ln>
        </p:spPr>
        <p:txBody>
          <a:bodyPr/>
          <a:lstStyle/>
          <a:p>
            <a:endParaRPr lang="en-US"/>
          </a:p>
        </p:txBody>
      </p:sp>
      <p:sp>
        <p:nvSpPr>
          <p:cNvPr id="7" name="Text 5"/>
          <p:cNvSpPr/>
          <p:nvPr/>
        </p:nvSpPr>
        <p:spPr>
          <a:xfrm>
            <a:off x="1502093" y="2514550"/>
            <a:ext cx="548640" cy="528290"/>
          </a:xfrm>
          <a:prstGeom prst="rect">
            <a:avLst/>
          </a:prstGeom>
          <a:noFill/>
          <a:ln/>
        </p:spPr>
        <p:txBody>
          <a:bodyPr wrap="square" lIns="0" tIns="0" rIns="0" bIns="0" rtlCol="0" anchor="t">
            <a:normAutofit/>
          </a:bodyPr>
          <a:lstStyle/>
          <a:p>
            <a:pPr marL="0" indent="0" algn="ctr">
              <a:lnSpc>
                <a:spcPts val="3960"/>
              </a:lnSpc>
              <a:buNone/>
            </a:pPr>
            <a:r>
              <a:rPr lang="en-US" sz="3600" dirty="0">
                <a:solidFill>
                  <a:srgbClr val="E9E1FF"/>
                </a:solidFill>
                <a:latin typeface="Fredoka" pitchFamily="34" charset="0"/>
                <a:ea typeface="Fredoka" pitchFamily="34" charset="-122"/>
                <a:cs typeface="Fredoka" pitchFamily="34" charset="-120"/>
              </a:rPr>
              <a:t>🛠</a:t>
            </a:r>
            <a:endParaRPr lang="en-US" sz="3600" dirty="0"/>
          </a:p>
        </p:txBody>
      </p:sp>
      <p:sp>
        <p:nvSpPr>
          <p:cNvPr id="8" name="Text 6"/>
          <p:cNvSpPr/>
          <p:nvPr/>
        </p:nvSpPr>
        <p:spPr>
          <a:xfrm>
            <a:off x="951488" y="3093641"/>
            <a:ext cx="1649849"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FF4E0"/>
                </a:solidFill>
                <a:latin typeface="Fredoka" pitchFamily="34" charset="0"/>
                <a:ea typeface="Fredoka" pitchFamily="34" charset="-122"/>
                <a:cs typeface="Fredoka" pitchFamily="34" charset="-120"/>
              </a:rPr>
              <a:t>Working folder</a:t>
            </a:r>
            <a:endParaRPr lang="en-US" sz="1600" dirty="0"/>
          </a:p>
        </p:txBody>
      </p:sp>
      <p:sp>
        <p:nvSpPr>
          <p:cNvPr id="9" name="Text 7"/>
          <p:cNvSpPr/>
          <p:nvPr/>
        </p:nvSpPr>
        <p:spPr>
          <a:xfrm>
            <a:off x="939800" y="3413671"/>
            <a:ext cx="1673225"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AEDB"/>
                </a:solidFill>
                <a:latin typeface="Fredoka" pitchFamily="34" charset="0"/>
                <a:ea typeface="Fredoka" pitchFamily="34" charset="-122"/>
                <a:cs typeface="Fredoka" pitchFamily="34" charset="-120"/>
              </a:rPr>
              <a:t>Where you edit code &amp; art</a:t>
            </a:r>
            <a:endParaRPr lang="en-US" sz="1200" dirty="0"/>
          </a:p>
        </p:txBody>
      </p:sp>
      <p:sp>
        <p:nvSpPr>
          <p:cNvPr id="10" name="Text 8"/>
          <p:cNvSpPr/>
          <p:nvPr/>
        </p:nvSpPr>
        <p:spPr>
          <a:xfrm>
            <a:off x="2896195" y="2918371"/>
            <a:ext cx="69091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FD23F"/>
                </a:solidFill>
                <a:latin typeface="JetBrains Mono" pitchFamily="49" charset="0"/>
                <a:ea typeface="JetBrains Mono" pitchFamily="49" charset="-122"/>
                <a:cs typeface="JetBrains Mono" pitchFamily="49" charset="-120"/>
              </a:rPr>
              <a:t>git add</a:t>
            </a:r>
            <a:endParaRPr lang="en-US" sz="1200" dirty="0"/>
          </a:p>
        </p:txBody>
      </p:sp>
      <p:pic>
        <p:nvPicPr>
          <p:cNvPr id="11" name="Image 0" descr="arrow-right"/>
          <p:cNvPicPr>
            <a:picLocks noChangeAspect="1"/>
          </p:cNvPicPr>
          <p:nvPr/>
        </p:nvPicPr>
        <p:blipFill>
          <a:blip r:embed="rId3"/>
          <a:srcRect/>
          <a:stretch/>
        </p:blipFill>
        <p:spPr>
          <a:xfrm>
            <a:off x="2911475" y="3182491"/>
            <a:ext cx="609600" cy="254000"/>
          </a:xfrm>
          <a:prstGeom prst="rect">
            <a:avLst/>
          </a:prstGeom>
        </p:spPr>
      </p:pic>
      <p:sp>
        <p:nvSpPr>
          <p:cNvPr id="12" name="Shape 9"/>
          <p:cNvSpPr/>
          <p:nvPr/>
        </p:nvSpPr>
        <p:spPr>
          <a:xfrm>
            <a:off x="3705225" y="2324050"/>
            <a:ext cx="1901825" cy="1706761"/>
          </a:xfrm>
          <a:prstGeom prst="roundRect">
            <a:avLst>
              <a:gd name="adj" fmla="val 8185"/>
            </a:avLst>
          </a:prstGeom>
          <a:solidFill>
            <a:srgbClr val="2A1A52"/>
          </a:solidFill>
          <a:ln w="25400">
            <a:solidFill>
              <a:srgbClr val="FF4FA3"/>
            </a:solidFill>
            <a:prstDash val="solid"/>
          </a:ln>
        </p:spPr>
        <p:txBody>
          <a:bodyPr/>
          <a:lstStyle/>
          <a:p>
            <a:endParaRPr lang="en-US"/>
          </a:p>
        </p:txBody>
      </p:sp>
      <p:sp>
        <p:nvSpPr>
          <p:cNvPr id="13" name="Text 10"/>
          <p:cNvSpPr/>
          <p:nvPr/>
        </p:nvSpPr>
        <p:spPr>
          <a:xfrm>
            <a:off x="4381818" y="2514550"/>
            <a:ext cx="548640" cy="528290"/>
          </a:xfrm>
          <a:prstGeom prst="rect">
            <a:avLst/>
          </a:prstGeom>
          <a:noFill/>
          <a:ln/>
        </p:spPr>
        <p:txBody>
          <a:bodyPr wrap="square" lIns="0" tIns="0" rIns="0" bIns="0" rtlCol="0" anchor="t">
            <a:normAutofit/>
          </a:bodyPr>
          <a:lstStyle/>
          <a:p>
            <a:pPr marL="0" indent="0" algn="ctr">
              <a:lnSpc>
                <a:spcPts val="3960"/>
              </a:lnSpc>
              <a:buNone/>
            </a:pPr>
            <a:r>
              <a:rPr lang="en-US" sz="3600" dirty="0">
                <a:solidFill>
                  <a:srgbClr val="E9E1FF"/>
                </a:solidFill>
                <a:latin typeface="Fredoka" pitchFamily="34" charset="0"/>
                <a:ea typeface="Fredoka" pitchFamily="34" charset="-122"/>
                <a:cs typeface="Fredoka" pitchFamily="34" charset="-120"/>
              </a:rPr>
              <a:t>🎒</a:t>
            </a:r>
            <a:endParaRPr lang="en-US" sz="3600" dirty="0"/>
          </a:p>
        </p:txBody>
      </p:sp>
      <p:sp>
        <p:nvSpPr>
          <p:cNvPr id="14" name="Text 11"/>
          <p:cNvSpPr/>
          <p:nvPr/>
        </p:nvSpPr>
        <p:spPr>
          <a:xfrm>
            <a:off x="3960813" y="3093641"/>
            <a:ext cx="1390650"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FF4E0"/>
                </a:solidFill>
                <a:latin typeface="Fredoka" pitchFamily="34" charset="0"/>
                <a:ea typeface="Fredoka" pitchFamily="34" charset="-122"/>
                <a:cs typeface="Fredoka" pitchFamily="34" charset="-120"/>
              </a:rPr>
              <a:t>Staging area</a:t>
            </a:r>
            <a:endParaRPr lang="en-US" sz="1600" dirty="0"/>
          </a:p>
        </p:txBody>
      </p:sp>
      <p:sp>
        <p:nvSpPr>
          <p:cNvPr id="15" name="Text 12"/>
          <p:cNvSpPr/>
          <p:nvPr/>
        </p:nvSpPr>
        <p:spPr>
          <a:xfrm>
            <a:off x="3819525" y="3413671"/>
            <a:ext cx="1673225"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AEDB"/>
                </a:solidFill>
                <a:latin typeface="Fredoka" pitchFamily="34" charset="0"/>
                <a:ea typeface="Fredoka" pitchFamily="34" charset="-122"/>
                <a:cs typeface="Fredoka" pitchFamily="34" charset="-120"/>
              </a:rPr>
              <a:t>Packing your backpack for the save</a:t>
            </a:r>
            <a:endParaRPr lang="en-US" sz="1200" dirty="0"/>
          </a:p>
        </p:txBody>
      </p:sp>
      <p:sp>
        <p:nvSpPr>
          <p:cNvPr id="16" name="Text 13"/>
          <p:cNvSpPr/>
          <p:nvPr/>
        </p:nvSpPr>
        <p:spPr>
          <a:xfrm>
            <a:off x="5638800" y="2918371"/>
            <a:ext cx="9652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FD23F"/>
                </a:solidFill>
                <a:latin typeface="JetBrains Mono" pitchFamily="49" charset="0"/>
                <a:ea typeface="JetBrains Mono" pitchFamily="49" charset="-122"/>
                <a:cs typeface="JetBrains Mono" pitchFamily="49" charset="-120"/>
              </a:rPr>
              <a:t>git commit</a:t>
            </a:r>
            <a:endParaRPr lang="en-US" sz="1200" dirty="0"/>
          </a:p>
        </p:txBody>
      </p:sp>
      <p:pic>
        <p:nvPicPr>
          <p:cNvPr id="17" name="Image 1" descr="arrow-right"/>
          <p:cNvPicPr>
            <a:picLocks noChangeAspect="1"/>
          </p:cNvPicPr>
          <p:nvPr/>
        </p:nvPicPr>
        <p:blipFill>
          <a:blip r:embed="rId3"/>
          <a:srcRect/>
          <a:stretch/>
        </p:blipFill>
        <p:spPr>
          <a:xfrm>
            <a:off x="5791200" y="3182491"/>
            <a:ext cx="609600" cy="254000"/>
          </a:xfrm>
          <a:prstGeom prst="rect">
            <a:avLst/>
          </a:prstGeom>
        </p:spPr>
      </p:pic>
      <p:sp>
        <p:nvSpPr>
          <p:cNvPr id="18" name="Shape 14"/>
          <p:cNvSpPr/>
          <p:nvPr/>
        </p:nvSpPr>
        <p:spPr>
          <a:xfrm>
            <a:off x="6584950" y="2324050"/>
            <a:ext cx="1901825" cy="1706761"/>
          </a:xfrm>
          <a:prstGeom prst="roundRect">
            <a:avLst>
              <a:gd name="adj" fmla="val 8185"/>
            </a:avLst>
          </a:prstGeom>
          <a:solidFill>
            <a:srgbClr val="2A1A52"/>
          </a:solidFill>
          <a:ln w="25400">
            <a:solidFill>
              <a:srgbClr val="B6FF3B"/>
            </a:solidFill>
            <a:prstDash val="solid"/>
          </a:ln>
        </p:spPr>
        <p:txBody>
          <a:bodyPr/>
          <a:lstStyle/>
          <a:p>
            <a:endParaRPr lang="en-US"/>
          </a:p>
        </p:txBody>
      </p:sp>
      <p:sp>
        <p:nvSpPr>
          <p:cNvPr id="19" name="Text 15"/>
          <p:cNvSpPr/>
          <p:nvPr/>
        </p:nvSpPr>
        <p:spPr>
          <a:xfrm>
            <a:off x="7261542" y="2514550"/>
            <a:ext cx="548640" cy="528290"/>
          </a:xfrm>
          <a:prstGeom prst="rect">
            <a:avLst/>
          </a:prstGeom>
          <a:noFill/>
          <a:ln/>
        </p:spPr>
        <p:txBody>
          <a:bodyPr wrap="square" lIns="0" tIns="0" rIns="0" bIns="0" rtlCol="0" anchor="t">
            <a:normAutofit/>
          </a:bodyPr>
          <a:lstStyle/>
          <a:p>
            <a:pPr marL="0" indent="0" algn="ctr">
              <a:lnSpc>
                <a:spcPts val="3960"/>
              </a:lnSpc>
              <a:buNone/>
            </a:pPr>
            <a:r>
              <a:rPr lang="en-US" sz="3600" dirty="0">
                <a:solidFill>
                  <a:srgbClr val="E9E1FF"/>
                </a:solidFill>
                <a:latin typeface="Fredoka" pitchFamily="34" charset="0"/>
                <a:ea typeface="Fredoka" pitchFamily="34" charset="-122"/>
                <a:cs typeface="Fredoka" pitchFamily="34" charset="-120"/>
              </a:rPr>
              <a:t>🏰</a:t>
            </a:r>
            <a:endParaRPr lang="en-US" sz="3600" dirty="0"/>
          </a:p>
        </p:txBody>
      </p:sp>
      <p:sp>
        <p:nvSpPr>
          <p:cNvPr id="20" name="Text 16"/>
          <p:cNvSpPr/>
          <p:nvPr/>
        </p:nvSpPr>
        <p:spPr>
          <a:xfrm>
            <a:off x="6954421" y="3093641"/>
            <a:ext cx="1162883"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FF4E0"/>
                </a:solidFill>
                <a:latin typeface="Fredoka" pitchFamily="34" charset="0"/>
                <a:ea typeface="Fredoka" pitchFamily="34" charset="-122"/>
                <a:cs typeface="Fredoka" pitchFamily="34" charset="-120"/>
              </a:rPr>
              <a:t>Local repo</a:t>
            </a:r>
            <a:endParaRPr lang="en-US" sz="1600" dirty="0"/>
          </a:p>
        </p:txBody>
      </p:sp>
      <p:sp>
        <p:nvSpPr>
          <p:cNvPr id="21" name="Text 17"/>
          <p:cNvSpPr/>
          <p:nvPr/>
        </p:nvSpPr>
        <p:spPr>
          <a:xfrm>
            <a:off x="6699250" y="3413671"/>
            <a:ext cx="1673225"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AEDB"/>
                </a:solidFill>
                <a:latin typeface="Fredoka" pitchFamily="34" charset="0"/>
                <a:ea typeface="Fredoka" pitchFamily="34" charset="-122"/>
                <a:cs typeface="Fredoka" pitchFamily="34" charset="-120"/>
              </a:rPr>
              <a:t>Saved forever on your laptop</a:t>
            </a:r>
            <a:endParaRPr lang="en-US" sz="1200" dirty="0"/>
          </a:p>
        </p:txBody>
      </p:sp>
      <p:sp>
        <p:nvSpPr>
          <p:cNvPr id="22" name="Text 18"/>
          <p:cNvSpPr/>
          <p:nvPr/>
        </p:nvSpPr>
        <p:spPr>
          <a:xfrm>
            <a:off x="8609955" y="2918371"/>
            <a:ext cx="78234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FD23F"/>
                </a:solidFill>
                <a:latin typeface="JetBrains Mono" pitchFamily="49" charset="0"/>
                <a:ea typeface="JetBrains Mono" pitchFamily="49" charset="-122"/>
                <a:cs typeface="JetBrains Mono" pitchFamily="49" charset="-120"/>
              </a:rPr>
              <a:t>git push</a:t>
            </a:r>
            <a:endParaRPr lang="en-US" sz="1200" dirty="0"/>
          </a:p>
        </p:txBody>
      </p:sp>
      <p:pic>
        <p:nvPicPr>
          <p:cNvPr id="23" name="Image 2" descr="arrow-right"/>
          <p:cNvPicPr>
            <a:picLocks noChangeAspect="1"/>
          </p:cNvPicPr>
          <p:nvPr/>
        </p:nvPicPr>
        <p:blipFill>
          <a:blip r:embed="rId3"/>
          <a:srcRect/>
          <a:stretch/>
        </p:blipFill>
        <p:spPr>
          <a:xfrm>
            <a:off x="8670925" y="3182491"/>
            <a:ext cx="609600" cy="254000"/>
          </a:xfrm>
          <a:prstGeom prst="rect">
            <a:avLst/>
          </a:prstGeom>
        </p:spPr>
      </p:pic>
      <p:sp>
        <p:nvSpPr>
          <p:cNvPr id="24" name="Shape 19"/>
          <p:cNvSpPr/>
          <p:nvPr/>
        </p:nvSpPr>
        <p:spPr>
          <a:xfrm>
            <a:off x="9464675" y="2324050"/>
            <a:ext cx="1901825" cy="1706761"/>
          </a:xfrm>
          <a:prstGeom prst="roundRect">
            <a:avLst>
              <a:gd name="adj" fmla="val 8185"/>
            </a:avLst>
          </a:prstGeom>
          <a:solidFill>
            <a:srgbClr val="2A1A52"/>
          </a:solidFill>
          <a:ln w="25400">
            <a:solidFill>
              <a:srgbClr val="FFD23F"/>
            </a:solidFill>
            <a:prstDash val="solid"/>
          </a:ln>
        </p:spPr>
        <p:txBody>
          <a:bodyPr/>
          <a:lstStyle/>
          <a:p>
            <a:endParaRPr lang="en-US"/>
          </a:p>
        </p:txBody>
      </p:sp>
      <p:sp>
        <p:nvSpPr>
          <p:cNvPr id="25" name="Text 20"/>
          <p:cNvSpPr/>
          <p:nvPr/>
        </p:nvSpPr>
        <p:spPr>
          <a:xfrm>
            <a:off x="10141268" y="2514550"/>
            <a:ext cx="548640" cy="528290"/>
          </a:xfrm>
          <a:prstGeom prst="rect">
            <a:avLst/>
          </a:prstGeom>
          <a:noFill/>
          <a:ln/>
        </p:spPr>
        <p:txBody>
          <a:bodyPr wrap="square" lIns="0" tIns="0" rIns="0" bIns="0" rtlCol="0" anchor="t">
            <a:normAutofit/>
          </a:bodyPr>
          <a:lstStyle/>
          <a:p>
            <a:pPr marL="0" indent="0" algn="ctr">
              <a:lnSpc>
                <a:spcPts val="3960"/>
              </a:lnSpc>
              <a:buNone/>
            </a:pPr>
            <a:r>
              <a:rPr lang="en-US" sz="3600" dirty="0">
                <a:solidFill>
                  <a:srgbClr val="E9E1FF"/>
                </a:solidFill>
                <a:latin typeface="Fredoka" pitchFamily="34" charset="0"/>
                <a:ea typeface="Fredoka" pitchFamily="34" charset="-122"/>
                <a:cs typeface="Fredoka" pitchFamily="34" charset="-120"/>
              </a:rPr>
              <a:t>☁️</a:t>
            </a:r>
            <a:endParaRPr lang="en-US" sz="3600" dirty="0"/>
          </a:p>
        </p:txBody>
      </p:sp>
      <p:sp>
        <p:nvSpPr>
          <p:cNvPr id="26" name="Text 21"/>
          <p:cNvSpPr/>
          <p:nvPr/>
        </p:nvSpPr>
        <p:spPr>
          <a:xfrm>
            <a:off x="9536614" y="3093641"/>
            <a:ext cx="1757898" cy="26923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FF4E0"/>
                </a:solidFill>
                <a:latin typeface="Fredoka" pitchFamily="34" charset="0"/>
                <a:ea typeface="Fredoka" pitchFamily="34" charset="-122"/>
                <a:cs typeface="Fredoka" pitchFamily="34" charset="-120"/>
              </a:rPr>
              <a:t>GitHub / GitLab</a:t>
            </a:r>
            <a:endParaRPr lang="en-US" sz="1600" dirty="0"/>
          </a:p>
        </p:txBody>
      </p:sp>
      <p:sp>
        <p:nvSpPr>
          <p:cNvPr id="27" name="Text 22"/>
          <p:cNvSpPr/>
          <p:nvPr/>
        </p:nvSpPr>
        <p:spPr>
          <a:xfrm>
            <a:off x="9578975" y="3413671"/>
            <a:ext cx="1673225"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AEDB"/>
                </a:solidFill>
                <a:latin typeface="Fredoka" pitchFamily="34" charset="0"/>
                <a:ea typeface="Fredoka" pitchFamily="34" charset="-122"/>
                <a:cs typeface="Fredoka" pitchFamily="34" charset="-120"/>
              </a:rPr>
              <a:t>Backed up online for the team</a:t>
            </a:r>
            <a:endParaRPr lang="en-US" sz="1200" dirty="0"/>
          </a:p>
        </p:txBody>
      </p:sp>
      <p:sp>
        <p:nvSpPr>
          <p:cNvPr id="28" name="Text 23"/>
          <p:cNvSpPr/>
          <p:nvPr/>
        </p:nvSpPr>
        <p:spPr>
          <a:xfrm>
            <a:off x="825500" y="4259411"/>
            <a:ext cx="10541000" cy="596900"/>
          </a:xfrm>
          <a:prstGeom prst="roundRect">
            <a:avLst>
              <a:gd name="adj" fmla="val 19149"/>
            </a:avLst>
          </a:prstGeom>
          <a:solidFill>
            <a:srgbClr val="FFD23F"/>
          </a:solidFill>
          <a:ln w="25400">
            <a:solidFill>
              <a:srgbClr val="FFF4E0"/>
            </a:solidFill>
            <a:prstDash val="solid"/>
          </a:ln>
        </p:spPr>
        <p:txBody>
          <a:bodyPr wrap="square" lIns="182423" tIns="131623" rIns="0" bIns="106223" rtlCol="0" anchor="t">
            <a:normAutofit/>
          </a:bodyPr>
          <a:lstStyle/>
          <a:p>
            <a:pPr marL="0" indent="0" algn="l">
              <a:lnSpc>
                <a:spcPts val="2100"/>
              </a:lnSpc>
              <a:buNone/>
            </a:pPr>
            <a:r>
              <a:rPr lang="en-US" sz="1500" dirty="0">
                <a:solidFill>
                  <a:srgbClr val="1B1035"/>
                </a:solidFill>
                <a:latin typeface="Fredoka" pitchFamily="34" charset="0"/>
                <a:ea typeface="Fredoka" pitchFamily="34" charset="-122"/>
                <a:cs typeface="Fredoka" pitchFamily="34" charset="-120"/>
              </a:rPr>
              <a:t>💡 </a:t>
            </a:r>
            <a:r>
              <a:rPr lang="en-US" sz="1500" b="1" dirty="0">
                <a:solidFill>
                  <a:srgbClr val="1B1035"/>
                </a:solidFill>
                <a:latin typeface="Fredoka" pitchFamily="34" charset="0"/>
                <a:ea typeface="Fredoka" pitchFamily="34" charset="-122"/>
                <a:cs typeface="Fredoka" pitchFamily="34" charset="-120"/>
              </a:rPr>
              <a:t>add</a:t>
            </a:r>
            <a:r>
              <a:rPr lang="en-US" sz="1500" dirty="0">
                <a:solidFill>
                  <a:srgbClr val="1B1035"/>
                </a:solidFill>
                <a:latin typeface="Fredoka" pitchFamily="34" charset="0"/>
                <a:ea typeface="Fredoka" pitchFamily="34" charset="-122"/>
                <a:cs typeface="Fredoka" pitchFamily="34" charset="-120"/>
              </a:rPr>
              <a:t> = pick what goes in the save · </a:t>
            </a:r>
            <a:r>
              <a:rPr lang="en-US" sz="1500" b="1" dirty="0">
                <a:solidFill>
                  <a:srgbClr val="1B1035"/>
                </a:solidFill>
                <a:latin typeface="Fredoka" pitchFamily="34" charset="0"/>
                <a:ea typeface="Fredoka" pitchFamily="34" charset="-122"/>
                <a:cs typeface="Fredoka" pitchFamily="34" charset="-120"/>
              </a:rPr>
              <a:t>commit</a:t>
            </a:r>
            <a:r>
              <a:rPr lang="en-US" sz="1500" dirty="0">
                <a:solidFill>
                  <a:srgbClr val="1B1035"/>
                </a:solidFill>
                <a:latin typeface="Fredoka" pitchFamily="34" charset="0"/>
                <a:ea typeface="Fredoka" pitchFamily="34" charset="-122"/>
                <a:cs typeface="Fredoka" pitchFamily="34" charset="-120"/>
              </a:rPr>
              <a:t> = press SAVE · </a:t>
            </a:r>
            <a:r>
              <a:rPr lang="en-US" sz="1500" b="1" dirty="0">
                <a:solidFill>
                  <a:srgbClr val="1B1035"/>
                </a:solidFill>
                <a:latin typeface="Fredoka" pitchFamily="34" charset="0"/>
                <a:ea typeface="Fredoka" pitchFamily="34" charset="-122"/>
                <a:cs typeface="Fredoka" pitchFamily="34" charset="-120"/>
              </a:rPr>
              <a:t>push</a:t>
            </a:r>
            <a:r>
              <a:rPr lang="en-US" sz="1500" dirty="0">
                <a:solidFill>
                  <a:srgbClr val="1B1035"/>
                </a:solidFill>
                <a:latin typeface="Fredoka" pitchFamily="34" charset="0"/>
                <a:ea typeface="Fredoka" pitchFamily="34" charset="-122"/>
                <a:cs typeface="Fredoka" pitchFamily="34" charset="-120"/>
              </a:rPr>
              <a:t> = upload to the cloud</a:t>
            </a:r>
            <a:endParaRPr lang="en-US" sz="1500" dirty="0"/>
          </a:p>
        </p:txBody>
      </p:sp>
      <p:sp>
        <p:nvSpPr>
          <p:cNvPr id="29" name="Text 24"/>
          <p:cNvSpPr/>
          <p:nvPr/>
        </p:nvSpPr>
        <p:spPr>
          <a:xfrm rot="300000">
            <a:off x="7950200" y="1092820"/>
            <a:ext cx="2959100" cy="450850"/>
          </a:xfrm>
          <a:prstGeom prst="roundRect">
            <a:avLst>
              <a:gd name="adj" fmla="val 50000"/>
            </a:avLst>
          </a:prstGeom>
          <a:solidFill>
            <a:srgbClr val="FF4FA3"/>
          </a:solidFill>
          <a:ln w="25400">
            <a:solidFill>
              <a:srgbClr val="1B1035"/>
            </a:solidFill>
            <a:prstDash val="solid"/>
          </a:ln>
          <a:effectLst>
            <a:outerShdw dist="53882" dir="2700000" algn="bl" rotWithShape="0">
              <a:srgbClr val="0E0A1F">
                <a:alpha val="100000"/>
              </a:srgbClr>
            </a:outerShdw>
          </a:effectLst>
        </p:spPr>
        <p:txBody>
          <a:bodyPr wrap="square" lIns="33480" tIns="35575" rIns="33480"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the ONE slide to remember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560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1 &gt; GITHUB</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08/30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What is GitHub? 🐙</a:t>
            </a:r>
            <a:endParaRPr lang="en-US" sz="4000" dirty="0"/>
          </a:p>
        </p:txBody>
      </p:sp>
      <p:sp>
        <p:nvSpPr>
          <p:cNvPr id="5" name="Text 3"/>
          <p:cNvSpPr/>
          <p:nvPr/>
        </p:nvSpPr>
        <p:spPr>
          <a:xfrm>
            <a:off x="812800" y="1788120"/>
            <a:ext cx="9156700" cy="751780"/>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1B1035"/>
                </a:solidFill>
                <a:latin typeface="Fredoka" pitchFamily="34" charset="0"/>
                <a:ea typeface="Fredoka" pitchFamily="34" charset="-122"/>
                <a:cs typeface="Fredoka" pitchFamily="34" charset="-120"/>
              </a:rPr>
              <a:t>Git is the </a:t>
            </a:r>
            <a:r>
              <a:rPr lang="en-US" sz="2200" b="1" dirty="0">
                <a:solidFill>
                  <a:srgbClr val="C2185B"/>
                </a:solidFill>
                <a:latin typeface="Fredoka" pitchFamily="34" charset="0"/>
                <a:ea typeface="Fredoka" pitchFamily="34" charset="-122"/>
                <a:cs typeface="Fredoka" pitchFamily="34" charset="-120"/>
              </a:rPr>
              <a:t>console</a:t>
            </a:r>
            <a:r>
              <a:rPr lang="en-US" sz="2200" b="1" dirty="0">
                <a:solidFill>
                  <a:srgbClr val="1B1035"/>
                </a:solidFill>
                <a:latin typeface="Fredoka" pitchFamily="34" charset="0"/>
                <a:ea typeface="Fredoka" pitchFamily="34" charset="-122"/>
                <a:cs typeface="Fredoka" pitchFamily="34" charset="-120"/>
              </a:rPr>
              <a:t>. GitHub is the </a:t>
            </a:r>
            <a:r>
              <a:rPr lang="en-US" sz="2200" b="1" dirty="0">
                <a:solidFill>
                  <a:srgbClr val="6A2FD6"/>
                </a:solidFill>
                <a:latin typeface="Fredoka" pitchFamily="34" charset="0"/>
                <a:ea typeface="Fredoka" pitchFamily="34" charset="-122"/>
                <a:cs typeface="Fredoka" pitchFamily="34" charset="-120"/>
              </a:rPr>
              <a:t>online multiplayer server</a:t>
            </a:r>
            <a:r>
              <a:rPr lang="en-US" sz="2200" b="1" dirty="0">
                <a:solidFill>
                  <a:srgbClr val="1B1035"/>
                </a:solidFill>
                <a:latin typeface="Fredoka" pitchFamily="34" charset="0"/>
                <a:ea typeface="Fredoka" pitchFamily="34" charset="-122"/>
                <a:cs typeface="Fredoka" pitchFamily="34" charset="-120"/>
              </a:rPr>
              <a:t> where your code lives.</a:t>
            </a:r>
            <a:endParaRPr lang="en-US" sz="2200" dirty="0"/>
          </a:p>
        </p:txBody>
      </p:sp>
      <p:sp>
        <p:nvSpPr>
          <p:cNvPr id="6" name="Shape 4"/>
          <p:cNvSpPr/>
          <p:nvPr/>
        </p:nvSpPr>
        <p:spPr>
          <a:xfrm>
            <a:off x="825500" y="2730401"/>
            <a:ext cx="3395117" cy="1150590"/>
          </a:xfrm>
          <a:prstGeom prst="roundRect">
            <a:avLst>
              <a:gd name="adj" fmla="val 12142"/>
            </a:avLst>
          </a:prstGeom>
          <a:solidFill>
            <a:srgbClr val="FFFDF8"/>
          </a:solidFill>
          <a:ln w="25400">
            <a:solidFill>
              <a:srgbClr val="1B1035"/>
            </a:solidFill>
            <a:prstDash val="solid"/>
          </a:ln>
          <a:effectLst>
            <a:outerShdw dist="71842" dir="2700000" algn="bl" rotWithShape="0">
              <a:srgbClr val="3BE8FF">
                <a:alpha val="100000"/>
              </a:srgbClr>
            </a:outerShdw>
          </a:effectLst>
        </p:spPr>
        <p:txBody>
          <a:bodyPr/>
          <a:lstStyle/>
          <a:p>
            <a:endParaRPr lang="en-US"/>
          </a:p>
        </p:txBody>
      </p:sp>
      <p:sp>
        <p:nvSpPr>
          <p:cNvPr id="7" name="Text 5"/>
          <p:cNvSpPr/>
          <p:nvPr/>
        </p:nvSpPr>
        <p:spPr>
          <a:xfrm>
            <a:off x="1016000" y="292090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035"/>
                </a:solidFill>
                <a:latin typeface="Fredoka" pitchFamily="34" charset="0"/>
                <a:ea typeface="Fredoka" pitchFamily="34" charset="-122"/>
                <a:cs typeface="Fredoka" pitchFamily="34" charset="-120"/>
              </a:rPr>
              <a:t>☁️ Repos</a:t>
            </a:r>
            <a:endParaRPr lang="en-US" sz="1600" dirty="0"/>
          </a:p>
        </p:txBody>
      </p:sp>
      <p:sp>
        <p:nvSpPr>
          <p:cNvPr id="8" name="Text 6"/>
          <p:cNvSpPr/>
          <p:nvPr/>
        </p:nvSpPr>
        <p:spPr>
          <a:xfrm>
            <a:off x="1016000" y="322823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Your project + every save, safe in the cloud</a:t>
            </a:r>
            <a:endParaRPr lang="en-US" sz="1300" dirty="0"/>
          </a:p>
        </p:txBody>
      </p:sp>
      <p:sp>
        <p:nvSpPr>
          <p:cNvPr id="9" name="Shape 7"/>
          <p:cNvSpPr/>
          <p:nvPr/>
        </p:nvSpPr>
        <p:spPr>
          <a:xfrm>
            <a:off x="4398417" y="2730401"/>
            <a:ext cx="3395117" cy="1150590"/>
          </a:xfrm>
          <a:prstGeom prst="roundRect">
            <a:avLst>
              <a:gd name="adj" fmla="val 12142"/>
            </a:avLst>
          </a:prstGeom>
          <a:solidFill>
            <a:srgbClr val="FFFDF8"/>
          </a:solidFill>
          <a:ln w="25400">
            <a:solidFill>
              <a:srgbClr val="1B1035"/>
            </a:solidFill>
            <a:prstDash val="solid"/>
          </a:ln>
          <a:effectLst>
            <a:outerShdw dist="71842" dir="2700000" algn="bl" rotWithShape="0">
              <a:srgbClr val="FF4FA3">
                <a:alpha val="100000"/>
              </a:srgbClr>
            </a:outerShdw>
          </a:effectLst>
        </p:spPr>
        <p:txBody>
          <a:bodyPr/>
          <a:lstStyle/>
          <a:p>
            <a:endParaRPr lang="en-US"/>
          </a:p>
        </p:txBody>
      </p:sp>
      <p:sp>
        <p:nvSpPr>
          <p:cNvPr id="10" name="Text 8"/>
          <p:cNvSpPr/>
          <p:nvPr/>
        </p:nvSpPr>
        <p:spPr>
          <a:xfrm>
            <a:off x="4588917" y="292090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035"/>
                </a:solidFill>
                <a:latin typeface="Fredoka" pitchFamily="34" charset="0"/>
                <a:ea typeface="Fredoka" pitchFamily="34" charset="-122"/>
                <a:cs typeface="Fredoka" pitchFamily="34" charset="-120"/>
              </a:rPr>
              <a:t>🤝 Pull Requests</a:t>
            </a:r>
            <a:endParaRPr lang="en-US" sz="1600" dirty="0"/>
          </a:p>
        </p:txBody>
      </p:sp>
      <p:sp>
        <p:nvSpPr>
          <p:cNvPr id="11" name="Text 9"/>
          <p:cNvSpPr/>
          <p:nvPr/>
        </p:nvSpPr>
        <p:spPr>
          <a:xfrm>
            <a:off x="4588917" y="322823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Teammates review code before it joins the game</a:t>
            </a:r>
            <a:endParaRPr lang="en-US" sz="1300" dirty="0"/>
          </a:p>
        </p:txBody>
      </p:sp>
      <p:sp>
        <p:nvSpPr>
          <p:cNvPr id="12" name="Shape 10"/>
          <p:cNvSpPr/>
          <p:nvPr/>
        </p:nvSpPr>
        <p:spPr>
          <a:xfrm>
            <a:off x="7971334" y="2730401"/>
            <a:ext cx="3395166" cy="1150590"/>
          </a:xfrm>
          <a:prstGeom prst="roundRect">
            <a:avLst>
              <a:gd name="adj" fmla="val 12142"/>
            </a:avLst>
          </a:prstGeom>
          <a:solidFill>
            <a:srgbClr val="FFFDF8"/>
          </a:solidFill>
          <a:ln w="25400">
            <a:solidFill>
              <a:srgbClr val="1B1035"/>
            </a:solidFill>
            <a:prstDash val="solid"/>
          </a:ln>
          <a:effectLst>
            <a:outerShdw dist="71842" dir="2700000" algn="bl" rotWithShape="0">
              <a:srgbClr val="B6FF3B">
                <a:alpha val="100000"/>
              </a:srgbClr>
            </a:outerShdw>
          </a:effectLst>
        </p:spPr>
        <p:txBody>
          <a:bodyPr/>
          <a:lstStyle/>
          <a:p>
            <a:endParaRPr lang="en-US"/>
          </a:p>
        </p:txBody>
      </p:sp>
      <p:sp>
        <p:nvSpPr>
          <p:cNvPr id="13" name="Text 11"/>
          <p:cNvSpPr/>
          <p:nvPr/>
        </p:nvSpPr>
        <p:spPr>
          <a:xfrm>
            <a:off x="8161834" y="2920901"/>
            <a:ext cx="310459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035"/>
                </a:solidFill>
                <a:latin typeface="Fredoka" pitchFamily="34" charset="0"/>
                <a:ea typeface="Fredoka" pitchFamily="34" charset="-122"/>
                <a:cs typeface="Fredoka" pitchFamily="34" charset="-120"/>
              </a:rPr>
              <a:t>🐛 Issues</a:t>
            </a:r>
            <a:endParaRPr lang="en-US" sz="1600" dirty="0"/>
          </a:p>
        </p:txBody>
      </p:sp>
      <p:sp>
        <p:nvSpPr>
          <p:cNvPr id="14" name="Text 12"/>
          <p:cNvSpPr/>
          <p:nvPr/>
        </p:nvSpPr>
        <p:spPr>
          <a:xfrm>
            <a:off x="8161834" y="3228231"/>
            <a:ext cx="3104591"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A shared to-do list for bugs &amp; features</a:t>
            </a:r>
            <a:endParaRPr lang="en-US" sz="1300" dirty="0"/>
          </a:p>
        </p:txBody>
      </p:sp>
      <p:sp>
        <p:nvSpPr>
          <p:cNvPr id="15" name="Shape 13"/>
          <p:cNvSpPr/>
          <p:nvPr/>
        </p:nvSpPr>
        <p:spPr>
          <a:xfrm>
            <a:off x="825500" y="4058791"/>
            <a:ext cx="3395117" cy="1150590"/>
          </a:xfrm>
          <a:prstGeom prst="roundRect">
            <a:avLst>
              <a:gd name="adj" fmla="val 12142"/>
            </a:avLst>
          </a:prstGeom>
          <a:solidFill>
            <a:srgbClr val="FFFDF8"/>
          </a:solidFill>
          <a:ln w="25400">
            <a:solidFill>
              <a:srgbClr val="1B1035"/>
            </a:solidFill>
            <a:prstDash val="solid"/>
          </a:ln>
          <a:effectLst>
            <a:outerShdw dist="71842" dir="2700000" algn="bl" rotWithShape="0">
              <a:srgbClr val="FFD23F">
                <a:alpha val="100000"/>
              </a:srgbClr>
            </a:outerShdw>
          </a:effectLst>
        </p:spPr>
        <p:txBody>
          <a:bodyPr/>
          <a:lstStyle/>
          <a:p>
            <a:endParaRPr lang="en-US"/>
          </a:p>
        </p:txBody>
      </p:sp>
      <p:sp>
        <p:nvSpPr>
          <p:cNvPr id="16" name="Text 14"/>
          <p:cNvSpPr/>
          <p:nvPr/>
        </p:nvSpPr>
        <p:spPr>
          <a:xfrm>
            <a:off x="1016000" y="424929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035"/>
                </a:solidFill>
                <a:latin typeface="Fredoka" pitchFamily="34" charset="0"/>
                <a:ea typeface="Fredoka" pitchFamily="34" charset="-122"/>
                <a:cs typeface="Fredoka" pitchFamily="34" charset="-120"/>
              </a:rPr>
              <a:t>🤖 Actions</a:t>
            </a:r>
            <a:endParaRPr lang="en-US" sz="1600" dirty="0"/>
          </a:p>
        </p:txBody>
      </p:sp>
      <p:sp>
        <p:nvSpPr>
          <p:cNvPr id="17" name="Text 15"/>
          <p:cNvSpPr/>
          <p:nvPr/>
        </p:nvSpPr>
        <p:spPr>
          <a:xfrm>
            <a:off x="1016000" y="455662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Robots that test &amp; build your game on every push</a:t>
            </a:r>
            <a:endParaRPr lang="en-US" sz="1300" dirty="0"/>
          </a:p>
        </p:txBody>
      </p:sp>
      <p:sp>
        <p:nvSpPr>
          <p:cNvPr id="18" name="Shape 16"/>
          <p:cNvSpPr/>
          <p:nvPr/>
        </p:nvSpPr>
        <p:spPr>
          <a:xfrm>
            <a:off x="4398417" y="4058791"/>
            <a:ext cx="3395117" cy="1150590"/>
          </a:xfrm>
          <a:prstGeom prst="roundRect">
            <a:avLst>
              <a:gd name="adj" fmla="val 12142"/>
            </a:avLst>
          </a:prstGeom>
          <a:solidFill>
            <a:srgbClr val="FFFDF8"/>
          </a:solidFill>
          <a:ln w="25400">
            <a:solidFill>
              <a:srgbClr val="1B1035"/>
            </a:solidFill>
            <a:prstDash val="solid"/>
          </a:ln>
          <a:effectLst>
            <a:outerShdw dist="71842" dir="2700000" algn="bl" rotWithShape="0">
              <a:srgbClr val="9B6BFF">
                <a:alpha val="100000"/>
              </a:srgbClr>
            </a:outerShdw>
          </a:effectLst>
        </p:spPr>
        <p:txBody>
          <a:bodyPr/>
          <a:lstStyle/>
          <a:p>
            <a:endParaRPr lang="en-US"/>
          </a:p>
        </p:txBody>
      </p:sp>
      <p:sp>
        <p:nvSpPr>
          <p:cNvPr id="19" name="Text 17"/>
          <p:cNvSpPr/>
          <p:nvPr/>
        </p:nvSpPr>
        <p:spPr>
          <a:xfrm>
            <a:off x="4588917" y="424929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035"/>
                </a:solidFill>
                <a:latin typeface="Fredoka" pitchFamily="34" charset="0"/>
                <a:ea typeface="Fredoka" pitchFamily="34" charset="-122"/>
                <a:cs typeface="Fredoka" pitchFamily="34" charset="-120"/>
              </a:rPr>
              <a:t>🌟 Portfolio</a:t>
            </a:r>
            <a:endParaRPr lang="en-US" sz="1600" dirty="0"/>
          </a:p>
        </p:txBody>
      </p:sp>
      <p:sp>
        <p:nvSpPr>
          <p:cNvPr id="20" name="Text 18"/>
          <p:cNvSpPr/>
          <p:nvPr/>
        </p:nvSpPr>
        <p:spPr>
          <a:xfrm>
            <a:off x="4588917" y="455662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Your profile shows recruiters what you’ve built</a:t>
            </a:r>
            <a:endParaRPr lang="en-US" sz="1300" dirty="0"/>
          </a:p>
        </p:txBody>
      </p:sp>
      <p:sp>
        <p:nvSpPr>
          <p:cNvPr id="21" name="Shape 19"/>
          <p:cNvSpPr/>
          <p:nvPr/>
        </p:nvSpPr>
        <p:spPr>
          <a:xfrm>
            <a:off x="7971334" y="4058791"/>
            <a:ext cx="3395166" cy="1150590"/>
          </a:xfrm>
          <a:prstGeom prst="roundRect">
            <a:avLst>
              <a:gd name="adj" fmla="val 12142"/>
            </a:avLst>
          </a:prstGeom>
          <a:solidFill>
            <a:srgbClr val="FFFDF8"/>
          </a:solidFill>
          <a:ln w="25400">
            <a:solidFill>
              <a:srgbClr val="1B1035"/>
            </a:solidFill>
            <a:prstDash val="solid"/>
          </a:ln>
          <a:effectLst>
            <a:outerShdw dist="71842" dir="2700000" algn="bl" rotWithShape="0">
              <a:srgbClr val="FF8A3D">
                <a:alpha val="100000"/>
              </a:srgbClr>
            </a:outerShdw>
          </a:effectLst>
        </p:spPr>
        <p:txBody>
          <a:bodyPr/>
          <a:lstStyle/>
          <a:p>
            <a:endParaRPr lang="en-US"/>
          </a:p>
        </p:txBody>
      </p:sp>
      <p:sp>
        <p:nvSpPr>
          <p:cNvPr id="22" name="Text 20"/>
          <p:cNvSpPr/>
          <p:nvPr/>
        </p:nvSpPr>
        <p:spPr>
          <a:xfrm>
            <a:off x="8161834" y="4249291"/>
            <a:ext cx="310459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035"/>
                </a:solidFill>
                <a:latin typeface="Fredoka" pitchFamily="34" charset="0"/>
                <a:ea typeface="Fredoka" pitchFamily="34" charset="-122"/>
                <a:cs typeface="Fredoka" pitchFamily="34" charset="-120"/>
              </a:rPr>
              <a:t>🎓 Student Pack</a:t>
            </a:r>
            <a:endParaRPr lang="en-US" sz="1600" dirty="0"/>
          </a:p>
        </p:txBody>
      </p:sp>
      <p:sp>
        <p:nvSpPr>
          <p:cNvPr id="23" name="Text 21"/>
          <p:cNvSpPr/>
          <p:nvPr/>
        </p:nvSpPr>
        <p:spPr>
          <a:xfrm>
            <a:off x="8161834" y="4556621"/>
            <a:ext cx="310459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Free pro tools when you verify as a student</a:t>
            </a:r>
            <a:endParaRPr lang="en-US" sz="1300" dirty="0"/>
          </a:p>
        </p:txBody>
      </p:sp>
      <p:sp>
        <p:nvSpPr>
          <p:cNvPr id="24" name="Text 22"/>
          <p:cNvSpPr/>
          <p:nvPr/>
        </p:nvSpPr>
        <p:spPr>
          <a:xfrm rot="21360000">
            <a:off x="8881310" y="1227968"/>
            <a:ext cx="3149600" cy="450850"/>
          </a:xfrm>
          <a:prstGeom prst="roundRect">
            <a:avLst>
              <a:gd name="adj" fmla="val 50000"/>
            </a:avLst>
          </a:prstGeom>
          <a:solidFill>
            <a:srgbClr val="FF4FA3"/>
          </a:solidFill>
          <a:ln w="25400">
            <a:solidFill>
              <a:srgbClr val="1B1035"/>
            </a:solidFill>
            <a:prstDash val="solid"/>
          </a:ln>
          <a:effectLst>
            <a:outerShdw dist="53882" dir="2700000" algn="bl" rotWithShape="0">
              <a:srgbClr val="1B1035">
                <a:alpha val="100000"/>
              </a:srgbClr>
            </a:outerShdw>
          </a:effectLst>
        </p:spPr>
        <p:txBody>
          <a:bodyPr wrap="square" lIns="30622" tIns="35575" rIns="3062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since 2008 · owned by Microsoft</a:t>
            </a:r>
            <a:endParaRPr lang="en-US" sz="1400" dirty="0"/>
          </a:p>
        </p:txBody>
      </p:sp>
      <p:sp>
        <p:nvSpPr>
          <p:cNvPr id="25" name="Text 23"/>
          <p:cNvSpPr/>
          <p:nvPr/>
        </p:nvSpPr>
        <p:spPr>
          <a:xfrm rot="21360000">
            <a:off x="8521700" y="5601320"/>
            <a:ext cx="2514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1B1035">
                <a:alpha val="100000"/>
              </a:srgbClr>
            </a:outerShdw>
          </a:effectLst>
        </p:spPr>
        <p:txBody>
          <a:bodyPr wrap="square" lIns="40147" tIns="35575" rIns="4014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recruiters lurk here 👀</a:t>
            </a:r>
            <a:endParaRPr lang="en-US" sz="1400" dirty="0"/>
          </a:p>
        </p:txBody>
      </p:sp>
      <p:pic>
        <p:nvPicPr>
          <p:cNvPr id="27" name="Picture 26">
            <a:extLst>
              <a:ext uri="{FF2B5EF4-FFF2-40B4-BE49-F238E27FC236}">
                <a16:creationId xmlns:a16="http://schemas.microsoft.com/office/drawing/2014/main" id="{B698FA43-B13F-56D7-1010-D628E051A1B6}"/>
              </a:ext>
            </a:extLst>
          </p:cNvPr>
          <p:cNvPicPr>
            <a:picLocks noChangeAspect="1"/>
          </p:cNvPicPr>
          <p:nvPr/>
        </p:nvPicPr>
        <p:blipFill>
          <a:blip r:embed="rId3"/>
          <a:stretch>
            <a:fillRect/>
          </a:stretch>
        </p:blipFill>
        <p:spPr>
          <a:xfrm>
            <a:off x="6609617" y="407353"/>
            <a:ext cx="1361717" cy="13617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560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8A3D"/>
                </a:solidFill>
                <a:latin typeface="Press Start 2P" pitchFamily="49" charset="0"/>
                <a:ea typeface="Press Start 2P" pitchFamily="49" charset="-122"/>
                <a:cs typeface="Press Start 2P" pitchFamily="49" charset="-120"/>
              </a:rPr>
              <a:t>LVL 1 &gt; GITLAB</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09/30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What is GitLab? </a:t>
            </a:r>
            <a:endParaRPr lang="en-US" sz="4000" dirty="0"/>
          </a:p>
        </p:txBody>
      </p:sp>
      <p:sp>
        <p:nvSpPr>
          <p:cNvPr id="5" name="Text 3"/>
          <p:cNvSpPr/>
          <p:nvPr/>
        </p:nvSpPr>
        <p:spPr>
          <a:xfrm>
            <a:off x="812800" y="1788120"/>
            <a:ext cx="9483725" cy="751780"/>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E9E1FF"/>
                </a:solidFill>
                <a:latin typeface="Fredoka" pitchFamily="34" charset="0"/>
                <a:ea typeface="Fredoka" pitchFamily="34" charset="-122"/>
                <a:cs typeface="Fredoka" pitchFamily="34" charset="-120"/>
              </a:rPr>
              <a:t>Same Git, different server. GitLab is an </a:t>
            </a:r>
            <a:r>
              <a:rPr lang="en-US" sz="2200" b="1" dirty="0">
                <a:solidFill>
                  <a:srgbClr val="FF8A3D"/>
                </a:solidFill>
                <a:latin typeface="Fredoka" pitchFamily="34" charset="0"/>
                <a:ea typeface="Fredoka" pitchFamily="34" charset="-122"/>
                <a:cs typeface="Fredoka" pitchFamily="34" charset="-120"/>
              </a:rPr>
              <a:t>all-in-one DevOps platform</a:t>
            </a:r>
            <a:r>
              <a:rPr lang="en-US" sz="2200" b="1" dirty="0">
                <a:solidFill>
                  <a:srgbClr val="E9E1FF"/>
                </a:solidFill>
                <a:latin typeface="Fredoka" pitchFamily="34" charset="0"/>
                <a:ea typeface="Fredoka" pitchFamily="34" charset="-122"/>
                <a:cs typeface="Fredoka" pitchFamily="34" charset="-120"/>
              </a:rPr>
              <a:t>: code, pipelines, planning.</a:t>
            </a:r>
            <a:endParaRPr lang="en-US" sz="2200" dirty="0"/>
          </a:p>
        </p:txBody>
      </p:sp>
      <p:sp>
        <p:nvSpPr>
          <p:cNvPr id="6" name="Shape 4"/>
          <p:cNvSpPr/>
          <p:nvPr/>
        </p:nvSpPr>
        <p:spPr>
          <a:xfrm>
            <a:off x="825500" y="2730401"/>
            <a:ext cx="3395117" cy="1150590"/>
          </a:xfrm>
          <a:prstGeom prst="roundRect">
            <a:avLst>
              <a:gd name="adj" fmla="val 12142"/>
            </a:avLst>
          </a:prstGeom>
          <a:solidFill>
            <a:srgbClr val="2A1A52"/>
          </a:solidFill>
          <a:ln w="25400">
            <a:solidFill>
              <a:srgbClr val="FF8A3D"/>
            </a:solidFill>
            <a:prstDash val="solid"/>
          </a:ln>
        </p:spPr>
        <p:txBody>
          <a:bodyPr/>
          <a:lstStyle/>
          <a:p>
            <a:endParaRPr lang="en-US"/>
          </a:p>
        </p:txBody>
      </p:sp>
      <p:sp>
        <p:nvSpPr>
          <p:cNvPr id="7" name="Text 5"/>
          <p:cNvSpPr/>
          <p:nvPr/>
        </p:nvSpPr>
        <p:spPr>
          <a:xfrm>
            <a:off x="1016000" y="292090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 Merge Requests</a:t>
            </a:r>
            <a:endParaRPr lang="en-US" sz="1600" dirty="0"/>
          </a:p>
        </p:txBody>
      </p:sp>
      <p:sp>
        <p:nvSpPr>
          <p:cNvPr id="8" name="Text 6"/>
          <p:cNvSpPr/>
          <p:nvPr/>
        </p:nvSpPr>
        <p:spPr>
          <a:xfrm>
            <a:off x="1016000" y="322823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GitLab’s name for Pull Requests. Same idea.</a:t>
            </a:r>
            <a:endParaRPr lang="en-US" sz="1300" dirty="0"/>
          </a:p>
        </p:txBody>
      </p:sp>
      <p:sp>
        <p:nvSpPr>
          <p:cNvPr id="9" name="Shape 7"/>
          <p:cNvSpPr/>
          <p:nvPr/>
        </p:nvSpPr>
        <p:spPr>
          <a:xfrm>
            <a:off x="4398417" y="2730401"/>
            <a:ext cx="3395117" cy="1150590"/>
          </a:xfrm>
          <a:prstGeom prst="roundRect">
            <a:avLst>
              <a:gd name="adj" fmla="val 12142"/>
            </a:avLst>
          </a:prstGeom>
          <a:solidFill>
            <a:srgbClr val="2A1A52"/>
          </a:solidFill>
          <a:ln w="25400">
            <a:solidFill>
              <a:srgbClr val="FF8A3D"/>
            </a:solidFill>
            <a:prstDash val="solid"/>
          </a:ln>
        </p:spPr>
        <p:txBody>
          <a:bodyPr/>
          <a:lstStyle/>
          <a:p>
            <a:endParaRPr lang="en-US"/>
          </a:p>
        </p:txBody>
      </p:sp>
      <p:sp>
        <p:nvSpPr>
          <p:cNvPr id="10" name="Text 8"/>
          <p:cNvSpPr/>
          <p:nvPr/>
        </p:nvSpPr>
        <p:spPr>
          <a:xfrm>
            <a:off x="4588917" y="292090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 CI/CD built in</a:t>
            </a:r>
            <a:endParaRPr lang="en-US" sz="1600" dirty="0"/>
          </a:p>
        </p:txBody>
      </p:sp>
      <p:sp>
        <p:nvSpPr>
          <p:cNvPr id="11" name="Text 9"/>
          <p:cNvSpPr/>
          <p:nvPr/>
        </p:nvSpPr>
        <p:spPr>
          <a:xfrm>
            <a:off x="4588917" y="322823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Add a .gitlab-ci.yml and it builds on every push</a:t>
            </a:r>
            <a:endParaRPr lang="en-US" sz="1300" dirty="0"/>
          </a:p>
        </p:txBody>
      </p:sp>
      <p:sp>
        <p:nvSpPr>
          <p:cNvPr id="12" name="Shape 10"/>
          <p:cNvSpPr/>
          <p:nvPr/>
        </p:nvSpPr>
        <p:spPr>
          <a:xfrm>
            <a:off x="7971334" y="2730401"/>
            <a:ext cx="3395166" cy="1150590"/>
          </a:xfrm>
          <a:prstGeom prst="roundRect">
            <a:avLst>
              <a:gd name="adj" fmla="val 12142"/>
            </a:avLst>
          </a:prstGeom>
          <a:solidFill>
            <a:srgbClr val="2A1A52"/>
          </a:solidFill>
          <a:ln w="25400">
            <a:solidFill>
              <a:srgbClr val="FF8A3D"/>
            </a:solidFill>
            <a:prstDash val="solid"/>
          </a:ln>
        </p:spPr>
        <p:txBody>
          <a:bodyPr/>
          <a:lstStyle/>
          <a:p>
            <a:endParaRPr lang="en-US"/>
          </a:p>
        </p:txBody>
      </p:sp>
      <p:sp>
        <p:nvSpPr>
          <p:cNvPr id="13" name="Text 11"/>
          <p:cNvSpPr/>
          <p:nvPr/>
        </p:nvSpPr>
        <p:spPr>
          <a:xfrm>
            <a:off x="8161834" y="2920901"/>
            <a:ext cx="310459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 Self-host it</a:t>
            </a:r>
            <a:endParaRPr lang="en-US" sz="1600" dirty="0"/>
          </a:p>
        </p:txBody>
      </p:sp>
      <p:sp>
        <p:nvSpPr>
          <p:cNvPr id="14" name="Text 12"/>
          <p:cNvSpPr/>
          <p:nvPr/>
        </p:nvSpPr>
        <p:spPr>
          <a:xfrm>
            <a:off x="8161834" y="3228231"/>
            <a:ext cx="310459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Run your own GitLab server with the free edition</a:t>
            </a:r>
            <a:endParaRPr lang="en-US" sz="1300" dirty="0"/>
          </a:p>
        </p:txBody>
      </p:sp>
      <p:sp>
        <p:nvSpPr>
          <p:cNvPr id="15" name="Shape 13"/>
          <p:cNvSpPr/>
          <p:nvPr/>
        </p:nvSpPr>
        <p:spPr>
          <a:xfrm>
            <a:off x="825500" y="4058791"/>
            <a:ext cx="3395117" cy="1150590"/>
          </a:xfrm>
          <a:prstGeom prst="roundRect">
            <a:avLst>
              <a:gd name="adj" fmla="val 12142"/>
            </a:avLst>
          </a:prstGeom>
          <a:solidFill>
            <a:srgbClr val="2A1A52"/>
          </a:solidFill>
          <a:ln w="25400">
            <a:solidFill>
              <a:srgbClr val="FF8A3D"/>
            </a:solidFill>
            <a:prstDash val="solid"/>
          </a:ln>
        </p:spPr>
        <p:txBody>
          <a:bodyPr/>
          <a:lstStyle/>
          <a:p>
            <a:endParaRPr lang="en-US"/>
          </a:p>
        </p:txBody>
      </p:sp>
      <p:sp>
        <p:nvSpPr>
          <p:cNvPr id="16" name="Text 14"/>
          <p:cNvSpPr/>
          <p:nvPr/>
        </p:nvSpPr>
        <p:spPr>
          <a:xfrm>
            <a:off x="1016000" y="424929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 Boards</a:t>
            </a:r>
            <a:endParaRPr lang="en-US" sz="1600" dirty="0"/>
          </a:p>
        </p:txBody>
      </p:sp>
      <p:sp>
        <p:nvSpPr>
          <p:cNvPr id="17" name="Text 15"/>
          <p:cNvSpPr/>
          <p:nvPr/>
        </p:nvSpPr>
        <p:spPr>
          <a:xfrm>
            <a:off x="1016000" y="4556621"/>
            <a:ext cx="310454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Plan sprints like a mini game studio</a:t>
            </a:r>
            <a:endParaRPr lang="en-US" sz="1300" dirty="0"/>
          </a:p>
        </p:txBody>
      </p:sp>
      <p:sp>
        <p:nvSpPr>
          <p:cNvPr id="18" name="Shape 16"/>
          <p:cNvSpPr/>
          <p:nvPr/>
        </p:nvSpPr>
        <p:spPr>
          <a:xfrm>
            <a:off x="4398417" y="4058791"/>
            <a:ext cx="3395117" cy="1150590"/>
          </a:xfrm>
          <a:prstGeom prst="roundRect">
            <a:avLst>
              <a:gd name="adj" fmla="val 12142"/>
            </a:avLst>
          </a:prstGeom>
          <a:solidFill>
            <a:srgbClr val="2A1A52"/>
          </a:solidFill>
          <a:ln w="25400">
            <a:solidFill>
              <a:srgbClr val="FF8A3D"/>
            </a:solidFill>
            <a:prstDash val="solid"/>
          </a:ln>
        </p:spPr>
        <p:txBody>
          <a:bodyPr/>
          <a:lstStyle/>
          <a:p>
            <a:endParaRPr lang="en-US"/>
          </a:p>
        </p:txBody>
      </p:sp>
      <p:sp>
        <p:nvSpPr>
          <p:cNvPr id="19" name="Text 17"/>
          <p:cNvSpPr/>
          <p:nvPr/>
        </p:nvSpPr>
        <p:spPr>
          <a:xfrm>
            <a:off x="4588917" y="424929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 Open core</a:t>
            </a:r>
            <a:endParaRPr lang="en-US" sz="1600" dirty="0"/>
          </a:p>
        </p:txBody>
      </p:sp>
      <p:sp>
        <p:nvSpPr>
          <p:cNvPr id="20" name="Text 18"/>
          <p:cNvSpPr/>
          <p:nvPr/>
        </p:nvSpPr>
        <p:spPr>
          <a:xfrm>
            <a:off x="4588917" y="4556621"/>
            <a:ext cx="310454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The Community Edition is open source</a:t>
            </a:r>
            <a:endParaRPr lang="en-US" sz="1300" dirty="0"/>
          </a:p>
        </p:txBody>
      </p:sp>
      <p:sp>
        <p:nvSpPr>
          <p:cNvPr id="21" name="Shape 19"/>
          <p:cNvSpPr/>
          <p:nvPr/>
        </p:nvSpPr>
        <p:spPr>
          <a:xfrm>
            <a:off x="7971334" y="4058791"/>
            <a:ext cx="3395166" cy="1150590"/>
          </a:xfrm>
          <a:prstGeom prst="roundRect">
            <a:avLst>
              <a:gd name="adj" fmla="val 12142"/>
            </a:avLst>
          </a:prstGeom>
          <a:solidFill>
            <a:srgbClr val="2A1A52"/>
          </a:solidFill>
          <a:ln w="25400">
            <a:solidFill>
              <a:srgbClr val="FF8A3D"/>
            </a:solidFill>
            <a:prstDash val="solid"/>
          </a:ln>
        </p:spPr>
        <p:txBody>
          <a:bodyPr/>
          <a:lstStyle/>
          <a:p>
            <a:endParaRPr lang="en-US"/>
          </a:p>
        </p:txBody>
      </p:sp>
      <p:sp>
        <p:nvSpPr>
          <p:cNvPr id="22" name="Text 20"/>
          <p:cNvSpPr/>
          <p:nvPr/>
        </p:nvSpPr>
        <p:spPr>
          <a:xfrm>
            <a:off x="8161834" y="4249291"/>
            <a:ext cx="310459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 Who uses it</a:t>
            </a:r>
            <a:endParaRPr lang="en-US" sz="1600" dirty="0"/>
          </a:p>
        </p:txBody>
      </p:sp>
      <p:sp>
        <p:nvSpPr>
          <p:cNvPr id="23" name="Text 21"/>
          <p:cNvSpPr/>
          <p:nvPr/>
        </p:nvSpPr>
        <p:spPr>
          <a:xfrm>
            <a:off x="8161834" y="4556621"/>
            <a:ext cx="310459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Companies &amp; schools that want full control</a:t>
            </a:r>
            <a:endParaRPr lang="en-US" sz="1300" dirty="0"/>
          </a:p>
        </p:txBody>
      </p:sp>
      <p:sp>
        <p:nvSpPr>
          <p:cNvPr id="24" name="Text 22"/>
          <p:cNvSpPr/>
          <p:nvPr/>
        </p:nvSpPr>
        <p:spPr>
          <a:xfrm rot="360000">
            <a:off x="8775700" y="1092820"/>
            <a:ext cx="2133600" cy="450850"/>
          </a:xfrm>
          <a:prstGeom prst="roundRect">
            <a:avLst>
              <a:gd name="adj" fmla="val 50000"/>
            </a:avLst>
          </a:prstGeom>
          <a:solidFill>
            <a:srgbClr val="FF8A3D"/>
          </a:solidFill>
          <a:ln w="25400">
            <a:solidFill>
              <a:srgbClr val="FFF4E0"/>
            </a:solidFill>
            <a:prstDash val="solid"/>
          </a:ln>
          <a:effectLst>
            <a:outerShdw dist="53882" dir="2700000" algn="bl" rotWithShape="0">
              <a:srgbClr val="FF4FA3">
                <a:alpha val="100000"/>
              </a:srgbClr>
            </a:outerShdw>
          </a:effectLst>
        </p:spPr>
        <p:txBody>
          <a:bodyPr wrap="square" lIns="45862" tIns="35575" rIns="4586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GitHub’s cousin 👯</a:t>
            </a:r>
            <a:endParaRPr lang="en-US" sz="1400" dirty="0"/>
          </a:p>
        </p:txBody>
      </p:sp>
      <p:sp>
        <p:nvSpPr>
          <p:cNvPr id="25" name="Text 23"/>
          <p:cNvSpPr/>
          <p:nvPr/>
        </p:nvSpPr>
        <p:spPr>
          <a:xfrm rot="300000">
            <a:off x="9156700" y="5601320"/>
            <a:ext cx="1752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FF4FA3">
                <a:alpha val="100000"/>
              </a:srgbClr>
            </a:outerShdw>
          </a:effectLst>
        </p:spPr>
        <p:txBody>
          <a:bodyPr wrap="square" lIns="48275" tIns="35575" rIns="48275"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tanuki gang</a:t>
            </a:r>
            <a:endParaRPr lang="en-US" sz="1400" dirty="0"/>
          </a:p>
        </p:txBody>
      </p:sp>
      <p:pic>
        <p:nvPicPr>
          <p:cNvPr id="29" name="Picture 28">
            <a:extLst>
              <a:ext uri="{FF2B5EF4-FFF2-40B4-BE49-F238E27FC236}">
                <a16:creationId xmlns:a16="http://schemas.microsoft.com/office/drawing/2014/main" id="{B16317BA-A490-4F7D-1E60-3E5D5BFC22F0}"/>
              </a:ext>
            </a:extLst>
          </p:cNvPr>
          <p:cNvPicPr>
            <a:picLocks noChangeAspect="1"/>
          </p:cNvPicPr>
          <p:nvPr/>
        </p:nvPicPr>
        <p:blipFill>
          <a:blip r:embed="rId3"/>
          <a:stretch>
            <a:fillRect/>
          </a:stretch>
        </p:blipFill>
        <p:spPr>
          <a:xfrm>
            <a:off x="6095975" y="252612"/>
            <a:ext cx="1624102" cy="16241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011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1 &gt; WHY</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10/30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Why even bother?</a:t>
            </a:r>
            <a:endParaRPr lang="en-US" sz="4000" dirty="0"/>
          </a:p>
        </p:txBody>
      </p:sp>
      <p:sp>
        <p:nvSpPr>
          <p:cNvPr id="5" name="Shape 3"/>
          <p:cNvSpPr/>
          <p:nvPr/>
        </p:nvSpPr>
        <p:spPr>
          <a:xfrm>
            <a:off x="825500" y="1800820"/>
            <a:ext cx="3395117" cy="1716980"/>
          </a:xfrm>
          <a:prstGeom prst="roundRect">
            <a:avLst>
              <a:gd name="adj" fmla="val 8136"/>
            </a:avLst>
          </a:prstGeom>
          <a:solidFill>
            <a:srgbClr val="FFFDF8"/>
          </a:solidFill>
          <a:ln w="25400">
            <a:solidFill>
              <a:srgbClr val="1B1035"/>
            </a:solidFill>
            <a:prstDash val="solid"/>
          </a:ln>
          <a:effectLst>
            <a:outerShdw dist="71842" dir="2700000" algn="bl" rotWithShape="0">
              <a:srgbClr val="FF4FA3">
                <a:alpha val="100000"/>
              </a:srgbClr>
            </a:outerShdw>
          </a:effectLst>
        </p:spPr>
        <p:txBody>
          <a:bodyPr/>
          <a:lstStyle/>
          <a:p>
            <a:endParaRPr lang="en-US"/>
          </a:p>
        </p:txBody>
      </p:sp>
      <p:sp>
        <p:nvSpPr>
          <p:cNvPr id="6" name="Text 4"/>
          <p:cNvSpPr/>
          <p:nvPr/>
        </p:nvSpPr>
        <p:spPr>
          <a:xfrm>
            <a:off x="1016000" y="1991320"/>
            <a:ext cx="3104540" cy="51306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1B1035"/>
                </a:solidFill>
                <a:latin typeface="Fredoka" pitchFamily="34" charset="0"/>
                <a:ea typeface="Fredoka" pitchFamily="34" charset="-122"/>
                <a:cs typeface="Fredoka" pitchFamily="34" charset="-120"/>
              </a:rPr>
              <a:t>💥</a:t>
            </a:r>
            <a:endParaRPr lang="en-US" sz="3200" dirty="0"/>
          </a:p>
        </p:txBody>
      </p:sp>
      <p:sp>
        <p:nvSpPr>
          <p:cNvPr id="7" name="Text 5"/>
          <p:cNvSpPr/>
          <p:nvPr/>
        </p:nvSpPr>
        <p:spPr>
          <a:xfrm>
            <a:off x="1016000" y="2542480"/>
            <a:ext cx="310454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035"/>
                </a:solidFill>
                <a:latin typeface="Fredoka" pitchFamily="34" charset="0"/>
                <a:ea typeface="Fredoka" pitchFamily="34" charset="-122"/>
                <a:cs typeface="Fredoka" pitchFamily="34" charset="-120"/>
              </a:rPr>
              <a:t>Laptop died?</a:t>
            </a:r>
            <a:endParaRPr lang="en-US" sz="1700" dirty="0"/>
          </a:p>
        </p:txBody>
      </p:sp>
      <p:sp>
        <p:nvSpPr>
          <p:cNvPr id="8" name="Text 6"/>
          <p:cNvSpPr/>
          <p:nvPr/>
        </p:nvSpPr>
        <p:spPr>
          <a:xfrm>
            <a:off x="1016000" y="286504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Your game is safe online. Clone it and keep going.</a:t>
            </a:r>
            <a:endParaRPr lang="en-US" sz="1300" dirty="0"/>
          </a:p>
        </p:txBody>
      </p:sp>
      <p:sp>
        <p:nvSpPr>
          <p:cNvPr id="9" name="Shape 7"/>
          <p:cNvSpPr/>
          <p:nvPr/>
        </p:nvSpPr>
        <p:spPr>
          <a:xfrm>
            <a:off x="4398417" y="1800820"/>
            <a:ext cx="3395117" cy="1716980"/>
          </a:xfrm>
          <a:prstGeom prst="roundRect">
            <a:avLst>
              <a:gd name="adj" fmla="val 8136"/>
            </a:avLst>
          </a:prstGeom>
          <a:solidFill>
            <a:srgbClr val="FFFDF8"/>
          </a:solidFill>
          <a:ln w="25400">
            <a:solidFill>
              <a:srgbClr val="1B1035"/>
            </a:solidFill>
            <a:prstDash val="solid"/>
          </a:ln>
          <a:effectLst>
            <a:outerShdw dist="71842" dir="2700000" algn="bl" rotWithShape="0">
              <a:srgbClr val="3BE8FF">
                <a:alpha val="100000"/>
              </a:srgbClr>
            </a:outerShdw>
          </a:effectLst>
        </p:spPr>
        <p:txBody>
          <a:bodyPr/>
          <a:lstStyle/>
          <a:p>
            <a:endParaRPr lang="en-US"/>
          </a:p>
        </p:txBody>
      </p:sp>
      <p:sp>
        <p:nvSpPr>
          <p:cNvPr id="10" name="Text 8"/>
          <p:cNvSpPr/>
          <p:nvPr/>
        </p:nvSpPr>
        <p:spPr>
          <a:xfrm>
            <a:off x="4588917" y="1991320"/>
            <a:ext cx="3104540" cy="51306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1B1035"/>
                </a:solidFill>
                <a:latin typeface="Fredoka" pitchFamily="34" charset="0"/>
                <a:ea typeface="Fredoka" pitchFamily="34" charset="-122"/>
                <a:cs typeface="Fredoka" pitchFamily="34" charset="-120"/>
              </a:rPr>
              <a:t>⏪</a:t>
            </a:r>
            <a:endParaRPr lang="en-US" sz="3200" dirty="0"/>
          </a:p>
        </p:txBody>
      </p:sp>
      <p:sp>
        <p:nvSpPr>
          <p:cNvPr id="11" name="Text 9"/>
          <p:cNvSpPr/>
          <p:nvPr/>
        </p:nvSpPr>
        <p:spPr>
          <a:xfrm>
            <a:off x="4588917" y="2542480"/>
            <a:ext cx="310454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035"/>
                </a:solidFill>
                <a:latin typeface="Fredoka" pitchFamily="34" charset="0"/>
                <a:ea typeface="Fredoka" pitchFamily="34" charset="-122"/>
                <a:cs typeface="Fredoka" pitchFamily="34" charset="-120"/>
              </a:rPr>
              <a:t>Infinite undo</a:t>
            </a:r>
            <a:endParaRPr lang="en-US" sz="1700" dirty="0"/>
          </a:p>
        </p:txBody>
      </p:sp>
      <p:sp>
        <p:nvSpPr>
          <p:cNvPr id="12" name="Text 10"/>
          <p:cNvSpPr/>
          <p:nvPr/>
        </p:nvSpPr>
        <p:spPr>
          <a:xfrm>
            <a:off x="4588917" y="286504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Jump back to any save, any time. Ctrl+Z on steroids.</a:t>
            </a:r>
            <a:endParaRPr lang="en-US" sz="1300" dirty="0"/>
          </a:p>
        </p:txBody>
      </p:sp>
      <p:sp>
        <p:nvSpPr>
          <p:cNvPr id="13" name="Shape 11"/>
          <p:cNvSpPr/>
          <p:nvPr/>
        </p:nvSpPr>
        <p:spPr>
          <a:xfrm>
            <a:off x="7971334" y="1800820"/>
            <a:ext cx="3395166" cy="1716980"/>
          </a:xfrm>
          <a:prstGeom prst="roundRect">
            <a:avLst>
              <a:gd name="adj" fmla="val 8136"/>
            </a:avLst>
          </a:prstGeom>
          <a:solidFill>
            <a:srgbClr val="FFFDF8"/>
          </a:solidFill>
          <a:ln w="25400">
            <a:solidFill>
              <a:srgbClr val="1B1035"/>
            </a:solidFill>
            <a:prstDash val="solid"/>
          </a:ln>
          <a:effectLst>
            <a:outerShdw dist="71842" dir="2700000" algn="bl" rotWithShape="0">
              <a:srgbClr val="B6FF3B">
                <a:alpha val="100000"/>
              </a:srgbClr>
            </a:outerShdw>
          </a:effectLst>
        </p:spPr>
        <p:txBody>
          <a:bodyPr/>
          <a:lstStyle/>
          <a:p>
            <a:endParaRPr lang="en-US"/>
          </a:p>
        </p:txBody>
      </p:sp>
      <p:sp>
        <p:nvSpPr>
          <p:cNvPr id="14" name="Text 12"/>
          <p:cNvSpPr/>
          <p:nvPr/>
        </p:nvSpPr>
        <p:spPr>
          <a:xfrm>
            <a:off x="8161834" y="1991320"/>
            <a:ext cx="3104591" cy="51306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1B1035"/>
                </a:solidFill>
                <a:latin typeface="Fredoka" pitchFamily="34" charset="0"/>
                <a:ea typeface="Fredoka" pitchFamily="34" charset="-122"/>
                <a:cs typeface="Fredoka" pitchFamily="34" charset="-120"/>
              </a:rPr>
              <a:t>👯</a:t>
            </a:r>
            <a:endParaRPr lang="en-US" sz="3200" dirty="0"/>
          </a:p>
        </p:txBody>
      </p:sp>
      <p:sp>
        <p:nvSpPr>
          <p:cNvPr id="15" name="Text 13"/>
          <p:cNvSpPr/>
          <p:nvPr/>
        </p:nvSpPr>
        <p:spPr>
          <a:xfrm>
            <a:off x="8161834" y="2542480"/>
            <a:ext cx="310459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035"/>
                </a:solidFill>
                <a:latin typeface="Fredoka" pitchFamily="34" charset="0"/>
                <a:ea typeface="Fredoka" pitchFamily="34" charset="-122"/>
                <a:cs typeface="Fredoka" pitchFamily="34" charset="-120"/>
              </a:rPr>
              <a:t>Real teamwork</a:t>
            </a:r>
            <a:endParaRPr lang="en-US" sz="1700" dirty="0"/>
          </a:p>
        </p:txBody>
      </p:sp>
      <p:sp>
        <p:nvSpPr>
          <p:cNvPr id="16" name="Text 14"/>
          <p:cNvSpPr/>
          <p:nvPr/>
        </p:nvSpPr>
        <p:spPr>
          <a:xfrm>
            <a:off x="8161834" y="2865041"/>
            <a:ext cx="310459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4 people, 1 project, zero zip files sent on Discord.</a:t>
            </a:r>
            <a:endParaRPr lang="en-US" sz="1300" dirty="0"/>
          </a:p>
        </p:txBody>
      </p:sp>
      <p:sp>
        <p:nvSpPr>
          <p:cNvPr id="17" name="Shape 15"/>
          <p:cNvSpPr/>
          <p:nvPr/>
        </p:nvSpPr>
        <p:spPr>
          <a:xfrm>
            <a:off x="825500" y="3695601"/>
            <a:ext cx="3395117" cy="1716980"/>
          </a:xfrm>
          <a:prstGeom prst="roundRect">
            <a:avLst>
              <a:gd name="adj" fmla="val 8136"/>
            </a:avLst>
          </a:prstGeom>
          <a:solidFill>
            <a:srgbClr val="FFFDF8"/>
          </a:solidFill>
          <a:ln w="25400">
            <a:solidFill>
              <a:srgbClr val="1B1035"/>
            </a:solidFill>
            <a:prstDash val="solid"/>
          </a:ln>
          <a:effectLst>
            <a:outerShdw dist="71842" dir="2700000" algn="bl" rotWithShape="0">
              <a:srgbClr val="FFD23F">
                <a:alpha val="100000"/>
              </a:srgbClr>
            </a:outerShdw>
          </a:effectLst>
        </p:spPr>
        <p:txBody>
          <a:bodyPr/>
          <a:lstStyle/>
          <a:p>
            <a:endParaRPr lang="en-US"/>
          </a:p>
        </p:txBody>
      </p:sp>
      <p:sp>
        <p:nvSpPr>
          <p:cNvPr id="18" name="Text 16"/>
          <p:cNvSpPr/>
          <p:nvPr/>
        </p:nvSpPr>
        <p:spPr>
          <a:xfrm>
            <a:off x="1016000" y="3886101"/>
            <a:ext cx="3104540" cy="51306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1B1035"/>
                </a:solidFill>
                <a:latin typeface="Fredoka" pitchFamily="34" charset="0"/>
                <a:ea typeface="Fredoka" pitchFamily="34" charset="-122"/>
                <a:cs typeface="Fredoka" pitchFamily="34" charset="-120"/>
              </a:rPr>
              <a:t>🔍</a:t>
            </a:r>
            <a:endParaRPr lang="en-US" sz="3200" dirty="0"/>
          </a:p>
        </p:txBody>
      </p:sp>
      <p:sp>
        <p:nvSpPr>
          <p:cNvPr id="19" name="Text 17"/>
          <p:cNvSpPr/>
          <p:nvPr/>
        </p:nvSpPr>
        <p:spPr>
          <a:xfrm>
            <a:off x="1016000" y="4437261"/>
            <a:ext cx="310454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035"/>
                </a:solidFill>
                <a:latin typeface="Fredoka" pitchFamily="34" charset="0"/>
                <a:ea typeface="Fredoka" pitchFamily="34" charset="-122"/>
                <a:cs typeface="Fredoka" pitchFamily="34" charset="-120"/>
              </a:rPr>
              <a:t>Who broke it?</a:t>
            </a:r>
            <a:endParaRPr lang="en-US" sz="1700" dirty="0"/>
          </a:p>
        </p:txBody>
      </p:sp>
      <p:sp>
        <p:nvSpPr>
          <p:cNvPr id="20" name="Text 18"/>
          <p:cNvSpPr/>
          <p:nvPr/>
        </p:nvSpPr>
        <p:spPr>
          <a:xfrm>
            <a:off x="1016000" y="475982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See exactly who changed what line. (git blame 👀)</a:t>
            </a:r>
            <a:endParaRPr lang="en-US" sz="1300" dirty="0"/>
          </a:p>
        </p:txBody>
      </p:sp>
      <p:sp>
        <p:nvSpPr>
          <p:cNvPr id="21" name="Shape 19"/>
          <p:cNvSpPr/>
          <p:nvPr/>
        </p:nvSpPr>
        <p:spPr>
          <a:xfrm>
            <a:off x="4398417" y="3695601"/>
            <a:ext cx="3395117" cy="1716980"/>
          </a:xfrm>
          <a:prstGeom prst="roundRect">
            <a:avLst>
              <a:gd name="adj" fmla="val 8136"/>
            </a:avLst>
          </a:prstGeom>
          <a:solidFill>
            <a:srgbClr val="FFFDF8"/>
          </a:solidFill>
          <a:ln w="25400">
            <a:solidFill>
              <a:srgbClr val="1B1035"/>
            </a:solidFill>
            <a:prstDash val="solid"/>
          </a:ln>
          <a:effectLst>
            <a:outerShdw dist="71842" dir="2700000" algn="bl" rotWithShape="0">
              <a:srgbClr val="9B6BFF">
                <a:alpha val="100000"/>
              </a:srgbClr>
            </a:outerShdw>
          </a:effectLst>
        </p:spPr>
        <p:txBody>
          <a:bodyPr/>
          <a:lstStyle/>
          <a:p>
            <a:endParaRPr lang="en-US"/>
          </a:p>
        </p:txBody>
      </p:sp>
      <p:sp>
        <p:nvSpPr>
          <p:cNvPr id="22" name="Text 20"/>
          <p:cNvSpPr/>
          <p:nvPr/>
        </p:nvSpPr>
        <p:spPr>
          <a:xfrm>
            <a:off x="4588917" y="3886101"/>
            <a:ext cx="3104540" cy="51306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1B1035"/>
                </a:solidFill>
                <a:latin typeface="Fredoka" pitchFamily="34" charset="0"/>
                <a:ea typeface="Fredoka" pitchFamily="34" charset="-122"/>
                <a:cs typeface="Fredoka" pitchFamily="34" charset="-120"/>
              </a:rPr>
              <a:t>🧪</a:t>
            </a:r>
            <a:endParaRPr lang="en-US" sz="3200" dirty="0"/>
          </a:p>
        </p:txBody>
      </p:sp>
      <p:sp>
        <p:nvSpPr>
          <p:cNvPr id="23" name="Text 21"/>
          <p:cNvSpPr/>
          <p:nvPr/>
        </p:nvSpPr>
        <p:spPr>
          <a:xfrm>
            <a:off x="4588917" y="4437261"/>
            <a:ext cx="310454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035"/>
                </a:solidFill>
                <a:latin typeface="Fredoka" pitchFamily="34" charset="0"/>
                <a:ea typeface="Fredoka" pitchFamily="34" charset="-122"/>
                <a:cs typeface="Fredoka" pitchFamily="34" charset="-120"/>
              </a:rPr>
              <a:t>Try wild ideas</a:t>
            </a:r>
            <a:endParaRPr lang="en-US" sz="1700" dirty="0"/>
          </a:p>
        </p:txBody>
      </p:sp>
      <p:sp>
        <p:nvSpPr>
          <p:cNvPr id="24" name="Text 22"/>
          <p:cNvSpPr/>
          <p:nvPr/>
        </p:nvSpPr>
        <p:spPr>
          <a:xfrm>
            <a:off x="4588917" y="475982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Experiment on a branch. Hated it? Delete it.</a:t>
            </a:r>
            <a:endParaRPr lang="en-US" sz="1300" dirty="0"/>
          </a:p>
        </p:txBody>
      </p:sp>
      <p:sp>
        <p:nvSpPr>
          <p:cNvPr id="25" name="Shape 23"/>
          <p:cNvSpPr/>
          <p:nvPr/>
        </p:nvSpPr>
        <p:spPr>
          <a:xfrm>
            <a:off x="7971334" y="3695601"/>
            <a:ext cx="3395166" cy="1716980"/>
          </a:xfrm>
          <a:prstGeom prst="roundRect">
            <a:avLst>
              <a:gd name="adj" fmla="val 8136"/>
            </a:avLst>
          </a:prstGeom>
          <a:solidFill>
            <a:srgbClr val="FFFDF8"/>
          </a:solidFill>
          <a:ln w="25400">
            <a:solidFill>
              <a:srgbClr val="1B1035"/>
            </a:solidFill>
            <a:prstDash val="solid"/>
          </a:ln>
          <a:effectLst>
            <a:outerShdw dist="71842" dir="2700000" algn="bl" rotWithShape="0">
              <a:srgbClr val="FF8A3D">
                <a:alpha val="100000"/>
              </a:srgbClr>
            </a:outerShdw>
          </a:effectLst>
        </p:spPr>
        <p:txBody>
          <a:bodyPr/>
          <a:lstStyle/>
          <a:p>
            <a:endParaRPr lang="en-US"/>
          </a:p>
        </p:txBody>
      </p:sp>
      <p:sp>
        <p:nvSpPr>
          <p:cNvPr id="26" name="Text 24"/>
          <p:cNvSpPr/>
          <p:nvPr/>
        </p:nvSpPr>
        <p:spPr>
          <a:xfrm>
            <a:off x="8161834" y="3886101"/>
            <a:ext cx="3104591" cy="513060"/>
          </a:xfrm>
          <a:prstGeom prst="rect">
            <a:avLst/>
          </a:prstGeom>
          <a:noFill/>
          <a:ln/>
        </p:spPr>
        <p:txBody>
          <a:bodyPr wrap="square" lIns="0" tIns="0" rIns="0" bIns="0" rtlCol="0" anchor="t">
            <a:normAutofit/>
          </a:bodyPr>
          <a:lstStyle/>
          <a:p>
            <a:pPr marL="0" indent="0" algn="l">
              <a:lnSpc>
                <a:spcPts val="3840"/>
              </a:lnSpc>
              <a:buNone/>
            </a:pPr>
            <a:r>
              <a:rPr lang="en-US" sz="3200" dirty="0">
                <a:solidFill>
                  <a:srgbClr val="1B1035"/>
                </a:solidFill>
                <a:latin typeface="Fredoka" pitchFamily="34" charset="0"/>
                <a:ea typeface="Fredoka" pitchFamily="34" charset="-122"/>
                <a:cs typeface="Fredoka" pitchFamily="34" charset="-120"/>
              </a:rPr>
              <a:t>💼</a:t>
            </a:r>
            <a:endParaRPr lang="en-US" sz="3200" dirty="0"/>
          </a:p>
        </p:txBody>
      </p:sp>
      <p:sp>
        <p:nvSpPr>
          <p:cNvPr id="27" name="Text 25"/>
          <p:cNvSpPr/>
          <p:nvPr/>
        </p:nvSpPr>
        <p:spPr>
          <a:xfrm>
            <a:off x="8161834" y="4437261"/>
            <a:ext cx="310459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1035"/>
                </a:solidFill>
                <a:latin typeface="Fredoka" pitchFamily="34" charset="0"/>
                <a:ea typeface="Fredoka" pitchFamily="34" charset="-122"/>
                <a:cs typeface="Fredoka" pitchFamily="34" charset="-120"/>
              </a:rPr>
              <a:t>Get hired</a:t>
            </a:r>
            <a:endParaRPr lang="en-US" sz="1700" dirty="0"/>
          </a:p>
        </p:txBody>
      </p:sp>
      <p:sp>
        <p:nvSpPr>
          <p:cNvPr id="28" name="Text 26"/>
          <p:cNvSpPr/>
          <p:nvPr/>
        </p:nvSpPr>
        <p:spPr>
          <a:xfrm>
            <a:off x="8161834" y="4759821"/>
            <a:ext cx="310459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Studios use Git daily. It shows up on tons of job posts.</a:t>
            </a:r>
            <a:endParaRPr lang="en-US" sz="1300" dirty="0"/>
          </a:p>
        </p:txBody>
      </p:sp>
      <p:sp>
        <p:nvSpPr>
          <p:cNvPr id="29" name="Text 27"/>
          <p:cNvSpPr/>
          <p:nvPr/>
        </p:nvSpPr>
        <p:spPr>
          <a:xfrm rot="480000">
            <a:off x="9410700" y="1060450"/>
            <a:ext cx="1371600" cy="469900"/>
          </a:xfrm>
          <a:prstGeom prst="roundRect">
            <a:avLst>
              <a:gd name="adj" fmla="val 50000"/>
            </a:avLst>
          </a:prstGeom>
          <a:solidFill>
            <a:srgbClr val="B6FF3B"/>
          </a:solidFill>
          <a:ln w="25400">
            <a:solidFill>
              <a:srgbClr val="1B1035"/>
            </a:solidFill>
            <a:prstDash val="solid"/>
          </a:ln>
          <a:effectLst>
            <a:outerShdw dist="53882" dir="2700000" algn="bl" rotWithShape="0">
              <a:srgbClr val="1B1035">
                <a:alpha val="100000"/>
              </a:srgbClr>
            </a:outerShdw>
          </a:effectLst>
        </p:spPr>
        <p:txBody>
          <a:bodyPr wrap="square" lIns="45485" tIns="32785" rIns="45485" bIns="7385" rtlCol="0" anchor="t">
            <a:normAutofit/>
          </a:bodyPr>
          <a:lstStyle/>
          <a:p>
            <a:pPr marL="0" indent="0" algn="ctr">
              <a:lnSpc>
                <a:spcPts val="2100"/>
              </a:lnSpc>
              <a:buNone/>
            </a:pPr>
            <a:r>
              <a:rPr lang="en-US" sz="1500" b="1" dirty="0">
                <a:solidFill>
                  <a:srgbClr val="1B1035"/>
                </a:solidFill>
                <a:latin typeface="Fredoka" pitchFamily="34" charset="0"/>
                <a:ea typeface="Fredoka" pitchFamily="34" charset="-122"/>
                <a:cs typeface="Fredoka" pitchFamily="34" charset="-120"/>
              </a:rPr>
              <a:t>fr fr 💯</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011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1 &gt; WHY</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11/30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Life without Git 😱</a:t>
            </a:r>
            <a:endParaRPr lang="en-US" sz="4000" dirty="0"/>
          </a:p>
        </p:txBody>
      </p:sp>
      <p:sp>
        <p:nvSpPr>
          <p:cNvPr id="5" name="Text 3"/>
          <p:cNvSpPr/>
          <p:nvPr/>
        </p:nvSpPr>
        <p:spPr>
          <a:xfrm>
            <a:off x="812800" y="178812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WITHOUT GIT</a:t>
            </a:r>
            <a:endParaRPr lang="en-US" sz="1200" dirty="0"/>
          </a:p>
        </p:txBody>
      </p:sp>
      <p:sp>
        <p:nvSpPr>
          <p:cNvPr id="6" name="Shape 4"/>
          <p:cNvSpPr/>
          <p:nvPr/>
        </p:nvSpPr>
        <p:spPr>
          <a:xfrm>
            <a:off x="825500" y="2141141"/>
            <a:ext cx="5054600" cy="2227511"/>
          </a:xfrm>
          <a:prstGeom prst="roundRect">
            <a:avLst>
              <a:gd name="adj" fmla="val 5131"/>
            </a:avLst>
          </a:prstGeom>
          <a:solidFill>
            <a:srgbClr val="F3EEFF"/>
          </a:solidFill>
          <a:ln w="25400">
            <a:solidFill>
              <a:srgbClr val="FF4FA3"/>
            </a:solidFill>
            <a:prstDash val="solid"/>
          </a:ln>
          <a:effectLst>
            <a:outerShdw dist="89803" dir="2700000" algn="bl" rotWithShape="0">
              <a:srgbClr val="FF4FA3">
                <a:alpha val="100000"/>
              </a:srgbClr>
            </a:outerShdw>
          </a:effectLst>
        </p:spPr>
        <p:txBody>
          <a:bodyPr/>
          <a:lstStyle/>
          <a:p>
            <a:endParaRPr lang="en-US"/>
          </a:p>
        </p:txBody>
      </p:sp>
      <p:sp>
        <p:nvSpPr>
          <p:cNvPr id="7" name="Text 5"/>
          <p:cNvSpPr/>
          <p:nvPr/>
        </p:nvSpPr>
        <p:spPr>
          <a:xfrm>
            <a:off x="1016000" y="233164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B1035"/>
                </a:solidFill>
                <a:latin typeface="JetBrains Mono" pitchFamily="49" charset="0"/>
                <a:ea typeface="JetBrains Mono" pitchFamily="49" charset="-122"/>
                <a:cs typeface="JetBrains Mono" pitchFamily="49" charset="-120"/>
              </a:rPr>
              <a:t>📦 MyGame_final.zip</a:t>
            </a:r>
            <a:endParaRPr lang="en-US" sz="1300" dirty="0"/>
          </a:p>
        </p:txBody>
      </p:sp>
      <p:sp>
        <p:nvSpPr>
          <p:cNvPr id="8" name="Text 6"/>
          <p:cNvSpPr/>
          <p:nvPr/>
        </p:nvSpPr>
        <p:spPr>
          <a:xfrm>
            <a:off x="1016000" y="260087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B1035"/>
                </a:solidFill>
                <a:latin typeface="JetBrains Mono" pitchFamily="49" charset="0"/>
                <a:ea typeface="JetBrains Mono" pitchFamily="49" charset="-122"/>
                <a:cs typeface="JetBrains Mono" pitchFamily="49" charset="-120"/>
              </a:rPr>
              <a:t>📦 MyGame_final_v2.zip</a:t>
            </a:r>
            <a:endParaRPr lang="en-US" sz="1300" dirty="0"/>
          </a:p>
        </p:txBody>
      </p:sp>
      <p:sp>
        <p:nvSpPr>
          <p:cNvPr id="9" name="Text 7"/>
          <p:cNvSpPr/>
          <p:nvPr/>
        </p:nvSpPr>
        <p:spPr>
          <a:xfrm>
            <a:off x="1016000" y="287010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B1035"/>
                </a:solidFill>
                <a:latin typeface="JetBrains Mono" pitchFamily="49" charset="0"/>
                <a:ea typeface="JetBrains Mono" pitchFamily="49" charset="-122"/>
                <a:cs typeface="JetBrains Mono" pitchFamily="49" charset="-120"/>
              </a:rPr>
              <a:t>📦 MyGame_FINAL_final.zip</a:t>
            </a:r>
            <a:endParaRPr lang="en-US" sz="1300" dirty="0"/>
          </a:p>
        </p:txBody>
      </p:sp>
      <p:sp>
        <p:nvSpPr>
          <p:cNvPr id="10" name="Text 8"/>
          <p:cNvSpPr/>
          <p:nvPr/>
        </p:nvSpPr>
        <p:spPr>
          <a:xfrm>
            <a:off x="1016000" y="313933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B1035"/>
                </a:solidFill>
                <a:latin typeface="JetBrains Mono" pitchFamily="49" charset="0"/>
                <a:ea typeface="JetBrains Mono" pitchFamily="49" charset="-122"/>
                <a:cs typeface="JetBrains Mono" pitchFamily="49" charset="-120"/>
              </a:rPr>
              <a:t>📦 MyGame_FINAL_REAL_use_this.zip</a:t>
            </a:r>
            <a:endParaRPr lang="en-US" sz="1300" dirty="0"/>
          </a:p>
        </p:txBody>
      </p:sp>
      <p:sp>
        <p:nvSpPr>
          <p:cNvPr id="11" name="Text 9"/>
          <p:cNvSpPr/>
          <p:nvPr/>
        </p:nvSpPr>
        <p:spPr>
          <a:xfrm>
            <a:off x="1016000" y="340856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B1035"/>
                </a:solidFill>
                <a:latin typeface="JetBrains Mono" pitchFamily="49" charset="0"/>
                <a:ea typeface="JetBrains Mono" pitchFamily="49" charset="-122"/>
                <a:cs typeface="JetBrains Mono" pitchFamily="49" charset="-120"/>
              </a:rPr>
              <a:t>📦 MyGame_(Jake's laptop).zip</a:t>
            </a:r>
            <a:endParaRPr lang="en-US" sz="1300" dirty="0"/>
          </a:p>
        </p:txBody>
      </p:sp>
      <p:sp>
        <p:nvSpPr>
          <p:cNvPr id="12" name="Text 10"/>
          <p:cNvSpPr/>
          <p:nvPr/>
        </p:nvSpPr>
        <p:spPr>
          <a:xfrm>
            <a:off x="1016000" y="367779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B1035"/>
                </a:solidFill>
                <a:latin typeface="JetBrains Mono" pitchFamily="49" charset="0"/>
                <a:ea typeface="JetBrains Mono" pitchFamily="49" charset="-122"/>
                <a:cs typeface="JetBrains Mono" pitchFamily="49" charset="-120"/>
              </a:rPr>
              <a:t>📦 MyGame_pls_work.zip</a:t>
            </a:r>
            <a:endParaRPr lang="en-US" sz="1300" dirty="0"/>
          </a:p>
        </p:txBody>
      </p:sp>
      <p:sp>
        <p:nvSpPr>
          <p:cNvPr id="13" name="Text 11"/>
          <p:cNvSpPr/>
          <p:nvPr/>
        </p:nvSpPr>
        <p:spPr>
          <a:xfrm>
            <a:off x="1016000" y="394702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C2185B"/>
                </a:solidFill>
                <a:latin typeface="JetBrains Mono" pitchFamily="49" charset="0"/>
                <a:ea typeface="JetBrains Mono" pitchFamily="49" charset="-122"/>
                <a:cs typeface="JetBrains Mono" pitchFamily="49" charset="-120"/>
              </a:rPr>
              <a:t>📦 MyGame_pls_work(1).zip</a:t>
            </a:r>
            <a:endParaRPr lang="en-US" sz="1300" dirty="0"/>
          </a:p>
        </p:txBody>
      </p:sp>
      <p:sp>
        <p:nvSpPr>
          <p:cNvPr id="14" name="Text 12"/>
          <p:cNvSpPr/>
          <p:nvPr/>
        </p:nvSpPr>
        <p:spPr>
          <a:xfrm>
            <a:off x="6299200" y="1788120"/>
            <a:ext cx="5232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WITH GIT</a:t>
            </a:r>
            <a:endParaRPr lang="en-US" sz="1200" dirty="0"/>
          </a:p>
        </p:txBody>
      </p:sp>
      <p:sp>
        <p:nvSpPr>
          <p:cNvPr id="15" name="Shape 13"/>
          <p:cNvSpPr/>
          <p:nvPr/>
        </p:nvSpPr>
        <p:spPr>
          <a:xfrm>
            <a:off x="6311900" y="2141141"/>
            <a:ext cx="5054600" cy="2227511"/>
          </a:xfrm>
          <a:prstGeom prst="roundRect">
            <a:avLst>
              <a:gd name="adj" fmla="val 5131"/>
            </a:avLst>
          </a:prstGeom>
          <a:solidFill>
            <a:srgbClr val="0E0A1F"/>
          </a:solidFill>
          <a:ln w="25400">
            <a:solidFill>
              <a:srgbClr val="B6FF3B"/>
            </a:solidFill>
            <a:prstDash val="solid"/>
          </a:ln>
          <a:effectLst>
            <a:outerShdw dist="89803" dir="2700000" algn="bl" rotWithShape="0">
              <a:srgbClr val="B6FF3B">
                <a:alpha val="100000"/>
              </a:srgbClr>
            </a:outerShdw>
          </a:effectLst>
        </p:spPr>
        <p:txBody>
          <a:bodyPr/>
          <a:lstStyle/>
          <a:p>
            <a:endParaRPr lang="en-US"/>
          </a:p>
        </p:txBody>
      </p:sp>
      <p:sp>
        <p:nvSpPr>
          <p:cNvPr id="16" name="Text 14"/>
          <p:cNvSpPr/>
          <p:nvPr/>
        </p:nvSpPr>
        <p:spPr>
          <a:xfrm>
            <a:off x="6502400" y="233164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log --oneline</a:t>
            </a:r>
            <a:endParaRPr lang="en-US" sz="1300" dirty="0"/>
          </a:p>
        </p:txBody>
      </p:sp>
      <p:sp>
        <p:nvSpPr>
          <p:cNvPr id="17" name="Text 15"/>
          <p:cNvSpPr/>
          <p:nvPr/>
        </p:nvSpPr>
        <p:spPr>
          <a:xfrm>
            <a:off x="6502400" y="260087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FFD23F"/>
                </a:solidFill>
                <a:latin typeface="JetBrains Mono" pitchFamily="49" charset="0"/>
                <a:ea typeface="JetBrains Mono" pitchFamily="49" charset="-122"/>
                <a:cs typeface="JetBrains Mono" pitchFamily="49" charset="-120"/>
              </a:rPr>
              <a:t>3f9a2c1</a:t>
            </a:r>
            <a:r>
              <a:rPr lang="en-US" sz="1300" dirty="0">
                <a:solidFill>
                  <a:srgbClr val="E9E1FF"/>
                </a:solidFill>
                <a:latin typeface="JetBrains Mono" pitchFamily="49" charset="0"/>
                <a:ea typeface="JetBrains Mono" pitchFamily="49" charset="-122"/>
                <a:cs typeface="JetBrains Mono" pitchFamily="49" charset="-120"/>
              </a:rPr>
              <a:t> Add double jump</a:t>
            </a:r>
            <a:endParaRPr lang="en-US" sz="1300" dirty="0"/>
          </a:p>
        </p:txBody>
      </p:sp>
      <p:sp>
        <p:nvSpPr>
          <p:cNvPr id="18" name="Text 16"/>
          <p:cNvSpPr/>
          <p:nvPr/>
        </p:nvSpPr>
        <p:spPr>
          <a:xfrm>
            <a:off x="6502400" y="287010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FFD23F"/>
                </a:solidFill>
                <a:latin typeface="JetBrains Mono" pitchFamily="49" charset="0"/>
                <a:ea typeface="JetBrains Mono" pitchFamily="49" charset="-122"/>
                <a:cs typeface="JetBrains Mono" pitchFamily="49" charset="-120"/>
              </a:rPr>
              <a:t>a1b2c3d</a:t>
            </a:r>
            <a:r>
              <a:rPr lang="en-US" sz="1300" dirty="0">
                <a:solidFill>
                  <a:srgbClr val="E9E1FF"/>
                </a:solidFill>
                <a:latin typeface="JetBrains Mono" pitchFamily="49" charset="0"/>
                <a:ea typeface="JetBrains Mono" pitchFamily="49" charset="-122"/>
                <a:cs typeface="JetBrains Mono" pitchFamily="49" charset="-120"/>
              </a:rPr>
              <a:t> Fix enemy walking into walls</a:t>
            </a:r>
            <a:endParaRPr lang="en-US" sz="1300" dirty="0"/>
          </a:p>
        </p:txBody>
      </p:sp>
      <p:sp>
        <p:nvSpPr>
          <p:cNvPr id="19" name="Text 17"/>
          <p:cNvSpPr/>
          <p:nvPr/>
        </p:nvSpPr>
        <p:spPr>
          <a:xfrm>
            <a:off x="6502400" y="313933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FFD23F"/>
                </a:solidFill>
                <a:latin typeface="JetBrains Mono" pitchFamily="49" charset="0"/>
                <a:ea typeface="JetBrains Mono" pitchFamily="49" charset="-122"/>
                <a:cs typeface="JetBrains Mono" pitchFamily="49" charset="-120"/>
              </a:rPr>
              <a:t>9e8d7c6</a:t>
            </a:r>
            <a:r>
              <a:rPr lang="en-US" sz="1300" dirty="0">
                <a:solidFill>
                  <a:srgbClr val="E9E1FF"/>
                </a:solidFill>
                <a:latin typeface="JetBrains Mono" pitchFamily="49" charset="0"/>
                <a:ea typeface="JetBrains Mono" pitchFamily="49" charset="-122"/>
                <a:cs typeface="JetBrains Mono" pitchFamily="49" charset="-120"/>
              </a:rPr>
              <a:t> Add main menu music</a:t>
            </a:r>
            <a:endParaRPr lang="en-US" sz="1300" dirty="0"/>
          </a:p>
        </p:txBody>
      </p:sp>
      <p:sp>
        <p:nvSpPr>
          <p:cNvPr id="20" name="Text 18"/>
          <p:cNvSpPr/>
          <p:nvPr/>
        </p:nvSpPr>
        <p:spPr>
          <a:xfrm>
            <a:off x="6502400" y="340856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FFD23F"/>
                </a:solidFill>
                <a:latin typeface="JetBrains Mono" pitchFamily="49" charset="0"/>
                <a:ea typeface="JetBrains Mono" pitchFamily="49" charset="-122"/>
                <a:cs typeface="JetBrains Mono" pitchFamily="49" charset="-120"/>
              </a:rPr>
              <a:t>5b4a3f2</a:t>
            </a:r>
            <a:r>
              <a:rPr lang="en-US" sz="1300" dirty="0">
                <a:solidFill>
                  <a:srgbClr val="E9E1FF"/>
                </a:solidFill>
                <a:latin typeface="JetBrains Mono" pitchFamily="49" charset="0"/>
                <a:ea typeface="JetBrains Mono" pitchFamily="49" charset="-122"/>
                <a:cs typeface="JetBrains Mono" pitchFamily="49" charset="-120"/>
              </a:rPr>
              <a:t> Add player movement</a:t>
            </a:r>
            <a:endParaRPr lang="en-US" sz="1300" dirty="0"/>
          </a:p>
        </p:txBody>
      </p:sp>
      <p:sp>
        <p:nvSpPr>
          <p:cNvPr id="21" name="Text 19"/>
          <p:cNvSpPr/>
          <p:nvPr/>
        </p:nvSpPr>
        <p:spPr>
          <a:xfrm>
            <a:off x="6502400" y="367779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FFD23F"/>
                </a:solidFill>
                <a:latin typeface="JetBrains Mono" pitchFamily="49" charset="0"/>
                <a:ea typeface="JetBrains Mono" pitchFamily="49" charset="-122"/>
                <a:cs typeface="JetBrains Mono" pitchFamily="49" charset="-120"/>
              </a:rPr>
              <a:t>0c1d2e3</a:t>
            </a:r>
            <a:r>
              <a:rPr lang="en-US" sz="1300" dirty="0">
                <a:solidFill>
                  <a:srgbClr val="E9E1FF"/>
                </a:solidFill>
                <a:latin typeface="JetBrains Mono" pitchFamily="49" charset="0"/>
                <a:ea typeface="JetBrains Mono" pitchFamily="49" charset="-122"/>
                <a:cs typeface="JetBrains Mono" pitchFamily="49" charset="-120"/>
              </a:rPr>
              <a:t> Initial commit</a:t>
            </a:r>
            <a:endParaRPr lang="en-US" sz="1300" dirty="0"/>
          </a:p>
        </p:txBody>
      </p:sp>
      <p:sp>
        <p:nvSpPr>
          <p:cNvPr id="22" name="Text 20"/>
          <p:cNvSpPr/>
          <p:nvPr/>
        </p:nvSpPr>
        <p:spPr>
          <a:xfrm>
            <a:off x="6502400" y="3947021"/>
            <a:ext cx="481380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one folder. every version. 🧘</a:t>
            </a:r>
            <a:endParaRPr lang="en-US" sz="1300" dirty="0"/>
          </a:p>
        </p:txBody>
      </p:sp>
      <p:sp>
        <p:nvSpPr>
          <p:cNvPr id="23" name="Text 21"/>
          <p:cNvSpPr/>
          <p:nvPr/>
        </p:nvSpPr>
        <p:spPr>
          <a:xfrm rot="21240000">
            <a:off x="3314700" y="4585320"/>
            <a:ext cx="2641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FF4FA3">
                <a:alpha val="100000"/>
              </a:srgbClr>
            </a:outerShdw>
          </a:effectLst>
        </p:spPr>
        <p:txBody>
          <a:bodyPr wrap="square" lIns="38242" tIns="35575" rIns="3824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which one is real?? 😵‍💫</a:t>
            </a:r>
            <a:endParaRPr lang="en-US" sz="1400" dirty="0"/>
          </a:p>
        </p:txBody>
      </p:sp>
      <p:sp>
        <p:nvSpPr>
          <p:cNvPr id="24" name="Text 22"/>
          <p:cNvSpPr/>
          <p:nvPr/>
        </p:nvSpPr>
        <p:spPr>
          <a:xfrm rot="360000">
            <a:off x="8331200" y="4712320"/>
            <a:ext cx="2641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FF4FA3">
                <a:alpha val="100000"/>
              </a:srgbClr>
            </a:outerShdw>
          </a:effectLst>
        </p:spPr>
        <p:txBody>
          <a:bodyPr wrap="square" lIns="38242" tIns="35575" rIns="3824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one folder, zero stress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4FA3"/>
        </a:solidFill>
        <a:effectLst/>
      </p:bgPr>
    </p:bg>
    <p:spTree>
      <p:nvGrpSpPr>
        <p:cNvPr id="1" name=""/>
        <p:cNvGrpSpPr/>
        <p:nvPr/>
      </p:nvGrpSpPr>
      <p:grpSpPr>
        <a:xfrm>
          <a:off x="0" y="0"/>
          <a:ext cx="0" cy="0"/>
          <a:chOff x="0" y="0"/>
          <a:chExt cx="0" cy="0"/>
        </a:xfrm>
      </p:grpSpPr>
      <p:sp>
        <p:nvSpPr>
          <p:cNvPr id="2" name="Text 0"/>
          <p:cNvSpPr/>
          <p:nvPr/>
        </p:nvSpPr>
        <p:spPr>
          <a:xfrm>
            <a:off x="812800" y="1888480"/>
            <a:ext cx="719455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035"/>
                </a:solidFill>
                <a:latin typeface="Press Start 2P" pitchFamily="49" charset="0"/>
                <a:ea typeface="Press Start 2P" pitchFamily="49" charset="-122"/>
                <a:cs typeface="Press Start 2P" pitchFamily="49" charset="-120"/>
              </a:rPr>
              <a:t>LEVEL 2</a:t>
            </a:r>
            <a:endParaRPr lang="en-US" sz="2000" dirty="0"/>
          </a:p>
        </p:txBody>
      </p:sp>
      <p:sp>
        <p:nvSpPr>
          <p:cNvPr id="3" name="Text 1"/>
          <p:cNvSpPr>
            <a:spLocks noGrp="1"/>
          </p:cNvSpPr>
          <p:nvPr>
            <p:ph type="title"/>
          </p:nvPr>
        </p:nvSpPr>
        <p:spPr>
          <a:xfrm>
            <a:off x="812800" y="2472680"/>
            <a:ext cx="7521575" cy="1930400"/>
          </a:xfrm>
          <a:prstGeom prst="rect">
            <a:avLst/>
          </a:prstGeom>
          <a:noFill/>
          <a:ln/>
        </p:spPr>
        <p:txBody>
          <a:bodyPr wrap="square" lIns="0" tIns="0" rIns="0" bIns="0" rtlCol="0" anchor="t">
            <a:normAutofit/>
          </a:bodyPr>
          <a:lstStyle/>
          <a:p>
            <a:pPr marL="0" indent="0" algn="l">
              <a:lnSpc>
                <a:spcPts val="7500"/>
              </a:lnSpc>
              <a:buNone/>
            </a:pPr>
            <a:r>
              <a:rPr lang="en-US" sz="7500" b="0" i="0" dirty="0">
                <a:solidFill>
                  <a:srgbClr val="1B1035"/>
                </a:solidFill>
                <a:latin typeface="Bungee" pitchFamily="34" charset="0"/>
                <a:ea typeface="Bungee" pitchFamily="34" charset="-122"/>
                <a:cs typeface="Bungee" pitchFamily="34" charset="-120"/>
              </a:rPr>
              <a:t>Real coding time</a:t>
            </a:r>
            <a:endParaRPr lang="en-US" sz="7500" dirty="0"/>
          </a:p>
        </p:txBody>
      </p:sp>
      <p:sp>
        <p:nvSpPr>
          <p:cNvPr id="4" name="Text 2"/>
          <p:cNvSpPr/>
          <p:nvPr/>
        </p:nvSpPr>
        <p:spPr>
          <a:xfrm>
            <a:off x="812800" y="4606280"/>
            <a:ext cx="6867525"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B1035"/>
                </a:solidFill>
                <a:latin typeface="Fredoka" pitchFamily="34" charset="0"/>
                <a:ea typeface="Fredoka" pitchFamily="34" charset="-122"/>
                <a:cs typeface="Fredoka" pitchFamily="34" charset="-120"/>
              </a:rPr>
              <a:t>Open a terminal. Crack your knuckles. Let’s go.</a:t>
            </a:r>
            <a:endParaRPr lang="en-US" sz="2200" dirty="0"/>
          </a:p>
        </p:txBody>
      </p:sp>
      <p:pic>
        <p:nvPicPr>
          <p:cNvPr id="5" name="Image 0" descr="Terminal window icon"/>
          <p:cNvPicPr>
            <a:picLocks noChangeAspect="1"/>
          </p:cNvPicPr>
          <p:nvPr/>
        </p:nvPicPr>
        <p:blipFill>
          <a:blip r:embed="rId3"/>
          <a:srcRect/>
          <a:stretch/>
        </p:blipFill>
        <p:spPr>
          <a:xfrm rot="21240000">
            <a:off x="8255000" y="2413000"/>
            <a:ext cx="2794000" cy="2095500"/>
          </a:xfrm>
          <a:prstGeom prst="rect">
            <a:avLst/>
          </a:prstGeom>
        </p:spPr>
      </p:pic>
      <p:sp>
        <p:nvSpPr>
          <p:cNvPr id="6" name="Text 3"/>
          <p:cNvSpPr/>
          <p:nvPr/>
        </p:nvSpPr>
        <p:spPr>
          <a:xfrm rot="420000">
            <a:off x="8648700" y="1473200"/>
            <a:ext cx="2070100" cy="444500"/>
          </a:xfrm>
          <a:custGeom>
            <a:avLst/>
            <a:gdLst/>
            <a:ahLst/>
            <a:cxnLst/>
            <a:rect l="l" t="t" r="r" b="b"/>
            <a:pathLst>
              <a:path w="2070100" h="444500">
                <a:moveTo>
                  <a:pt x="222250" y="0"/>
                </a:moveTo>
                <a:lnTo>
                  <a:pt x="1847850" y="0"/>
                </a:lnTo>
                <a:arcTo wR="222250" hR="222250" stAng="16200000" swAng="5400000"/>
                <a:lnTo>
                  <a:pt x="2070100" y="222250"/>
                </a:lnTo>
                <a:arcTo wR="222250" hR="222250" stAng="0" swAng="5400000"/>
                <a:lnTo>
                  <a:pt x="222250" y="444500"/>
                </a:lnTo>
                <a:arcTo wR="222250" hR="222250" stAng="5400000" swAng="5400000"/>
                <a:lnTo>
                  <a:pt x="0" y="222250"/>
                </a:lnTo>
                <a:arcTo wR="222250" hR="222250" stAng="10800000" swAng="5400000"/>
                <a:close/>
              </a:path>
            </a:pathLst>
          </a:custGeom>
          <a:solidFill>
            <a:srgbClr val="B6FF3B"/>
          </a:solidFill>
          <a:ln w="25400">
            <a:solidFill>
              <a:srgbClr val="1B1035"/>
            </a:solidFill>
            <a:prstDash val="solid"/>
          </a:ln>
          <a:effectLst>
            <a:outerShdw dist="53882" dir="2700000" algn="bl" rotWithShape="0">
              <a:srgbClr val="1B1035">
                <a:alpha val="100000"/>
              </a:srgbClr>
            </a:outerShdw>
          </a:effectLst>
        </p:spPr>
        <p:txBody>
          <a:bodyPr wrap="square" lIns="86678" tIns="88900" rIns="86678" bIns="63500" rtlCol="0" anchor="t">
            <a:normAutofit/>
          </a:bodyPr>
          <a:lstStyle/>
          <a:p>
            <a:pPr marL="0" indent="0" algn="ctr">
              <a:lnSpc>
                <a:spcPts val="2100"/>
              </a:lnSpc>
              <a:buNone/>
            </a:pPr>
            <a:r>
              <a:rPr lang="en-US" sz="1500" b="1" dirty="0">
                <a:solidFill>
                  <a:srgbClr val="1B1035"/>
                </a:solidFill>
                <a:latin typeface="Fredoka" pitchFamily="34" charset="0"/>
                <a:ea typeface="Fredoka" pitchFamily="34" charset="-122"/>
                <a:cs typeface="Fredoka" pitchFamily="34" charset="-120"/>
              </a:rPr>
              <a:t>hacker mode 😎</a:t>
            </a:r>
            <a:endParaRPr lang="en-US" sz="1500" dirty="0"/>
          </a:p>
        </p:txBody>
      </p:sp>
      <p:sp>
        <p:nvSpPr>
          <p:cNvPr id="7" name="Text 4"/>
          <p:cNvSpPr/>
          <p:nvPr/>
        </p:nvSpPr>
        <p:spPr>
          <a:xfrm rot="21300000">
            <a:off x="6616700" y="5283820"/>
            <a:ext cx="20701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1B1035">
                <a:alpha val="100000"/>
              </a:srgbClr>
            </a:outerShdw>
          </a:effectLst>
        </p:spPr>
        <p:txBody>
          <a:bodyPr wrap="square" lIns="46815" tIns="35575" rIns="46815"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real code ahead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377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2 &gt; SETUP</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13/30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Boss prep: setup</a:t>
            </a:r>
            <a:endParaRPr lang="en-US" sz="4000" dirty="0"/>
          </a:p>
        </p:txBody>
      </p:sp>
      <p:sp>
        <p:nvSpPr>
          <p:cNvPr id="5" name="Shape 3"/>
          <p:cNvSpPr/>
          <p:nvPr/>
        </p:nvSpPr>
        <p:spPr>
          <a:xfrm>
            <a:off x="825500" y="1800820"/>
            <a:ext cx="3403600" cy="1102271"/>
          </a:xfrm>
          <a:prstGeom prst="roundRect">
            <a:avLst>
              <a:gd name="adj" fmla="val 10370"/>
            </a:avLst>
          </a:prstGeom>
          <a:solidFill>
            <a:srgbClr val="2A1A52"/>
          </a:solidFill>
          <a:ln w="25400">
            <a:solidFill>
              <a:srgbClr val="3BE8FF"/>
            </a:solidFill>
            <a:prstDash val="solid"/>
          </a:ln>
        </p:spPr>
        <p:txBody>
          <a:bodyPr/>
          <a:lstStyle/>
          <a:p>
            <a:endParaRPr lang="en-US"/>
          </a:p>
        </p:txBody>
      </p:sp>
      <p:sp>
        <p:nvSpPr>
          <p:cNvPr id="6" name="Text 4"/>
          <p:cNvSpPr/>
          <p:nvPr/>
        </p:nvSpPr>
        <p:spPr>
          <a:xfrm>
            <a:off x="1016000" y="1965920"/>
            <a:ext cx="31132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E8FF"/>
                </a:solidFill>
                <a:latin typeface="Press Start 2P" pitchFamily="49" charset="0"/>
                <a:ea typeface="Press Start 2P" pitchFamily="49" charset="-122"/>
                <a:cs typeface="Press Start 2P" pitchFamily="49" charset="-120"/>
              </a:rPr>
              <a:t>STEP 1</a:t>
            </a:r>
            <a:endParaRPr lang="en-US" sz="1200" dirty="0"/>
          </a:p>
        </p:txBody>
      </p:sp>
      <p:sp>
        <p:nvSpPr>
          <p:cNvPr id="7" name="Text 5"/>
          <p:cNvSpPr/>
          <p:nvPr/>
        </p:nvSpPr>
        <p:spPr>
          <a:xfrm>
            <a:off x="1016000" y="2230041"/>
            <a:ext cx="311327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Install Git</a:t>
            </a:r>
            <a:endParaRPr lang="en-US" sz="1600" dirty="0"/>
          </a:p>
        </p:txBody>
      </p:sp>
      <p:sp>
        <p:nvSpPr>
          <p:cNvPr id="8" name="Text 6"/>
          <p:cNvSpPr/>
          <p:nvPr/>
        </p:nvSpPr>
        <p:spPr>
          <a:xfrm>
            <a:off x="1016000" y="2524671"/>
            <a:ext cx="31132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JetBrains Mono" pitchFamily="49" charset="0"/>
                <a:ea typeface="JetBrains Mono" pitchFamily="49" charset="-122"/>
                <a:cs typeface="JetBrains Mono" pitchFamily="49" charset="-120"/>
              </a:rPr>
              <a:t>git-scm.com</a:t>
            </a:r>
            <a:endParaRPr lang="en-US" sz="1200" dirty="0"/>
          </a:p>
        </p:txBody>
      </p:sp>
      <p:sp>
        <p:nvSpPr>
          <p:cNvPr id="9" name="Shape 7"/>
          <p:cNvSpPr/>
          <p:nvPr/>
        </p:nvSpPr>
        <p:spPr>
          <a:xfrm>
            <a:off x="825500" y="3055491"/>
            <a:ext cx="3403600" cy="1102271"/>
          </a:xfrm>
          <a:prstGeom prst="roundRect">
            <a:avLst>
              <a:gd name="adj" fmla="val 10370"/>
            </a:avLst>
          </a:prstGeom>
          <a:solidFill>
            <a:srgbClr val="2A1A52"/>
          </a:solidFill>
          <a:ln w="25400">
            <a:solidFill>
              <a:srgbClr val="FF4FA3"/>
            </a:solidFill>
            <a:prstDash val="solid"/>
          </a:ln>
        </p:spPr>
        <p:txBody>
          <a:bodyPr/>
          <a:lstStyle/>
          <a:p>
            <a:endParaRPr lang="en-US"/>
          </a:p>
        </p:txBody>
      </p:sp>
      <p:sp>
        <p:nvSpPr>
          <p:cNvPr id="10" name="Text 8"/>
          <p:cNvSpPr/>
          <p:nvPr/>
        </p:nvSpPr>
        <p:spPr>
          <a:xfrm>
            <a:off x="1016000" y="3220591"/>
            <a:ext cx="31132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STEP 2</a:t>
            </a:r>
            <a:endParaRPr lang="en-US" sz="1200" dirty="0"/>
          </a:p>
        </p:txBody>
      </p:sp>
      <p:sp>
        <p:nvSpPr>
          <p:cNvPr id="11" name="Text 9"/>
          <p:cNvSpPr/>
          <p:nvPr/>
        </p:nvSpPr>
        <p:spPr>
          <a:xfrm>
            <a:off x="1016000" y="3484711"/>
            <a:ext cx="311327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Make a free account</a:t>
            </a:r>
            <a:endParaRPr lang="en-US" sz="1600" dirty="0"/>
          </a:p>
        </p:txBody>
      </p:sp>
      <p:sp>
        <p:nvSpPr>
          <p:cNvPr id="12" name="Text 10"/>
          <p:cNvSpPr/>
          <p:nvPr/>
        </p:nvSpPr>
        <p:spPr>
          <a:xfrm>
            <a:off x="1016000" y="3779341"/>
            <a:ext cx="31132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JetBrains Mono" pitchFamily="49" charset="0"/>
                <a:ea typeface="JetBrains Mono" pitchFamily="49" charset="-122"/>
                <a:cs typeface="JetBrains Mono" pitchFamily="49" charset="-120"/>
              </a:rPr>
              <a:t>github.com or gitlab.com</a:t>
            </a:r>
            <a:endParaRPr lang="en-US" sz="1200" dirty="0"/>
          </a:p>
        </p:txBody>
      </p:sp>
      <p:sp>
        <p:nvSpPr>
          <p:cNvPr id="13" name="Shape 11"/>
          <p:cNvSpPr/>
          <p:nvPr/>
        </p:nvSpPr>
        <p:spPr>
          <a:xfrm>
            <a:off x="825500" y="4310162"/>
            <a:ext cx="3403600" cy="1102271"/>
          </a:xfrm>
          <a:prstGeom prst="roundRect">
            <a:avLst>
              <a:gd name="adj" fmla="val 10370"/>
            </a:avLst>
          </a:prstGeom>
          <a:solidFill>
            <a:srgbClr val="2A1A52"/>
          </a:solidFill>
          <a:ln w="25400">
            <a:solidFill>
              <a:srgbClr val="B6FF3B"/>
            </a:solidFill>
            <a:prstDash val="solid"/>
          </a:ln>
        </p:spPr>
        <p:txBody>
          <a:bodyPr/>
          <a:lstStyle/>
          <a:p>
            <a:endParaRPr lang="en-US"/>
          </a:p>
        </p:txBody>
      </p:sp>
      <p:sp>
        <p:nvSpPr>
          <p:cNvPr id="14" name="Text 12"/>
          <p:cNvSpPr/>
          <p:nvPr/>
        </p:nvSpPr>
        <p:spPr>
          <a:xfrm>
            <a:off x="1016000" y="4475262"/>
            <a:ext cx="31132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STEP 3</a:t>
            </a:r>
            <a:endParaRPr lang="en-US" sz="1200" dirty="0"/>
          </a:p>
        </p:txBody>
      </p:sp>
      <p:sp>
        <p:nvSpPr>
          <p:cNvPr id="15" name="Text 13"/>
          <p:cNvSpPr/>
          <p:nvPr/>
        </p:nvSpPr>
        <p:spPr>
          <a:xfrm>
            <a:off x="1016000" y="4739382"/>
            <a:ext cx="311327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Check it works</a:t>
            </a:r>
            <a:endParaRPr lang="en-US" sz="1600" dirty="0"/>
          </a:p>
        </p:txBody>
      </p:sp>
      <p:sp>
        <p:nvSpPr>
          <p:cNvPr id="16" name="Text 14"/>
          <p:cNvSpPr/>
          <p:nvPr/>
        </p:nvSpPr>
        <p:spPr>
          <a:xfrm>
            <a:off x="1016000" y="5034012"/>
            <a:ext cx="31132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JetBrains Mono" pitchFamily="49" charset="0"/>
                <a:ea typeface="JetBrains Mono" pitchFamily="49" charset="-122"/>
                <a:cs typeface="JetBrains Mono" pitchFamily="49" charset="-120"/>
              </a:rPr>
              <a:t>git --version</a:t>
            </a:r>
            <a:endParaRPr lang="en-US" sz="1200" dirty="0"/>
          </a:p>
        </p:txBody>
      </p:sp>
      <p:sp>
        <p:nvSpPr>
          <p:cNvPr id="17" name="Shape 15"/>
          <p:cNvSpPr/>
          <p:nvPr/>
        </p:nvSpPr>
        <p:spPr>
          <a:xfrm>
            <a:off x="4556125" y="1797645"/>
            <a:ext cx="6813550" cy="3617962"/>
          </a:xfrm>
          <a:prstGeom prst="roundRect">
            <a:avLst>
              <a:gd name="adj" fmla="val 3247"/>
            </a:avLst>
          </a:prstGeom>
          <a:solidFill>
            <a:srgbClr val="0E0A1F"/>
          </a:solidFill>
          <a:ln w="19050">
            <a:solidFill>
              <a:srgbClr val="3BE8FF"/>
            </a:solidFill>
            <a:prstDash val="solid"/>
          </a:ln>
          <a:effectLst>
            <a:outerShdw dist="89803" dir="2700000" algn="bl" rotWithShape="0">
              <a:srgbClr val="3BE8FF">
                <a:alpha val="100000"/>
              </a:srgbClr>
            </a:outerShdw>
          </a:effectLst>
        </p:spPr>
        <p:txBody>
          <a:bodyPr/>
          <a:lstStyle/>
          <a:p>
            <a:endParaRPr lang="en-US"/>
          </a:p>
        </p:txBody>
      </p:sp>
      <p:sp>
        <p:nvSpPr>
          <p:cNvPr id="18" name="Shape 16"/>
          <p:cNvSpPr/>
          <p:nvPr/>
        </p:nvSpPr>
        <p:spPr>
          <a:xfrm>
            <a:off x="4565650" y="1807170"/>
            <a:ext cx="6794500" cy="391120"/>
          </a:xfrm>
          <a:custGeom>
            <a:avLst/>
            <a:gdLst/>
            <a:ahLst/>
            <a:cxnLst/>
            <a:rect l="l" t="t" r="r" b="b"/>
            <a:pathLst>
              <a:path w="6794500" h="391120">
                <a:moveTo>
                  <a:pt x="0" y="107950"/>
                </a:moveTo>
                <a:arcTo wR="107950" hR="107950" stAng="10800000" swAng="5400000"/>
                <a:lnTo>
                  <a:pt x="6686550" y="0"/>
                </a:lnTo>
                <a:arcTo wR="107950" hR="107950" stAng="16200000" swAng="5400000"/>
                <a:lnTo>
                  <a:pt x="6794500" y="391120"/>
                </a:lnTo>
                <a:lnTo>
                  <a:pt x="0" y="391120"/>
                </a:lnTo>
                <a:close/>
              </a:path>
            </a:pathLst>
          </a:custGeom>
          <a:solidFill>
            <a:srgbClr val="2A1A52"/>
          </a:solidFill>
          <a:ln/>
        </p:spPr>
        <p:txBody>
          <a:bodyPr/>
          <a:lstStyle/>
          <a:p>
            <a:endParaRPr lang="en-US"/>
          </a:p>
        </p:txBody>
      </p:sp>
      <p:sp>
        <p:nvSpPr>
          <p:cNvPr id="19" name="Shape 17"/>
          <p:cNvSpPr/>
          <p:nvPr/>
        </p:nvSpPr>
        <p:spPr>
          <a:xfrm>
            <a:off x="4692650" y="1939230"/>
            <a:ext cx="127000" cy="127000"/>
          </a:xfrm>
          <a:prstGeom prst="roundRect">
            <a:avLst>
              <a:gd name="adj" fmla="val 50000"/>
            </a:avLst>
          </a:prstGeom>
          <a:solidFill>
            <a:srgbClr val="FF5F57"/>
          </a:solidFill>
          <a:ln/>
        </p:spPr>
        <p:txBody>
          <a:bodyPr/>
          <a:lstStyle/>
          <a:p>
            <a:endParaRPr lang="en-US"/>
          </a:p>
        </p:txBody>
      </p:sp>
      <p:sp>
        <p:nvSpPr>
          <p:cNvPr id="20" name="Shape 18"/>
          <p:cNvSpPr/>
          <p:nvPr/>
        </p:nvSpPr>
        <p:spPr>
          <a:xfrm>
            <a:off x="4895850" y="1939230"/>
            <a:ext cx="127000" cy="127000"/>
          </a:xfrm>
          <a:prstGeom prst="roundRect">
            <a:avLst>
              <a:gd name="adj" fmla="val 50000"/>
            </a:avLst>
          </a:prstGeom>
          <a:solidFill>
            <a:srgbClr val="FEBC2E"/>
          </a:solidFill>
          <a:ln/>
        </p:spPr>
        <p:txBody>
          <a:bodyPr/>
          <a:lstStyle/>
          <a:p>
            <a:endParaRPr lang="en-US"/>
          </a:p>
        </p:txBody>
      </p:sp>
      <p:sp>
        <p:nvSpPr>
          <p:cNvPr id="21" name="Shape 19"/>
          <p:cNvSpPr/>
          <p:nvPr/>
        </p:nvSpPr>
        <p:spPr>
          <a:xfrm>
            <a:off x="5099050" y="1939230"/>
            <a:ext cx="127000" cy="127000"/>
          </a:xfrm>
          <a:prstGeom prst="roundRect">
            <a:avLst>
              <a:gd name="adj" fmla="val 50000"/>
            </a:avLst>
          </a:prstGeom>
          <a:solidFill>
            <a:srgbClr val="28C840"/>
          </a:solidFill>
          <a:ln/>
        </p:spPr>
        <p:txBody>
          <a:bodyPr/>
          <a:lstStyle/>
          <a:p>
            <a:endParaRPr lang="en-US"/>
          </a:p>
        </p:txBody>
      </p:sp>
      <p:sp>
        <p:nvSpPr>
          <p:cNvPr id="22" name="Text 20"/>
          <p:cNvSpPr/>
          <p:nvPr/>
        </p:nvSpPr>
        <p:spPr>
          <a:xfrm>
            <a:off x="5403850" y="1896070"/>
            <a:ext cx="20848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JetBrains Mono" pitchFamily="49" charset="0"/>
                <a:ea typeface="JetBrains Mono" pitchFamily="49" charset="-122"/>
                <a:cs typeface="JetBrains Mono" pitchFamily="49" charset="-120"/>
              </a:rPr>
              <a:t>bash — do this once</a:t>
            </a:r>
            <a:endParaRPr lang="en-US" sz="1200" dirty="0"/>
          </a:p>
        </p:txBody>
      </p:sp>
      <p:sp>
        <p:nvSpPr>
          <p:cNvPr id="23" name="Text 21"/>
          <p:cNvSpPr/>
          <p:nvPr/>
        </p:nvSpPr>
        <p:spPr>
          <a:xfrm>
            <a:off x="4768850" y="237609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1. Tell Git who you are</a:t>
            </a:r>
            <a:endParaRPr lang="en-US" sz="1300" dirty="0"/>
          </a:p>
        </p:txBody>
      </p:sp>
      <p:sp>
        <p:nvSpPr>
          <p:cNvPr id="24" name="Text 22"/>
          <p:cNvSpPr/>
          <p:nvPr/>
        </p:nvSpPr>
        <p:spPr>
          <a:xfrm>
            <a:off x="4768850" y="265802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config --global user.name </a:t>
            </a:r>
            <a:r>
              <a:rPr lang="en-US" sz="1300" dirty="0">
                <a:solidFill>
                  <a:srgbClr val="FFD23F"/>
                </a:solidFill>
                <a:latin typeface="JetBrains Mono" pitchFamily="49" charset="0"/>
                <a:ea typeface="JetBrains Mono" pitchFamily="49" charset="-122"/>
                <a:cs typeface="JetBrains Mono" pitchFamily="49" charset="-120"/>
              </a:rPr>
              <a:t>"Your Name"</a:t>
            </a:r>
            <a:endParaRPr lang="en-US" sz="1300" dirty="0"/>
          </a:p>
        </p:txBody>
      </p:sp>
      <p:sp>
        <p:nvSpPr>
          <p:cNvPr id="25" name="Text 23"/>
          <p:cNvSpPr/>
          <p:nvPr/>
        </p:nvSpPr>
        <p:spPr>
          <a:xfrm>
            <a:off x="4768850" y="293995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config --global user.email </a:t>
            </a:r>
            <a:r>
              <a:rPr lang="en-US" sz="1300" dirty="0">
                <a:solidFill>
                  <a:srgbClr val="FFD23F"/>
                </a:solidFill>
                <a:latin typeface="JetBrains Mono" pitchFamily="49" charset="0"/>
                <a:ea typeface="JetBrains Mono" pitchFamily="49" charset="-122"/>
                <a:cs typeface="JetBrains Mono" pitchFamily="49" charset="-120"/>
              </a:rPr>
              <a:t>"you@example.com"</a:t>
            </a:r>
            <a:endParaRPr lang="en-US" sz="1300" dirty="0"/>
          </a:p>
        </p:txBody>
      </p:sp>
      <p:sp>
        <p:nvSpPr>
          <p:cNvPr id="26" name="Text 24"/>
          <p:cNvSpPr/>
          <p:nvPr/>
        </p:nvSpPr>
        <p:spPr>
          <a:xfrm>
            <a:off x="4768850" y="350381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2. Turn your game folder into a repo</a:t>
            </a:r>
            <a:endParaRPr lang="en-US" sz="1300" dirty="0"/>
          </a:p>
        </p:txBody>
      </p:sp>
      <p:sp>
        <p:nvSpPr>
          <p:cNvPr id="27" name="Text 25"/>
          <p:cNvSpPr/>
          <p:nvPr/>
        </p:nvSpPr>
        <p:spPr>
          <a:xfrm>
            <a:off x="4768850" y="378574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cd MyAwesomeGame</a:t>
            </a:r>
            <a:endParaRPr lang="en-US" sz="1300" dirty="0"/>
          </a:p>
        </p:txBody>
      </p:sp>
      <p:sp>
        <p:nvSpPr>
          <p:cNvPr id="28" name="Text 26"/>
          <p:cNvSpPr/>
          <p:nvPr/>
        </p:nvSpPr>
        <p:spPr>
          <a:xfrm>
            <a:off x="4768850" y="406767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init</a:t>
            </a:r>
            <a:endParaRPr lang="en-US" sz="1300" dirty="0"/>
          </a:p>
        </p:txBody>
      </p:sp>
      <p:sp>
        <p:nvSpPr>
          <p:cNvPr id="29" name="Text 27"/>
          <p:cNvSpPr/>
          <p:nvPr/>
        </p:nvSpPr>
        <p:spPr>
          <a:xfrm>
            <a:off x="4768850" y="434960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Initialized empty Git repository in</a:t>
            </a:r>
            <a:endParaRPr lang="en-US" sz="1300" dirty="0"/>
          </a:p>
        </p:txBody>
      </p:sp>
      <p:sp>
        <p:nvSpPr>
          <p:cNvPr id="30" name="Text 28"/>
          <p:cNvSpPr/>
          <p:nvPr/>
        </p:nvSpPr>
        <p:spPr>
          <a:xfrm>
            <a:off x="4768850" y="4631531"/>
            <a:ext cx="657974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  ~/MyAwesomeGame/.git/ ✅</a:t>
            </a:r>
            <a:endParaRPr lang="en-US" sz="1300" dirty="0"/>
          </a:p>
        </p:txBody>
      </p:sp>
      <p:sp>
        <p:nvSpPr>
          <p:cNvPr id="31" name="Text 29"/>
          <p:cNvSpPr/>
          <p:nvPr/>
        </p:nvSpPr>
        <p:spPr>
          <a:xfrm rot="360000">
            <a:off x="8902700" y="1092820"/>
            <a:ext cx="2006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FF4FA3">
                <a:alpha val="100000"/>
              </a:srgbClr>
            </a:outerShdw>
          </a:effectLst>
        </p:spPr>
        <p:txBody>
          <a:bodyPr wrap="square" lIns="47767" tIns="35575" rIns="4776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2-minute setup</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377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2 &gt; COMBO</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14/30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The daily combo 🔥</a:t>
            </a:r>
            <a:endParaRPr lang="en-US" sz="4000" dirty="0"/>
          </a:p>
        </p:txBody>
      </p:sp>
      <p:sp>
        <p:nvSpPr>
          <p:cNvPr id="5" name="Text 3"/>
          <p:cNvSpPr/>
          <p:nvPr/>
        </p:nvSpPr>
        <p:spPr>
          <a:xfrm>
            <a:off x="825500" y="1800820"/>
            <a:ext cx="1391940" cy="523230"/>
          </a:xfrm>
          <a:prstGeom prst="roundRect">
            <a:avLst>
              <a:gd name="adj" fmla="val 16991"/>
            </a:avLst>
          </a:prstGeom>
          <a:solidFill>
            <a:srgbClr val="FFD23F"/>
          </a:solidFill>
          <a:ln w="25400">
            <a:solidFill>
              <a:srgbClr val="FFF4E0"/>
            </a:solidFill>
            <a:prstDash val="solid"/>
          </a:ln>
          <a:effectLst>
            <a:outerShdw dist="50800" dir="5400000" algn="bl" rotWithShape="0">
              <a:srgbClr val="B38F00">
                <a:alpha val="100000"/>
              </a:srgbClr>
            </a:outerShdw>
          </a:effectLst>
        </p:spPr>
        <p:txBody>
          <a:bodyPr wrap="none" lIns="0" tIns="0" rIns="0" bIns="0" rtlCol="0" anchor="ctr">
            <a:normAutofit/>
          </a:bodyPr>
          <a:lstStyle/>
          <a:p>
            <a:pPr marL="0" indent="0" algn="ctr">
              <a:lnSpc>
                <a:spcPts val="2520"/>
              </a:lnSpc>
              <a:buNone/>
            </a:pPr>
            <a:r>
              <a:rPr lang="en-US" sz="1800" b="1" dirty="0">
                <a:solidFill>
                  <a:srgbClr val="1B1035"/>
                </a:solidFill>
                <a:latin typeface="JetBrains Mono" pitchFamily="49" charset="0"/>
                <a:ea typeface="JetBrains Mono" pitchFamily="49" charset="-122"/>
                <a:cs typeface="JetBrains Mono" pitchFamily="49" charset="-120"/>
              </a:rPr>
              <a:t>git add</a:t>
            </a:r>
            <a:endParaRPr lang="en-US" sz="1800" dirty="0"/>
          </a:p>
        </p:txBody>
      </p:sp>
      <p:sp>
        <p:nvSpPr>
          <p:cNvPr id="6" name="Text 4"/>
          <p:cNvSpPr/>
          <p:nvPr/>
        </p:nvSpPr>
        <p:spPr>
          <a:xfrm>
            <a:off x="1011823" y="2400250"/>
            <a:ext cx="101929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AEDB"/>
                </a:solidFill>
                <a:latin typeface="Fredoka" pitchFamily="34" charset="0"/>
                <a:ea typeface="Fredoka" pitchFamily="34" charset="-122"/>
                <a:cs typeface="Fredoka" pitchFamily="34" charset="-120"/>
              </a:rPr>
              <a:t>pick the files</a:t>
            </a:r>
            <a:endParaRPr lang="en-US" sz="1200" dirty="0"/>
          </a:p>
        </p:txBody>
      </p:sp>
      <p:sp>
        <p:nvSpPr>
          <p:cNvPr id="7" name="Text 5"/>
          <p:cNvSpPr/>
          <p:nvPr/>
        </p:nvSpPr>
        <p:spPr>
          <a:xfrm>
            <a:off x="2407940" y="1951930"/>
            <a:ext cx="313253" cy="523230"/>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F4FA3"/>
                </a:solidFill>
                <a:latin typeface="Bungee" pitchFamily="34" charset="0"/>
                <a:ea typeface="Bungee" pitchFamily="34" charset="-122"/>
                <a:cs typeface="Bungee" pitchFamily="34" charset="-120"/>
              </a:rPr>
              <a:t>+</a:t>
            </a:r>
            <a:endParaRPr lang="en-US" sz="2800" dirty="0"/>
          </a:p>
        </p:txBody>
      </p:sp>
      <p:sp>
        <p:nvSpPr>
          <p:cNvPr id="8" name="Text 6"/>
          <p:cNvSpPr/>
          <p:nvPr/>
        </p:nvSpPr>
        <p:spPr>
          <a:xfrm>
            <a:off x="2859484" y="1800820"/>
            <a:ext cx="1803400" cy="523230"/>
          </a:xfrm>
          <a:prstGeom prst="roundRect">
            <a:avLst>
              <a:gd name="adj" fmla="val 16991"/>
            </a:avLst>
          </a:prstGeom>
          <a:solidFill>
            <a:srgbClr val="3BE8FF"/>
          </a:solidFill>
          <a:ln w="25400">
            <a:solidFill>
              <a:srgbClr val="FFF4E0"/>
            </a:solidFill>
            <a:prstDash val="solid"/>
          </a:ln>
          <a:effectLst>
            <a:outerShdw dist="50800" dir="5400000" algn="bl" rotWithShape="0">
              <a:srgbClr val="1C8FA0">
                <a:alpha val="100000"/>
              </a:srgbClr>
            </a:outerShdw>
          </a:effectLst>
        </p:spPr>
        <p:txBody>
          <a:bodyPr wrap="none" lIns="0" tIns="0" rIns="0" bIns="0" rtlCol="0" anchor="ctr">
            <a:normAutofit/>
          </a:bodyPr>
          <a:lstStyle/>
          <a:p>
            <a:pPr marL="0" indent="0" algn="ctr">
              <a:lnSpc>
                <a:spcPts val="2520"/>
              </a:lnSpc>
              <a:buNone/>
            </a:pPr>
            <a:r>
              <a:rPr lang="en-US" sz="1800" b="1" dirty="0">
                <a:solidFill>
                  <a:srgbClr val="1B1035"/>
                </a:solidFill>
                <a:latin typeface="JetBrains Mono" pitchFamily="49" charset="0"/>
                <a:ea typeface="JetBrains Mono" pitchFamily="49" charset="-122"/>
                <a:cs typeface="JetBrains Mono" pitchFamily="49" charset="-120"/>
              </a:rPr>
              <a:t>git commit</a:t>
            </a:r>
            <a:endParaRPr lang="en-US" sz="1800" dirty="0"/>
          </a:p>
        </p:txBody>
      </p:sp>
      <p:sp>
        <p:nvSpPr>
          <p:cNvPr id="9" name="Text 7"/>
          <p:cNvSpPr/>
          <p:nvPr/>
        </p:nvSpPr>
        <p:spPr>
          <a:xfrm>
            <a:off x="3298269" y="2400250"/>
            <a:ext cx="92583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AEDB"/>
                </a:solidFill>
                <a:latin typeface="Fredoka" pitchFamily="34" charset="0"/>
                <a:ea typeface="Fredoka" pitchFamily="34" charset="-122"/>
                <a:cs typeface="Fredoka" pitchFamily="34" charset="-120"/>
              </a:rPr>
              <a:t>press SAVE</a:t>
            </a:r>
            <a:endParaRPr lang="en-US" sz="1200" dirty="0"/>
          </a:p>
        </p:txBody>
      </p:sp>
      <p:sp>
        <p:nvSpPr>
          <p:cNvPr id="10" name="Text 8"/>
          <p:cNvSpPr/>
          <p:nvPr/>
        </p:nvSpPr>
        <p:spPr>
          <a:xfrm>
            <a:off x="4853384" y="1951930"/>
            <a:ext cx="313253" cy="523230"/>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F4FA3"/>
                </a:solidFill>
                <a:latin typeface="Bungee" pitchFamily="34" charset="0"/>
                <a:ea typeface="Bungee" pitchFamily="34" charset="-122"/>
                <a:cs typeface="Bungee" pitchFamily="34" charset="-120"/>
              </a:rPr>
              <a:t>+</a:t>
            </a:r>
            <a:endParaRPr lang="en-US" sz="2800" dirty="0"/>
          </a:p>
        </p:txBody>
      </p:sp>
      <p:sp>
        <p:nvSpPr>
          <p:cNvPr id="11" name="Text 9"/>
          <p:cNvSpPr/>
          <p:nvPr/>
        </p:nvSpPr>
        <p:spPr>
          <a:xfrm>
            <a:off x="5304929" y="1800820"/>
            <a:ext cx="1529110" cy="523230"/>
          </a:xfrm>
          <a:prstGeom prst="roundRect">
            <a:avLst>
              <a:gd name="adj" fmla="val 16991"/>
            </a:avLst>
          </a:prstGeom>
          <a:solidFill>
            <a:srgbClr val="B6FF3B"/>
          </a:solidFill>
          <a:ln w="25400">
            <a:solidFill>
              <a:srgbClr val="FFF4E0"/>
            </a:solidFill>
            <a:prstDash val="solid"/>
          </a:ln>
          <a:effectLst>
            <a:outerShdw dist="50800" dir="5400000" algn="bl" rotWithShape="0">
              <a:srgbClr val="6E9E1C">
                <a:alpha val="100000"/>
              </a:srgbClr>
            </a:outerShdw>
          </a:effectLst>
        </p:spPr>
        <p:txBody>
          <a:bodyPr wrap="none" lIns="0" tIns="0" rIns="0" bIns="0" rtlCol="0" anchor="ctr">
            <a:normAutofit/>
          </a:bodyPr>
          <a:lstStyle/>
          <a:p>
            <a:pPr marL="0" indent="0" algn="ctr">
              <a:lnSpc>
                <a:spcPts val="2520"/>
              </a:lnSpc>
              <a:buNone/>
            </a:pPr>
            <a:r>
              <a:rPr lang="en-US" sz="1800" b="1" dirty="0">
                <a:solidFill>
                  <a:srgbClr val="1B1035"/>
                </a:solidFill>
                <a:latin typeface="JetBrains Mono" pitchFamily="49" charset="0"/>
                <a:ea typeface="JetBrains Mono" pitchFamily="49" charset="-122"/>
                <a:cs typeface="JetBrains Mono" pitchFamily="49" charset="-120"/>
              </a:rPr>
              <a:t>git push</a:t>
            </a:r>
            <a:endParaRPr lang="en-US" sz="1800" dirty="0"/>
          </a:p>
        </p:txBody>
      </p:sp>
      <p:sp>
        <p:nvSpPr>
          <p:cNvPr id="12" name="Text 10"/>
          <p:cNvSpPr/>
          <p:nvPr/>
        </p:nvSpPr>
        <p:spPr>
          <a:xfrm>
            <a:off x="5708104" y="2400250"/>
            <a:ext cx="722709"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AEDB"/>
                </a:solidFill>
                <a:latin typeface="Fredoka" pitchFamily="34" charset="0"/>
                <a:ea typeface="Fredoka" pitchFamily="34" charset="-122"/>
                <a:cs typeface="Fredoka" pitchFamily="34" charset="-120"/>
              </a:rPr>
              <a:t>upload it</a:t>
            </a:r>
            <a:endParaRPr lang="en-US" sz="1200" dirty="0"/>
          </a:p>
        </p:txBody>
      </p:sp>
      <p:sp>
        <p:nvSpPr>
          <p:cNvPr id="13" name="Text 11"/>
          <p:cNvSpPr/>
          <p:nvPr/>
        </p:nvSpPr>
        <p:spPr>
          <a:xfrm>
            <a:off x="7024539" y="1951930"/>
            <a:ext cx="313253" cy="523230"/>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F4FA3"/>
                </a:solidFill>
                <a:latin typeface="Bungee" pitchFamily="34" charset="0"/>
                <a:ea typeface="Bungee" pitchFamily="34" charset="-122"/>
                <a:cs typeface="Bungee" pitchFamily="34" charset="-120"/>
              </a:rPr>
              <a:t>=</a:t>
            </a:r>
            <a:endParaRPr lang="en-US" sz="2800" dirty="0"/>
          </a:p>
        </p:txBody>
      </p:sp>
      <p:sp>
        <p:nvSpPr>
          <p:cNvPr id="14" name="Text 12"/>
          <p:cNvSpPr/>
          <p:nvPr/>
        </p:nvSpPr>
        <p:spPr>
          <a:xfrm>
            <a:off x="7463383" y="1969691"/>
            <a:ext cx="2030214" cy="462260"/>
          </a:xfrm>
          <a:prstGeom prst="roundRect">
            <a:avLst>
              <a:gd name="adj" fmla="val 50000"/>
            </a:avLst>
          </a:prstGeom>
          <a:solidFill>
            <a:srgbClr val="FF4FA3"/>
          </a:solidFill>
          <a:ln/>
        </p:spPr>
        <p:txBody>
          <a:bodyPr wrap="none" lIns="0" tIns="0" rIns="0" bIns="0" rtlCol="0" anchor="ctr">
            <a:normAutofit/>
          </a:bodyPr>
          <a:lstStyle/>
          <a:p>
            <a:pPr marL="0" indent="0" algn="ctr">
              <a:lnSpc>
                <a:spcPts val="2240"/>
              </a:lnSpc>
              <a:buNone/>
            </a:pPr>
            <a:r>
              <a:rPr lang="en-US" sz="1600" b="1" dirty="0">
                <a:solidFill>
                  <a:srgbClr val="1B1035"/>
                </a:solidFill>
                <a:latin typeface="Fredoka" pitchFamily="34" charset="0"/>
                <a:ea typeface="Fredoka" pitchFamily="34" charset="-122"/>
                <a:cs typeface="Fredoka" pitchFamily="34" charset="-120"/>
              </a:rPr>
              <a:t>💾 SAVED ONLINE</a:t>
            </a:r>
            <a:endParaRPr lang="en-US" sz="1600" dirty="0"/>
          </a:p>
        </p:txBody>
      </p:sp>
      <p:sp>
        <p:nvSpPr>
          <p:cNvPr id="15" name="Shape 13"/>
          <p:cNvSpPr/>
          <p:nvPr/>
        </p:nvSpPr>
        <p:spPr>
          <a:xfrm>
            <a:off x="822325" y="2826296"/>
            <a:ext cx="10547350" cy="2792611"/>
          </a:xfrm>
          <a:prstGeom prst="roundRect">
            <a:avLst>
              <a:gd name="adj" fmla="val 4207"/>
            </a:avLst>
          </a:prstGeom>
          <a:solidFill>
            <a:srgbClr val="0E0A1F"/>
          </a:solidFill>
          <a:ln w="19050">
            <a:solidFill>
              <a:srgbClr val="3BE8FF"/>
            </a:solidFill>
            <a:prstDash val="solid"/>
          </a:ln>
          <a:effectLst>
            <a:outerShdw dist="89803" dir="2700000" algn="bl" rotWithShape="0">
              <a:srgbClr val="3BE8FF">
                <a:alpha val="100000"/>
              </a:srgbClr>
            </a:outerShdw>
          </a:effectLst>
        </p:spPr>
        <p:txBody>
          <a:bodyPr/>
          <a:lstStyle/>
          <a:p>
            <a:endParaRPr lang="en-US"/>
          </a:p>
        </p:txBody>
      </p:sp>
      <p:sp>
        <p:nvSpPr>
          <p:cNvPr id="16" name="Shape 14"/>
          <p:cNvSpPr/>
          <p:nvPr/>
        </p:nvSpPr>
        <p:spPr>
          <a:xfrm>
            <a:off x="831850" y="2835821"/>
            <a:ext cx="10528300" cy="391120"/>
          </a:xfrm>
          <a:custGeom>
            <a:avLst/>
            <a:gdLst/>
            <a:ahLst/>
            <a:cxnLst/>
            <a:rect l="l" t="t" r="r" b="b"/>
            <a:pathLst>
              <a:path w="10528300" h="391120">
                <a:moveTo>
                  <a:pt x="0" y="107950"/>
                </a:moveTo>
                <a:arcTo wR="107950" hR="107950" stAng="10800000" swAng="5400000"/>
                <a:lnTo>
                  <a:pt x="10420350" y="0"/>
                </a:lnTo>
                <a:arcTo wR="107950" hR="107950" stAng="16200000" swAng="5400000"/>
                <a:lnTo>
                  <a:pt x="10528300" y="391120"/>
                </a:lnTo>
                <a:lnTo>
                  <a:pt x="0" y="391120"/>
                </a:lnTo>
                <a:close/>
              </a:path>
            </a:pathLst>
          </a:custGeom>
          <a:solidFill>
            <a:srgbClr val="2A1A52"/>
          </a:solidFill>
          <a:ln/>
        </p:spPr>
        <p:txBody>
          <a:bodyPr/>
          <a:lstStyle/>
          <a:p>
            <a:endParaRPr lang="en-US"/>
          </a:p>
        </p:txBody>
      </p:sp>
      <p:sp>
        <p:nvSpPr>
          <p:cNvPr id="17" name="Shape 15"/>
          <p:cNvSpPr/>
          <p:nvPr/>
        </p:nvSpPr>
        <p:spPr>
          <a:xfrm>
            <a:off x="958850" y="2967881"/>
            <a:ext cx="127000" cy="127000"/>
          </a:xfrm>
          <a:prstGeom prst="roundRect">
            <a:avLst>
              <a:gd name="adj" fmla="val 50000"/>
            </a:avLst>
          </a:prstGeom>
          <a:solidFill>
            <a:srgbClr val="FF5F57"/>
          </a:solidFill>
          <a:ln/>
        </p:spPr>
        <p:txBody>
          <a:bodyPr/>
          <a:lstStyle/>
          <a:p>
            <a:endParaRPr lang="en-US"/>
          </a:p>
        </p:txBody>
      </p:sp>
      <p:sp>
        <p:nvSpPr>
          <p:cNvPr id="18" name="Shape 16"/>
          <p:cNvSpPr/>
          <p:nvPr/>
        </p:nvSpPr>
        <p:spPr>
          <a:xfrm>
            <a:off x="1162050" y="2967881"/>
            <a:ext cx="127000" cy="127000"/>
          </a:xfrm>
          <a:prstGeom prst="roundRect">
            <a:avLst>
              <a:gd name="adj" fmla="val 50000"/>
            </a:avLst>
          </a:prstGeom>
          <a:solidFill>
            <a:srgbClr val="FEBC2E"/>
          </a:solidFill>
          <a:ln/>
        </p:spPr>
        <p:txBody>
          <a:bodyPr/>
          <a:lstStyle/>
          <a:p>
            <a:endParaRPr lang="en-US"/>
          </a:p>
        </p:txBody>
      </p:sp>
      <p:sp>
        <p:nvSpPr>
          <p:cNvPr id="19" name="Shape 17"/>
          <p:cNvSpPr/>
          <p:nvPr/>
        </p:nvSpPr>
        <p:spPr>
          <a:xfrm>
            <a:off x="1365250" y="2967881"/>
            <a:ext cx="127000" cy="127000"/>
          </a:xfrm>
          <a:prstGeom prst="roundRect">
            <a:avLst>
              <a:gd name="adj" fmla="val 50000"/>
            </a:avLst>
          </a:prstGeom>
          <a:solidFill>
            <a:srgbClr val="28C840"/>
          </a:solidFill>
          <a:ln/>
        </p:spPr>
        <p:txBody>
          <a:bodyPr/>
          <a:lstStyle/>
          <a:p>
            <a:endParaRPr lang="en-US"/>
          </a:p>
        </p:txBody>
      </p:sp>
      <p:sp>
        <p:nvSpPr>
          <p:cNvPr id="20" name="Text 18"/>
          <p:cNvSpPr/>
          <p:nvPr/>
        </p:nvSpPr>
        <p:spPr>
          <a:xfrm>
            <a:off x="1670050" y="2924721"/>
            <a:ext cx="19751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JetBrains Mono" pitchFamily="49" charset="0"/>
                <a:ea typeface="JetBrains Mono" pitchFamily="49" charset="-122"/>
                <a:cs typeface="JetBrains Mono" pitchFamily="49" charset="-120"/>
              </a:rPr>
              <a:t>bash — space-goose</a:t>
            </a:r>
            <a:endParaRPr lang="en-US" sz="1200" dirty="0"/>
          </a:p>
        </p:txBody>
      </p:sp>
      <p:sp>
        <p:nvSpPr>
          <p:cNvPr id="21" name="Text 19"/>
          <p:cNvSpPr/>
          <p:nvPr/>
        </p:nvSpPr>
        <p:spPr>
          <a:xfrm>
            <a:off x="1035050" y="340474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status</a:t>
            </a:r>
            <a:endParaRPr lang="en-US" sz="1300" dirty="0"/>
          </a:p>
        </p:txBody>
      </p:sp>
      <p:sp>
        <p:nvSpPr>
          <p:cNvPr id="22" name="Text 20"/>
          <p:cNvSpPr/>
          <p:nvPr/>
        </p:nvSpPr>
        <p:spPr>
          <a:xfrm>
            <a:off x="1035050" y="366127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FF8A3D"/>
                </a:solidFill>
                <a:latin typeface="JetBrains Mono" pitchFamily="49" charset="0"/>
                <a:ea typeface="JetBrains Mono" pitchFamily="49" charset="-122"/>
                <a:cs typeface="JetBrains Mono" pitchFamily="49" charset="-120"/>
              </a:rPr>
              <a:t>    modified:   Assets/Scripts/PlayerController.cs</a:t>
            </a:r>
            <a:endParaRPr lang="en-US" sz="1300" dirty="0"/>
          </a:p>
        </p:txBody>
      </p:sp>
      <p:sp>
        <p:nvSpPr>
          <p:cNvPr id="23" name="Text 21"/>
          <p:cNvSpPr/>
          <p:nvPr/>
        </p:nvSpPr>
        <p:spPr>
          <a:xfrm>
            <a:off x="1035050" y="391780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add .</a:t>
            </a:r>
            <a:endParaRPr lang="en-US" sz="1300" dirty="0"/>
          </a:p>
        </p:txBody>
      </p:sp>
      <p:sp>
        <p:nvSpPr>
          <p:cNvPr id="24" name="Text 22"/>
          <p:cNvSpPr/>
          <p:nvPr/>
        </p:nvSpPr>
        <p:spPr>
          <a:xfrm>
            <a:off x="1035050" y="417433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commit -m </a:t>
            </a:r>
            <a:r>
              <a:rPr lang="en-US" sz="1300" dirty="0">
                <a:solidFill>
                  <a:srgbClr val="FFD23F"/>
                </a:solidFill>
                <a:latin typeface="JetBrains Mono" pitchFamily="49" charset="0"/>
                <a:ea typeface="JetBrains Mono" pitchFamily="49" charset="-122"/>
                <a:cs typeface="JetBrains Mono" pitchFamily="49" charset="-120"/>
              </a:rPr>
              <a:t>"Add double jump"</a:t>
            </a:r>
            <a:endParaRPr lang="en-US" sz="1300" dirty="0"/>
          </a:p>
        </p:txBody>
      </p:sp>
      <p:sp>
        <p:nvSpPr>
          <p:cNvPr id="25" name="Text 23"/>
          <p:cNvSpPr/>
          <p:nvPr/>
        </p:nvSpPr>
        <p:spPr>
          <a:xfrm>
            <a:off x="1035050" y="443086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[main 3f9a2c1] Add double jump · 1 file changed, 12 insertions(+)</a:t>
            </a:r>
            <a:endParaRPr lang="en-US" sz="1300" dirty="0"/>
          </a:p>
        </p:txBody>
      </p:sp>
      <p:sp>
        <p:nvSpPr>
          <p:cNvPr id="26" name="Text 24"/>
          <p:cNvSpPr/>
          <p:nvPr/>
        </p:nvSpPr>
        <p:spPr>
          <a:xfrm>
            <a:off x="1035050" y="468739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push</a:t>
            </a:r>
            <a:endParaRPr lang="en-US" sz="1300" dirty="0"/>
          </a:p>
        </p:txBody>
      </p:sp>
      <p:sp>
        <p:nvSpPr>
          <p:cNvPr id="27" name="Text 25"/>
          <p:cNvSpPr/>
          <p:nvPr/>
        </p:nvSpPr>
        <p:spPr>
          <a:xfrm>
            <a:off x="1035050" y="494392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To github.com:deanza-gamedev/space-goose.git</a:t>
            </a:r>
            <a:endParaRPr lang="en-US" sz="1300" dirty="0"/>
          </a:p>
        </p:txBody>
      </p:sp>
      <p:sp>
        <p:nvSpPr>
          <p:cNvPr id="28" name="Text 26"/>
          <p:cNvSpPr/>
          <p:nvPr/>
        </p:nvSpPr>
        <p:spPr>
          <a:xfrm>
            <a:off x="1035050" y="5200452"/>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   a1b2c3d..3f9a2c1  main -&gt; main 🚀</a:t>
            </a:r>
            <a:endParaRPr lang="en-US" sz="1300" dirty="0"/>
          </a:p>
        </p:txBody>
      </p:sp>
      <p:sp>
        <p:nvSpPr>
          <p:cNvPr id="29" name="Text 27"/>
          <p:cNvSpPr/>
          <p:nvPr/>
        </p:nvSpPr>
        <p:spPr>
          <a:xfrm rot="480000">
            <a:off x="9156700" y="2998465"/>
            <a:ext cx="1752600" cy="520700"/>
          </a:xfrm>
          <a:prstGeom prst="roundRect">
            <a:avLst>
              <a:gd name="adj" fmla="val 21951"/>
            </a:avLst>
          </a:prstGeom>
          <a:solidFill>
            <a:srgbClr val="FF4FA3"/>
          </a:solidFill>
          <a:ln w="25400">
            <a:solidFill>
              <a:srgbClr val="FFF4E0"/>
            </a:solidFill>
            <a:prstDash val="solid"/>
          </a:ln>
          <a:effectLst>
            <a:outerShdw dist="53882" dir="2700000" algn="bl" rotWithShape="0">
              <a:srgbClr val="FFD23F">
                <a:alpha val="100000"/>
              </a:srgbClr>
            </a:outerShdw>
          </a:effectLst>
        </p:spPr>
        <p:txBody>
          <a:bodyPr wrap="square" lIns="55423" tIns="68123" rIns="55423" bIns="42723" rtlCol="0" anchor="t">
            <a:normAutofit/>
          </a:bodyPr>
          <a:lstStyle/>
          <a:p>
            <a:pPr marL="0" indent="0" algn="ctr">
              <a:lnSpc>
                <a:spcPts val="2520"/>
              </a:lnSpc>
              <a:buNone/>
            </a:pPr>
            <a:r>
              <a:rPr lang="en-US" sz="1800" dirty="0">
                <a:solidFill>
                  <a:srgbClr val="1B1035"/>
                </a:solidFill>
                <a:latin typeface="Bungee" pitchFamily="34" charset="0"/>
                <a:ea typeface="Bungee" pitchFamily="34" charset="-122"/>
                <a:cs typeface="Bungee" pitchFamily="34" charset="-120"/>
              </a:rPr>
              <a:t>COMBO x3!</a:t>
            </a:r>
            <a:endParaRPr lang="en-US" sz="1800" dirty="0"/>
          </a:p>
        </p:txBody>
      </p:sp>
      <p:sp>
        <p:nvSpPr>
          <p:cNvPr id="30" name="Text 28"/>
          <p:cNvSpPr/>
          <p:nvPr/>
        </p:nvSpPr>
        <p:spPr>
          <a:xfrm rot="21360000">
            <a:off x="7886700" y="1092820"/>
            <a:ext cx="2959100" cy="450850"/>
          </a:xfrm>
          <a:prstGeom prst="roundRect">
            <a:avLst>
              <a:gd name="adj" fmla="val 50000"/>
            </a:avLst>
          </a:prstGeom>
          <a:solidFill>
            <a:srgbClr val="3BE8FF"/>
          </a:solidFill>
          <a:ln w="25400">
            <a:solidFill>
              <a:srgbClr val="1B1035"/>
            </a:solidFill>
            <a:prstDash val="solid"/>
          </a:ln>
          <a:effectLst>
            <a:outerShdw dist="53882" dir="2700000" algn="bl" rotWithShape="0">
              <a:srgbClr val="FF4FA3">
                <a:alpha val="100000"/>
              </a:srgbClr>
            </a:outerShdw>
          </a:effectLst>
        </p:spPr>
        <p:txBody>
          <a:bodyPr wrap="square" lIns="33480" tIns="35575" rIns="33480"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your whole daily routine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377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2 &gt; CO-OP</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15/30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Join a team project</a:t>
            </a:r>
            <a:endParaRPr lang="en-US" sz="4000" dirty="0"/>
          </a:p>
        </p:txBody>
      </p:sp>
      <p:sp>
        <p:nvSpPr>
          <p:cNvPr id="5" name="Shape 3"/>
          <p:cNvSpPr/>
          <p:nvPr/>
        </p:nvSpPr>
        <p:spPr>
          <a:xfrm>
            <a:off x="822325" y="1797645"/>
            <a:ext cx="6711950" cy="3841552"/>
          </a:xfrm>
          <a:prstGeom prst="roundRect">
            <a:avLst>
              <a:gd name="adj" fmla="val 3058"/>
            </a:avLst>
          </a:prstGeom>
          <a:solidFill>
            <a:srgbClr val="0E0A1F"/>
          </a:solidFill>
          <a:ln w="19050">
            <a:solidFill>
              <a:srgbClr val="1B1035"/>
            </a:solidFill>
            <a:prstDash val="solid"/>
          </a:ln>
          <a:effectLst>
            <a:outerShdw dist="89803" dir="2700000" algn="bl" rotWithShape="0">
              <a:srgbClr val="6A2FD6">
                <a:alpha val="100000"/>
              </a:srgbClr>
            </a:outerShdw>
          </a:effectLst>
        </p:spPr>
        <p:txBody>
          <a:bodyPr/>
          <a:lstStyle/>
          <a:p>
            <a:endParaRPr lang="en-US"/>
          </a:p>
        </p:txBody>
      </p:sp>
      <p:sp>
        <p:nvSpPr>
          <p:cNvPr id="6" name="Shape 4"/>
          <p:cNvSpPr/>
          <p:nvPr/>
        </p:nvSpPr>
        <p:spPr>
          <a:xfrm>
            <a:off x="831850" y="1807170"/>
            <a:ext cx="6692900" cy="391120"/>
          </a:xfrm>
          <a:custGeom>
            <a:avLst/>
            <a:gdLst/>
            <a:ahLst/>
            <a:cxnLst/>
            <a:rect l="l" t="t" r="r" b="b"/>
            <a:pathLst>
              <a:path w="6692900" h="391120">
                <a:moveTo>
                  <a:pt x="0" y="107950"/>
                </a:moveTo>
                <a:arcTo wR="107950" hR="107950" stAng="10800000" swAng="5400000"/>
                <a:lnTo>
                  <a:pt x="6584950" y="0"/>
                </a:lnTo>
                <a:arcTo wR="107950" hR="107950" stAng="16200000" swAng="5400000"/>
                <a:lnTo>
                  <a:pt x="6692900" y="391120"/>
                </a:lnTo>
                <a:lnTo>
                  <a:pt x="0" y="391120"/>
                </a:lnTo>
                <a:close/>
              </a:path>
            </a:pathLst>
          </a:custGeom>
          <a:solidFill>
            <a:srgbClr val="2A1A52"/>
          </a:solidFill>
          <a:ln/>
        </p:spPr>
        <p:txBody>
          <a:bodyPr/>
          <a:lstStyle/>
          <a:p>
            <a:endParaRPr lang="en-US"/>
          </a:p>
        </p:txBody>
      </p:sp>
      <p:sp>
        <p:nvSpPr>
          <p:cNvPr id="7" name="Shape 5"/>
          <p:cNvSpPr/>
          <p:nvPr/>
        </p:nvSpPr>
        <p:spPr>
          <a:xfrm>
            <a:off x="958850" y="1939230"/>
            <a:ext cx="127000" cy="127000"/>
          </a:xfrm>
          <a:prstGeom prst="roundRect">
            <a:avLst>
              <a:gd name="adj" fmla="val 50000"/>
            </a:avLst>
          </a:prstGeom>
          <a:solidFill>
            <a:srgbClr val="FF5F57"/>
          </a:solidFill>
          <a:ln/>
        </p:spPr>
        <p:txBody>
          <a:bodyPr/>
          <a:lstStyle/>
          <a:p>
            <a:endParaRPr lang="en-US"/>
          </a:p>
        </p:txBody>
      </p:sp>
      <p:sp>
        <p:nvSpPr>
          <p:cNvPr id="8" name="Shape 6"/>
          <p:cNvSpPr/>
          <p:nvPr/>
        </p:nvSpPr>
        <p:spPr>
          <a:xfrm>
            <a:off x="1162050" y="1939230"/>
            <a:ext cx="127000" cy="127000"/>
          </a:xfrm>
          <a:prstGeom prst="roundRect">
            <a:avLst>
              <a:gd name="adj" fmla="val 50000"/>
            </a:avLst>
          </a:prstGeom>
          <a:solidFill>
            <a:srgbClr val="FEBC2E"/>
          </a:solidFill>
          <a:ln/>
        </p:spPr>
        <p:txBody>
          <a:bodyPr/>
          <a:lstStyle/>
          <a:p>
            <a:endParaRPr lang="en-US"/>
          </a:p>
        </p:txBody>
      </p:sp>
      <p:sp>
        <p:nvSpPr>
          <p:cNvPr id="9" name="Shape 7"/>
          <p:cNvSpPr/>
          <p:nvPr/>
        </p:nvSpPr>
        <p:spPr>
          <a:xfrm>
            <a:off x="1365250" y="1939230"/>
            <a:ext cx="127000" cy="127000"/>
          </a:xfrm>
          <a:prstGeom prst="roundRect">
            <a:avLst>
              <a:gd name="adj" fmla="val 50000"/>
            </a:avLst>
          </a:prstGeom>
          <a:solidFill>
            <a:srgbClr val="28C840"/>
          </a:solidFill>
          <a:ln/>
        </p:spPr>
        <p:txBody>
          <a:bodyPr/>
          <a:lstStyle/>
          <a:p>
            <a:endParaRPr lang="en-US"/>
          </a:p>
        </p:txBody>
      </p:sp>
      <p:sp>
        <p:nvSpPr>
          <p:cNvPr id="10" name="Text 8"/>
          <p:cNvSpPr/>
          <p:nvPr/>
        </p:nvSpPr>
        <p:spPr>
          <a:xfrm>
            <a:off x="1670050" y="1896070"/>
            <a:ext cx="4389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JetBrains Mono" pitchFamily="49" charset="0"/>
                <a:ea typeface="JetBrains Mono" pitchFamily="49" charset="-122"/>
                <a:cs typeface="JetBrains Mono" pitchFamily="49" charset="-120"/>
              </a:rPr>
              <a:t>bash</a:t>
            </a:r>
            <a:endParaRPr lang="en-US" sz="1200" dirty="0"/>
          </a:p>
        </p:txBody>
      </p:sp>
      <p:sp>
        <p:nvSpPr>
          <p:cNvPr id="11" name="Text 9"/>
          <p:cNvSpPr/>
          <p:nvPr/>
        </p:nvSpPr>
        <p:spPr>
          <a:xfrm>
            <a:off x="1035050" y="237609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day 1: download the whole project</a:t>
            </a:r>
            <a:endParaRPr lang="en-US" sz="1300" dirty="0"/>
          </a:p>
        </p:txBody>
      </p:sp>
      <p:sp>
        <p:nvSpPr>
          <p:cNvPr id="12" name="Text 10"/>
          <p:cNvSpPr/>
          <p:nvPr/>
        </p:nvSpPr>
        <p:spPr>
          <a:xfrm>
            <a:off x="1035050" y="264532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clone </a:t>
            </a:r>
            <a:r>
              <a:rPr lang="en-US" sz="1300" dirty="0">
                <a:solidFill>
                  <a:srgbClr val="FFD23F"/>
                </a:solidFill>
                <a:latin typeface="JetBrains Mono" pitchFamily="49" charset="0"/>
                <a:ea typeface="JetBrains Mono" pitchFamily="49" charset="-122"/>
                <a:cs typeface="JetBrains Mono" pitchFamily="49" charset="-120"/>
              </a:rPr>
              <a:t>https://github.com/deanza-gamedev/space-goose.git</a:t>
            </a:r>
            <a:endParaRPr lang="en-US" sz="1300" dirty="0"/>
          </a:p>
        </p:txBody>
      </p:sp>
      <p:sp>
        <p:nvSpPr>
          <p:cNvPr id="13" name="Text 11"/>
          <p:cNvSpPr/>
          <p:nvPr/>
        </p:nvSpPr>
        <p:spPr>
          <a:xfrm>
            <a:off x="1035050" y="291455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Cloning into 'space-goose'... done.</a:t>
            </a:r>
            <a:endParaRPr lang="en-US" sz="1300" dirty="0"/>
          </a:p>
        </p:txBody>
      </p:sp>
      <p:sp>
        <p:nvSpPr>
          <p:cNvPr id="14" name="Text 12"/>
          <p:cNvSpPr/>
          <p:nvPr/>
        </p:nvSpPr>
        <p:spPr>
          <a:xfrm>
            <a:off x="1035050" y="318378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cd space-goose</a:t>
            </a:r>
            <a:endParaRPr lang="en-US" sz="1300" dirty="0"/>
          </a:p>
        </p:txBody>
      </p:sp>
      <p:sp>
        <p:nvSpPr>
          <p:cNvPr id="15" name="Text 13"/>
          <p:cNvSpPr/>
          <p:nvPr/>
        </p:nvSpPr>
        <p:spPr>
          <a:xfrm>
            <a:off x="1035050" y="372224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every day after: get teammates’ saves</a:t>
            </a:r>
            <a:endParaRPr lang="en-US" sz="1300" dirty="0"/>
          </a:p>
        </p:txBody>
      </p:sp>
      <p:sp>
        <p:nvSpPr>
          <p:cNvPr id="16" name="Text 14"/>
          <p:cNvSpPr/>
          <p:nvPr/>
        </p:nvSpPr>
        <p:spPr>
          <a:xfrm>
            <a:off x="1035050" y="399147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pull</a:t>
            </a:r>
            <a:endParaRPr lang="en-US" sz="1300" dirty="0"/>
          </a:p>
        </p:txBody>
      </p:sp>
      <p:sp>
        <p:nvSpPr>
          <p:cNvPr id="17" name="Text 15"/>
          <p:cNvSpPr/>
          <p:nvPr/>
        </p:nvSpPr>
        <p:spPr>
          <a:xfrm>
            <a:off x="1035050" y="426070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Updating 3f9a2c1..7e8f9a0 · Fast-forward</a:t>
            </a:r>
            <a:endParaRPr lang="en-US" sz="1300" dirty="0"/>
          </a:p>
        </p:txBody>
      </p:sp>
      <p:sp>
        <p:nvSpPr>
          <p:cNvPr id="18" name="Text 16"/>
          <p:cNvSpPr/>
          <p:nvPr/>
        </p:nvSpPr>
        <p:spPr>
          <a:xfrm>
            <a:off x="1035050" y="4529931"/>
            <a:ext cx="6475095"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3BE8FF"/>
                </a:solidFill>
                <a:latin typeface="JetBrains Mono" pitchFamily="49" charset="0"/>
                <a:ea typeface="JetBrains Mono" pitchFamily="49" charset="-122"/>
                <a:cs typeface="JetBrains Mono" pitchFamily="49" charset="-120"/>
              </a:rPr>
              <a:t> 3 files changed, 87 insertions(+) 🎉</a:t>
            </a:r>
            <a:endParaRPr lang="en-US" sz="1300" dirty="0"/>
          </a:p>
        </p:txBody>
      </p:sp>
      <p:sp>
        <p:nvSpPr>
          <p:cNvPr id="19" name="Shape 17"/>
          <p:cNvSpPr/>
          <p:nvPr/>
        </p:nvSpPr>
        <p:spPr>
          <a:xfrm>
            <a:off x="7861300" y="1800820"/>
            <a:ext cx="3505200" cy="1168350"/>
          </a:xfrm>
          <a:prstGeom prst="roundRect">
            <a:avLst>
              <a:gd name="adj" fmla="val 11957"/>
            </a:avLst>
          </a:prstGeom>
          <a:solidFill>
            <a:srgbClr val="FFFDF8"/>
          </a:solidFill>
          <a:ln w="25400">
            <a:solidFill>
              <a:srgbClr val="1B1035"/>
            </a:solidFill>
            <a:prstDash val="solid"/>
          </a:ln>
          <a:effectLst>
            <a:outerShdw dist="71842" dir="2700000" algn="bl" rotWithShape="0">
              <a:srgbClr val="3BE8FF">
                <a:alpha val="100000"/>
              </a:srgbClr>
            </a:outerShdw>
          </a:effectLst>
        </p:spPr>
        <p:txBody>
          <a:bodyPr/>
          <a:lstStyle/>
          <a:p>
            <a:endParaRPr lang="en-US"/>
          </a:p>
        </p:txBody>
      </p:sp>
      <p:sp>
        <p:nvSpPr>
          <p:cNvPr id="20" name="Text 18"/>
          <p:cNvSpPr/>
          <p:nvPr/>
        </p:nvSpPr>
        <p:spPr>
          <a:xfrm>
            <a:off x="8051800" y="1991320"/>
            <a:ext cx="321792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035"/>
                </a:solidFill>
                <a:latin typeface="Fredoka" pitchFamily="34" charset="0"/>
                <a:ea typeface="Fredoka" pitchFamily="34" charset="-122"/>
                <a:cs typeface="Fredoka" pitchFamily="34" charset="-120"/>
              </a:rPr>
              <a:t>📥 clone</a:t>
            </a:r>
            <a:endParaRPr lang="en-US" sz="1800" dirty="0"/>
          </a:p>
        </p:txBody>
      </p:sp>
      <p:sp>
        <p:nvSpPr>
          <p:cNvPr id="21" name="Text 19"/>
          <p:cNvSpPr/>
          <p:nvPr/>
        </p:nvSpPr>
        <p:spPr>
          <a:xfrm>
            <a:off x="8051800" y="2316411"/>
            <a:ext cx="321792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Download the project + every save. Do it once.</a:t>
            </a:r>
            <a:endParaRPr lang="en-US" sz="1300" dirty="0"/>
          </a:p>
        </p:txBody>
      </p:sp>
      <p:sp>
        <p:nvSpPr>
          <p:cNvPr id="22" name="Shape 20"/>
          <p:cNvSpPr/>
          <p:nvPr/>
        </p:nvSpPr>
        <p:spPr>
          <a:xfrm>
            <a:off x="7861300" y="3146971"/>
            <a:ext cx="3505200" cy="1168350"/>
          </a:xfrm>
          <a:prstGeom prst="roundRect">
            <a:avLst>
              <a:gd name="adj" fmla="val 11957"/>
            </a:avLst>
          </a:prstGeom>
          <a:solidFill>
            <a:srgbClr val="FFFDF8"/>
          </a:solidFill>
          <a:ln w="25400">
            <a:solidFill>
              <a:srgbClr val="1B1035"/>
            </a:solidFill>
            <a:prstDash val="solid"/>
          </a:ln>
          <a:effectLst>
            <a:outerShdw dist="71842" dir="2700000" algn="bl" rotWithShape="0">
              <a:srgbClr val="FF4FA3">
                <a:alpha val="100000"/>
              </a:srgbClr>
            </a:outerShdw>
          </a:effectLst>
        </p:spPr>
        <p:txBody>
          <a:bodyPr/>
          <a:lstStyle/>
          <a:p>
            <a:endParaRPr lang="en-US"/>
          </a:p>
        </p:txBody>
      </p:sp>
      <p:sp>
        <p:nvSpPr>
          <p:cNvPr id="23" name="Text 21"/>
          <p:cNvSpPr/>
          <p:nvPr/>
        </p:nvSpPr>
        <p:spPr>
          <a:xfrm>
            <a:off x="8051800" y="3337471"/>
            <a:ext cx="321792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035"/>
                </a:solidFill>
                <a:latin typeface="Fredoka" pitchFamily="34" charset="0"/>
                <a:ea typeface="Fredoka" pitchFamily="34" charset="-122"/>
                <a:cs typeface="Fredoka" pitchFamily="34" charset="-120"/>
              </a:rPr>
              <a:t>🔄 pull</a:t>
            </a:r>
            <a:endParaRPr lang="en-US" sz="1800" dirty="0"/>
          </a:p>
        </p:txBody>
      </p:sp>
      <p:sp>
        <p:nvSpPr>
          <p:cNvPr id="24" name="Text 22"/>
          <p:cNvSpPr/>
          <p:nvPr/>
        </p:nvSpPr>
        <p:spPr>
          <a:xfrm>
            <a:off x="8051800" y="3662561"/>
            <a:ext cx="3217926"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Grab your teammates’ newest saves. Do it daily.</a:t>
            </a:r>
            <a:endParaRPr lang="en-US" sz="1300" dirty="0"/>
          </a:p>
        </p:txBody>
      </p:sp>
      <p:sp>
        <p:nvSpPr>
          <p:cNvPr id="25" name="Shape 23"/>
          <p:cNvSpPr/>
          <p:nvPr/>
        </p:nvSpPr>
        <p:spPr>
          <a:xfrm>
            <a:off x="7861300" y="4493121"/>
            <a:ext cx="3505200" cy="1142901"/>
          </a:xfrm>
          <a:prstGeom prst="roundRect">
            <a:avLst>
              <a:gd name="adj" fmla="val 12223"/>
            </a:avLst>
          </a:prstGeom>
          <a:solidFill>
            <a:srgbClr val="FFD23F"/>
          </a:solidFill>
          <a:ln w="25400">
            <a:solidFill>
              <a:srgbClr val="1B1035"/>
            </a:solidFill>
            <a:prstDash val="solid"/>
          </a:ln>
        </p:spPr>
        <p:txBody>
          <a:bodyPr/>
          <a:lstStyle/>
          <a:p>
            <a:endParaRPr lang="en-US"/>
          </a:p>
        </p:txBody>
      </p:sp>
      <p:sp>
        <p:nvSpPr>
          <p:cNvPr id="26" name="Text 24"/>
          <p:cNvSpPr/>
          <p:nvPr/>
        </p:nvSpPr>
        <p:spPr>
          <a:xfrm>
            <a:off x="8051800" y="4683621"/>
            <a:ext cx="321792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035"/>
                </a:solidFill>
                <a:latin typeface="Press Start 2P" pitchFamily="49" charset="0"/>
                <a:ea typeface="Press Start 2P" pitchFamily="49" charset="-122"/>
                <a:cs typeface="Press Start 2P" pitchFamily="49" charset="-120"/>
              </a:rPr>
              <a:t>GOLDEN RULE</a:t>
            </a:r>
            <a:endParaRPr lang="en-US" sz="1200" dirty="0"/>
          </a:p>
        </p:txBody>
      </p:sp>
      <p:sp>
        <p:nvSpPr>
          <p:cNvPr id="27" name="Text 25"/>
          <p:cNvSpPr/>
          <p:nvPr/>
        </p:nvSpPr>
        <p:spPr>
          <a:xfrm>
            <a:off x="8051800" y="4947741"/>
            <a:ext cx="3217926"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1035"/>
                </a:solidFill>
                <a:latin typeface="Fredoka" pitchFamily="34" charset="0"/>
                <a:ea typeface="Fredoka" pitchFamily="34" charset="-122"/>
                <a:cs typeface="Fredoka" pitchFamily="34" charset="-120"/>
              </a:rPr>
              <a:t>PULL before you work. PUSH when you’re done. ✨</a:t>
            </a:r>
            <a:endParaRPr lang="en-US" sz="1400" dirty="0"/>
          </a:p>
        </p:txBody>
      </p:sp>
      <p:sp>
        <p:nvSpPr>
          <p:cNvPr id="28" name="Text 26"/>
          <p:cNvSpPr/>
          <p:nvPr/>
        </p:nvSpPr>
        <p:spPr>
          <a:xfrm rot="360000">
            <a:off x="8902700" y="1092820"/>
            <a:ext cx="2006600" cy="450850"/>
          </a:xfrm>
          <a:prstGeom prst="roundRect">
            <a:avLst>
              <a:gd name="adj" fmla="val 50000"/>
            </a:avLst>
          </a:prstGeom>
          <a:solidFill>
            <a:srgbClr val="3BE8FF"/>
          </a:solidFill>
          <a:ln w="25400">
            <a:solidFill>
              <a:srgbClr val="1B1035"/>
            </a:solidFill>
            <a:prstDash val="solid"/>
          </a:ln>
          <a:effectLst>
            <a:outerShdw dist="53882" dir="2700000" algn="bl" rotWithShape="0">
              <a:srgbClr val="1B1035">
                <a:alpha val="100000"/>
              </a:srgbClr>
            </a:outerShdw>
          </a:effectLst>
        </p:spPr>
        <p:txBody>
          <a:bodyPr wrap="square" lIns="47767" tIns="35575" rIns="4776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co-op mode 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035"/>
        </a:solidFill>
        <a:effectLst/>
      </p:bgPr>
    </p:bg>
    <p:spTree>
      <p:nvGrpSpPr>
        <p:cNvPr id="1" name=""/>
        <p:cNvGrpSpPr/>
        <p:nvPr/>
      </p:nvGrpSpPr>
      <p:grpSpPr>
        <a:xfrm>
          <a:off x="0" y="0"/>
          <a:ext cx="0" cy="0"/>
          <a:chOff x="0" y="0"/>
          <a:chExt cx="0" cy="0"/>
        </a:xfrm>
      </p:grpSpPr>
      <p:pic>
        <p:nvPicPr>
          <p:cNvPr id="2" name="Image 0" descr="Diagram: a feature branch splits off main, gets three commits, then merges back"/>
          <p:cNvPicPr>
            <a:picLocks noChangeAspect="1"/>
          </p:cNvPicPr>
          <p:nvPr/>
        </p:nvPicPr>
        <p:blipFill>
          <a:blip r:embed="rId3"/>
          <a:srcRect t="-31" b="-31"/>
          <a:stretch/>
        </p:blipFill>
        <p:spPr>
          <a:xfrm>
            <a:off x="812800" y="1778000"/>
            <a:ext cx="10566400" cy="1905000"/>
          </a:xfrm>
          <a:prstGeom prst="rect">
            <a:avLst/>
          </a:prstGeom>
        </p:spPr>
      </p:pic>
      <p:sp>
        <p:nvSpPr>
          <p:cNvPr id="3" name="Text 0"/>
          <p:cNvSpPr/>
          <p:nvPr/>
        </p:nvSpPr>
        <p:spPr>
          <a:xfrm>
            <a:off x="812800" y="609600"/>
            <a:ext cx="2560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2 &gt; BRANCH</a:t>
            </a:r>
            <a:endParaRPr lang="en-US" sz="1200" dirty="0"/>
          </a:p>
        </p:txBody>
      </p:sp>
      <p:sp>
        <p:nvSpPr>
          <p:cNvPr id="4"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16/30</a:t>
            </a:r>
            <a:endParaRPr lang="en-US" sz="1200" dirty="0"/>
          </a:p>
        </p:txBody>
      </p:sp>
      <p:sp>
        <p:nvSpPr>
          <p:cNvPr id="5" name="Text 2"/>
          <p:cNvSpPr>
            <a:spLocks noGrp="1"/>
          </p:cNvSpPr>
          <p:nvPr>
            <p:ph type="title"/>
          </p:nvPr>
        </p:nvSpPr>
        <p:spPr>
          <a:xfrm>
            <a:off x="812800" y="1026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FF4E0"/>
                </a:solidFill>
                <a:latin typeface="Bungee" pitchFamily="34" charset="0"/>
                <a:ea typeface="Bungee" pitchFamily="34" charset="-122"/>
                <a:cs typeface="Bungee" pitchFamily="34" charset="-120"/>
              </a:rPr>
              <a:t>Branches: parallel worlds 🌌</a:t>
            </a:r>
            <a:endParaRPr lang="en-US" sz="3600" dirty="0"/>
          </a:p>
        </p:txBody>
      </p:sp>
      <p:sp>
        <p:nvSpPr>
          <p:cNvPr id="6" name="Shape 3"/>
          <p:cNvSpPr/>
          <p:nvPr/>
        </p:nvSpPr>
        <p:spPr>
          <a:xfrm>
            <a:off x="822325" y="3849936"/>
            <a:ext cx="10547350" cy="1715691"/>
          </a:xfrm>
          <a:prstGeom prst="roundRect">
            <a:avLst>
              <a:gd name="adj" fmla="val 6847"/>
            </a:avLst>
          </a:prstGeom>
          <a:solidFill>
            <a:srgbClr val="0E0A1F"/>
          </a:solidFill>
          <a:ln w="19050">
            <a:solidFill>
              <a:srgbClr val="FF4FA3"/>
            </a:solidFill>
            <a:prstDash val="solid"/>
          </a:ln>
          <a:effectLst>
            <a:outerShdw dist="89803" dir="2700000" algn="bl" rotWithShape="0">
              <a:srgbClr val="FF4FA3">
                <a:alpha val="100000"/>
              </a:srgbClr>
            </a:outerShdw>
          </a:effectLst>
        </p:spPr>
        <p:txBody>
          <a:bodyPr/>
          <a:lstStyle/>
          <a:p>
            <a:endParaRPr lang="en-US"/>
          </a:p>
        </p:txBody>
      </p:sp>
      <p:sp>
        <p:nvSpPr>
          <p:cNvPr id="7" name="Shape 4"/>
          <p:cNvSpPr/>
          <p:nvPr/>
        </p:nvSpPr>
        <p:spPr>
          <a:xfrm>
            <a:off x="831850" y="3859461"/>
            <a:ext cx="10528300" cy="391120"/>
          </a:xfrm>
          <a:custGeom>
            <a:avLst/>
            <a:gdLst/>
            <a:ahLst/>
            <a:cxnLst/>
            <a:rect l="l" t="t" r="r" b="b"/>
            <a:pathLst>
              <a:path w="10528300" h="391120">
                <a:moveTo>
                  <a:pt x="0" y="107950"/>
                </a:moveTo>
                <a:arcTo wR="107950" hR="107950" stAng="10800000" swAng="5400000"/>
                <a:lnTo>
                  <a:pt x="10420350" y="0"/>
                </a:lnTo>
                <a:arcTo wR="107950" hR="107950" stAng="16200000" swAng="5400000"/>
                <a:lnTo>
                  <a:pt x="10528300" y="391120"/>
                </a:lnTo>
                <a:lnTo>
                  <a:pt x="0" y="391120"/>
                </a:lnTo>
                <a:close/>
              </a:path>
            </a:pathLst>
          </a:custGeom>
          <a:solidFill>
            <a:srgbClr val="2A1A52"/>
          </a:solidFill>
          <a:ln/>
        </p:spPr>
        <p:txBody>
          <a:bodyPr/>
          <a:lstStyle/>
          <a:p>
            <a:endParaRPr lang="en-US"/>
          </a:p>
        </p:txBody>
      </p:sp>
      <p:sp>
        <p:nvSpPr>
          <p:cNvPr id="8" name="Shape 5"/>
          <p:cNvSpPr/>
          <p:nvPr/>
        </p:nvSpPr>
        <p:spPr>
          <a:xfrm>
            <a:off x="958850" y="3991521"/>
            <a:ext cx="127000" cy="127000"/>
          </a:xfrm>
          <a:prstGeom prst="roundRect">
            <a:avLst>
              <a:gd name="adj" fmla="val 50000"/>
            </a:avLst>
          </a:prstGeom>
          <a:solidFill>
            <a:srgbClr val="FF5F57"/>
          </a:solidFill>
          <a:ln/>
        </p:spPr>
        <p:txBody>
          <a:bodyPr/>
          <a:lstStyle/>
          <a:p>
            <a:endParaRPr lang="en-US"/>
          </a:p>
        </p:txBody>
      </p:sp>
      <p:sp>
        <p:nvSpPr>
          <p:cNvPr id="9" name="Shape 6"/>
          <p:cNvSpPr/>
          <p:nvPr/>
        </p:nvSpPr>
        <p:spPr>
          <a:xfrm>
            <a:off x="1162050" y="3991521"/>
            <a:ext cx="127000" cy="127000"/>
          </a:xfrm>
          <a:prstGeom prst="roundRect">
            <a:avLst>
              <a:gd name="adj" fmla="val 50000"/>
            </a:avLst>
          </a:prstGeom>
          <a:solidFill>
            <a:srgbClr val="FEBC2E"/>
          </a:solidFill>
          <a:ln/>
        </p:spPr>
        <p:txBody>
          <a:bodyPr/>
          <a:lstStyle/>
          <a:p>
            <a:endParaRPr lang="en-US"/>
          </a:p>
        </p:txBody>
      </p:sp>
      <p:sp>
        <p:nvSpPr>
          <p:cNvPr id="10" name="Shape 7"/>
          <p:cNvSpPr/>
          <p:nvPr/>
        </p:nvSpPr>
        <p:spPr>
          <a:xfrm>
            <a:off x="1365250" y="3991521"/>
            <a:ext cx="127000" cy="127000"/>
          </a:xfrm>
          <a:prstGeom prst="roundRect">
            <a:avLst>
              <a:gd name="adj" fmla="val 50000"/>
            </a:avLst>
          </a:prstGeom>
          <a:solidFill>
            <a:srgbClr val="28C840"/>
          </a:solidFill>
          <a:ln/>
        </p:spPr>
        <p:txBody>
          <a:bodyPr/>
          <a:lstStyle/>
          <a:p>
            <a:endParaRPr lang="en-US"/>
          </a:p>
        </p:txBody>
      </p:sp>
      <p:sp>
        <p:nvSpPr>
          <p:cNvPr id="11" name="Text 8"/>
          <p:cNvSpPr/>
          <p:nvPr/>
        </p:nvSpPr>
        <p:spPr>
          <a:xfrm>
            <a:off x="1670050" y="3948361"/>
            <a:ext cx="4389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JetBrains Mono" pitchFamily="49" charset="0"/>
                <a:ea typeface="JetBrains Mono" pitchFamily="49" charset="-122"/>
                <a:cs typeface="JetBrains Mono" pitchFamily="49" charset="-120"/>
              </a:rPr>
              <a:t>bash</a:t>
            </a:r>
            <a:endParaRPr lang="en-US" sz="1200" dirty="0"/>
          </a:p>
        </p:txBody>
      </p:sp>
      <p:sp>
        <p:nvSpPr>
          <p:cNvPr id="12" name="Text 9"/>
          <p:cNvSpPr/>
          <p:nvPr/>
        </p:nvSpPr>
        <p:spPr>
          <a:xfrm>
            <a:off x="1035050" y="440298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switch -c feature/double-jump   </a:t>
            </a:r>
            <a:r>
              <a:rPr lang="en-US" sz="1300" dirty="0">
                <a:solidFill>
                  <a:srgbClr val="9A90C2"/>
                </a:solidFill>
                <a:latin typeface="JetBrains Mono" pitchFamily="49" charset="0"/>
                <a:ea typeface="JetBrains Mono" pitchFamily="49" charset="-122"/>
                <a:cs typeface="JetBrains Mono" pitchFamily="49" charset="-120"/>
              </a:rPr>
              <a:t># open a new universe</a:t>
            </a:r>
            <a:endParaRPr lang="en-US" sz="1300" dirty="0"/>
          </a:p>
        </p:txBody>
      </p:sp>
      <p:sp>
        <p:nvSpPr>
          <p:cNvPr id="13" name="Text 10"/>
          <p:cNvSpPr/>
          <p:nvPr/>
        </p:nvSpPr>
        <p:spPr>
          <a:xfrm>
            <a:off x="1035050" y="465951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commit -am </a:t>
            </a:r>
            <a:r>
              <a:rPr lang="en-US" sz="1300" dirty="0">
                <a:solidFill>
                  <a:srgbClr val="FFD23F"/>
                </a:solidFill>
                <a:latin typeface="JetBrains Mono" pitchFamily="49" charset="0"/>
                <a:ea typeface="JetBrains Mono" pitchFamily="49" charset="-122"/>
                <a:cs typeface="JetBrains Mono" pitchFamily="49" charset="-120"/>
              </a:rPr>
              <a:t>"Double jump works!"</a:t>
            </a:r>
            <a:r>
              <a:rPr lang="en-US" sz="1300" dirty="0">
                <a:solidFill>
                  <a:srgbClr val="E9E1FF"/>
                </a:solidFill>
                <a:latin typeface="JetBrains Mono" pitchFamily="49" charset="0"/>
                <a:ea typeface="JetBrains Mono" pitchFamily="49" charset="-122"/>
                <a:cs typeface="JetBrains Mono" pitchFamily="49" charset="-120"/>
              </a:rPr>
              <a:t>  </a:t>
            </a:r>
            <a:r>
              <a:rPr lang="en-US" sz="1300" dirty="0">
                <a:solidFill>
                  <a:srgbClr val="9A90C2"/>
                </a:solidFill>
                <a:latin typeface="JetBrains Mono" pitchFamily="49" charset="0"/>
                <a:ea typeface="JetBrains Mono" pitchFamily="49" charset="-122"/>
                <a:cs typeface="JetBrains Mono" pitchFamily="49" charset="-120"/>
              </a:rPr>
              <a:t># save inside it</a:t>
            </a:r>
            <a:endParaRPr lang="en-US" sz="1300" dirty="0"/>
          </a:p>
        </p:txBody>
      </p:sp>
      <p:sp>
        <p:nvSpPr>
          <p:cNvPr id="14" name="Text 11"/>
          <p:cNvSpPr/>
          <p:nvPr/>
        </p:nvSpPr>
        <p:spPr>
          <a:xfrm>
            <a:off x="1035050" y="491604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switch main                    </a:t>
            </a:r>
            <a:r>
              <a:rPr lang="en-US" sz="1300" dirty="0">
                <a:solidFill>
                  <a:srgbClr val="9A90C2"/>
                </a:solidFill>
                <a:latin typeface="JetBrains Mono" pitchFamily="49" charset="0"/>
                <a:ea typeface="JetBrains Mono" pitchFamily="49" charset="-122"/>
                <a:cs typeface="JetBrains Mono" pitchFamily="49" charset="-120"/>
              </a:rPr>
              <a:t># go home</a:t>
            </a:r>
            <a:endParaRPr lang="en-US" sz="1300" dirty="0"/>
          </a:p>
        </p:txBody>
      </p:sp>
      <p:sp>
        <p:nvSpPr>
          <p:cNvPr id="15" name="Text 12"/>
          <p:cNvSpPr/>
          <p:nvPr/>
        </p:nvSpPr>
        <p:spPr>
          <a:xfrm>
            <a:off x="1035050" y="5172571"/>
            <a:ext cx="10425557"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B6FF3B"/>
                </a:solidFill>
                <a:latin typeface="JetBrains Mono" pitchFamily="49" charset="0"/>
                <a:ea typeface="JetBrains Mono" pitchFamily="49" charset="-122"/>
                <a:cs typeface="JetBrains Mono" pitchFamily="49" charset="-120"/>
              </a:rPr>
              <a:t>$</a:t>
            </a:r>
            <a:r>
              <a:rPr lang="en-US" sz="1300" dirty="0">
                <a:solidFill>
                  <a:srgbClr val="E9E1FF"/>
                </a:solidFill>
                <a:latin typeface="JetBrains Mono" pitchFamily="49" charset="0"/>
                <a:ea typeface="JetBrains Mono" pitchFamily="49" charset="-122"/>
                <a:cs typeface="JetBrains Mono" pitchFamily="49" charset="-120"/>
              </a:rPr>
              <a:t> git merge feature/double-jump     </a:t>
            </a:r>
            <a:r>
              <a:rPr lang="en-US" sz="1300" dirty="0">
                <a:solidFill>
                  <a:srgbClr val="9A90C2"/>
                </a:solidFill>
                <a:latin typeface="JetBrains Mono" pitchFamily="49" charset="0"/>
                <a:ea typeface="JetBrains Mono" pitchFamily="49" charset="-122"/>
                <a:cs typeface="JetBrains Mono" pitchFamily="49" charset="-120"/>
              </a:rPr>
              <a:t># bring it in 🎉</a:t>
            </a:r>
            <a:endParaRPr lang="en-US" sz="1300" dirty="0"/>
          </a:p>
        </p:txBody>
      </p:sp>
      <p:sp>
        <p:nvSpPr>
          <p:cNvPr id="16" name="Text 13"/>
          <p:cNvSpPr/>
          <p:nvPr/>
        </p:nvSpPr>
        <p:spPr>
          <a:xfrm>
            <a:off x="952500" y="2984500"/>
            <a:ext cx="10668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BE8FF"/>
                </a:solidFill>
                <a:latin typeface="JetBrains Mono" pitchFamily="49" charset="0"/>
                <a:ea typeface="JetBrains Mono" pitchFamily="49" charset="-122"/>
                <a:cs typeface="JetBrains Mono" pitchFamily="49" charset="-120"/>
              </a:rPr>
              <a:t>main</a:t>
            </a:r>
            <a:endParaRPr lang="en-US" sz="1400" dirty="0"/>
          </a:p>
        </p:txBody>
      </p:sp>
      <p:sp>
        <p:nvSpPr>
          <p:cNvPr id="17" name="Text 14"/>
          <p:cNvSpPr/>
          <p:nvPr/>
        </p:nvSpPr>
        <p:spPr>
          <a:xfrm>
            <a:off x="4699000" y="1828800"/>
            <a:ext cx="287782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4FA3"/>
                </a:solidFill>
                <a:latin typeface="JetBrains Mono" pitchFamily="49" charset="0"/>
                <a:ea typeface="JetBrains Mono" pitchFamily="49" charset="-122"/>
                <a:cs typeface="JetBrains Mono" pitchFamily="49" charset="-120"/>
              </a:rPr>
              <a:t>feature/double-jump</a:t>
            </a:r>
            <a:endParaRPr lang="en-US" sz="1400" dirty="0"/>
          </a:p>
        </p:txBody>
      </p:sp>
      <p:sp>
        <p:nvSpPr>
          <p:cNvPr id="18" name="Text 15"/>
          <p:cNvSpPr/>
          <p:nvPr/>
        </p:nvSpPr>
        <p:spPr>
          <a:xfrm>
            <a:off x="4699000" y="2527300"/>
            <a:ext cx="287782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new idea, safe sandbox 🧪</a:t>
            </a:r>
            <a:endParaRPr lang="en-US" sz="1300" dirty="0"/>
          </a:p>
        </p:txBody>
      </p:sp>
      <p:sp>
        <p:nvSpPr>
          <p:cNvPr id="19" name="Text 16"/>
          <p:cNvSpPr/>
          <p:nvPr/>
        </p:nvSpPr>
        <p:spPr>
          <a:xfrm>
            <a:off x="4191000" y="3429000"/>
            <a:ext cx="300863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main stays playable the whole time 🎮</a:t>
            </a:r>
            <a:endParaRPr lang="en-US" sz="1300" dirty="0"/>
          </a:p>
        </p:txBody>
      </p:sp>
      <p:sp>
        <p:nvSpPr>
          <p:cNvPr id="20" name="Text 17"/>
          <p:cNvSpPr/>
          <p:nvPr/>
        </p:nvSpPr>
        <p:spPr>
          <a:xfrm>
            <a:off x="8191500" y="3543300"/>
            <a:ext cx="17018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6FF3B"/>
                </a:solidFill>
                <a:latin typeface="Fredoka" pitchFamily="34" charset="0"/>
                <a:ea typeface="Fredoka" pitchFamily="34" charset="-122"/>
                <a:cs typeface="Fredoka" pitchFamily="34" charset="-120"/>
              </a:rPr>
              <a:t>merge! 🎉</a:t>
            </a:r>
            <a:endParaRPr lang="en-US" sz="1400" dirty="0"/>
          </a:p>
        </p:txBody>
      </p:sp>
      <p:sp>
        <p:nvSpPr>
          <p:cNvPr id="21" name="Text 18"/>
          <p:cNvSpPr/>
          <p:nvPr/>
        </p:nvSpPr>
        <p:spPr>
          <a:xfrm rot="21300000">
            <a:off x="8775700" y="4585320"/>
            <a:ext cx="2260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FF4FA3">
                <a:alpha val="100000"/>
              </a:srgbClr>
            </a:outerShdw>
          </a:effectLst>
        </p:spPr>
        <p:txBody>
          <a:bodyPr wrap="square" lIns="43957" tIns="35575" rIns="4395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delete if it sucks 🗑</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194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2 &gt; BOSS</a:t>
            </a:r>
            <a:endParaRPr lang="en-US" sz="1200" dirty="0"/>
          </a:p>
        </p:txBody>
      </p:sp>
      <p:sp>
        <p:nvSpPr>
          <p:cNvPr id="3" name="Text 1"/>
          <p:cNvSpPr/>
          <p:nvPr/>
        </p:nvSpPr>
        <p:spPr>
          <a:xfrm>
            <a:off x="9951938" y="609600"/>
            <a:ext cx="1427262"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17/30</a:t>
            </a:r>
            <a:endParaRPr lang="en-US" sz="1200" dirty="0"/>
          </a:p>
        </p:txBody>
      </p:sp>
      <p:sp>
        <p:nvSpPr>
          <p:cNvPr id="4" name="Text 2"/>
          <p:cNvSpPr>
            <a:spLocks noGrp="1"/>
          </p:cNvSpPr>
          <p:nvPr>
            <p:ph type="title"/>
          </p:nvPr>
        </p:nvSpPr>
        <p:spPr>
          <a:xfrm>
            <a:off x="812800" y="1026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FF4E0"/>
                </a:solidFill>
                <a:latin typeface="Bungee" pitchFamily="34" charset="0"/>
                <a:ea typeface="Bungee" pitchFamily="34" charset="-122"/>
                <a:cs typeface="Bungee" pitchFamily="34" charset="-120"/>
              </a:rPr>
              <a:t>Boss fight: merge conflict ⚔️</a:t>
            </a:r>
            <a:endParaRPr lang="en-US" sz="3600" dirty="0"/>
          </a:p>
        </p:txBody>
      </p:sp>
      <p:sp>
        <p:nvSpPr>
          <p:cNvPr id="5" name="Shape 3"/>
          <p:cNvSpPr/>
          <p:nvPr/>
        </p:nvSpPr>
        <p:spPr>
          <a:xfrm>
            <a:off x="822325" y="1741736"/>
            <a:ext cx="6457950" cy="2337941"/>
          </a:xfrm>
          <a:prstGeom prst="roundRect">
            <a:avLst>
              <a:gd name="adj" fmla="val 5025"/>
            </a:avLst>
          </a:prstGeom>
          <a:solidFill>
            <a:srgbClr val="1E1E1E"/>
          </a:solidFill>
          <a:ln w="19050">
            <a:solidFill>
              <a:srgbClr val="FF4FA3"/>
            </a:solidFill>
            <a:prstDash val="solid"/>
          </a:ln>
          <a:effectLst>
            <a:outerShdw dist="89803" dir="2700000" algn="bl" rotWithShape="0">
              <a:srgbClr val="FF4FA3">
                <a:alpha val="100000"/>
              </a:srgbClr>
            </a:outerShdw>
          </a:effectLst>
        </p:spPr>
        <p:txBody>
          <a:bodyPr/>
          <a:lstStyle/>
          <a:p>
            <a:endParaRPr lang="en-US"/>
          </a:p>
        </p:txBody>
      </p:sp>
      <p:sp>
        <p:nvSpPr>
          <p:cNvPr id="6" name="Text 4"/>
          <p:cNvSpPr/>
          <p:nvPr/>
        </p:nvSpPr>
        <p:spPr>
          <a:xfrm>
            <a:off x="831850" y="1751261"/>
            <a:ext cx="6438900" cy="365720"/>
          </a:xfrm>
          <a:custGeom>
            <a:avLst/>
            <a:gdLst/>
            <a:ahLst/>
            <a:cxnLst/>
            <a:rect l="l" t="t" r="r" b="b"/>
            <a:pathLst>
              <a:path w="6438900" h="365720">
                <a:moveTo>
                  <a:pt x="0" y="107950"/>
                </a:moveTo>
                <a:arcTo wR="107950" hR="107950" stAng="10800000" swAng="5400000"/>
                <a:lnTo>
                  <a:pt x="6330950" y="0"/>
                </a:lnTo>
                <a:arcTo wR="107950" hR="107950" stAng="16200000" swAng="5400000"/>
                <a:lnTo>
                  <a:pt x="6438900" y="365720"/>
                </a:lnTo>
                <a:lnTo>
                  <a:pt x="0" y="365720"/>
                </a:lnTo>
                <a:close/>
              </a:path>
            </a:pathLst>
          </a:custGeom>
          <a:solidFill>
            <a:srgbClr val="2D2D2D"/>
          </a:solidFill>
          <a:ln/>
        </p:spPr>
        <p:txBody>
          <a:bodyPr wrap="square" lIns="152400" tIns="63500" rIns="152400" bIns="63500" rtlCol="0" anchor="ctr">
            <a:normAutofit/>
          </a:bodyPr>
          <a:lstStyle/>
          <a:p>
            <a:pPr marL="0" indent="0" algn="l">
              <a:lnSpc>
                <a:spcPts val="1680"/>
              </a:lnSpc>
              <a:buNone/>
            </a:pPr>
            <a:r>
              <a:rPr lang="en-US" sz="1200" dirty="0">
                <a:solidFill>
                  <a:srgbClr val="E9E1FF"/>
                </a:solidFill>
                <a:latin typeface="JetBrains Mono" pitchFamily="49" charset="0"/>
                <a:ea typeface="JetBrains Mono" pitchFamily="49" charset="-122"/>
                <a:cs typeface="JetBrains Mono" pitchFamily="49" charset="-120"/>
              </a:rPr>
              <a:t>PlayerController.cs ⚠️</a:t>
            </a:r>
            <a:endParaRPr lang="en-US" sz="1200" dirty="0"/>
          </a:p>
        </p:txBody>
      </p:sp>
      <p:sp>
        <p:nvSpPr>
          <p:cNvPr id="7" name="Text 5"/>
          <p:cNvSpPr/>
          <p:nvPr/>
        </p:nvSpPr>
        <p:spPr>
          <a:xfrm>
            <a:off x="984250" y="2243981"/>
            <a:ext cx="6318123"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9A90C2"/>
                </a:solidFill>
                <a:latin typeface="Arial" pitchFamily="34" charset="0"/>
                <a:ea typeface="Arial" pitchFamily="34" charset="-122"/>
                <a:cs typeface="Arial" pitchFamily="34" charset="-120"/>
              </a:rPr>
              <a:t>Accept Current | Accept Incoming | Accept Both | Compare</a:t>
            </a:r>
            <a:endParaRPr lang="en-US" sz="1200" dirty="0"/>
          </a:p>
        </p:txBody>
      </p:sp>
      <p:sp>
        <p:nvSpPr>
          <p:cNvPr id="8" name="Text 6"/>
          <p:cNvSpPr/>
          <p:nvPr/>
        </p:nvSpPr>
        <p:spPr>
          <a:xfrm>
            <a:off x="831850" y="2533501"/>
            <a:ext cx="6438900" cy="281930"/>
          </a:xfrm>
          <a:prstGeom prst="rect">
            <a:avLst/>
          </a:prstGeom>
          <a:solidFill>
            <a:srgbClr val="1F4A33"/>
          </a:solidFill>
          <a:ln/>
        </p:spPr>
        <p:txBody>
          <a:bodyPr wrap="none" lIns="152400" tIns="25400" rIns="0" bIns="0" rtlCol="0" anchor="t">
            <a:normAutofit/>
          </a:bodyPr>
          <a:lstStyle/>
          <a:p>
            <a:pPr marL="0" indent="0" algn="l">
              <a:lnSpc>
                <a:spcPts val="1820"/>
              </a:lnSpc>
              <a:buNone/>
            </a:pPr>
            <a:r>
              <a:rPr lang="en-US" sz="1300" dirty="0">
                <a:solidFill>
                  <a:srgbClr val="9DF5B8"/>
                </a:solidFill>
                <a:latin typeface="JetBrains Mono" pitchFamily="49" charset="0"/>
                <a:ea typeface="JetBrains Mono" pitchFamily="49" charset="-122"/>
                <a:cs typeface="JetBrains Mono" pitchFamily="49" charset="-120"/>
              </a:rPr>
              <a:t>&lt;&lt;&lt;&lt;&lt;&lt;&lt; HEAD (your change)</a:t>
            </a:r>
            <a:endParaRPr lang="en-US" sz="1300" dirty="0"/>
          </a:p>
        </p:txBody>
      </p:sp>
      <p:sp>
        <p:nvSpPr>
          <p:cNvPr id="9" name="Text 7"/>
          <p:cNvSpPr/>
          <p:nvPr/>
        </p:nvSpPr>
        <p:spPr>
          <a:xfrm>
            <a:off x="831850" y="2815431"/>
            <a:ext cx="6438900" cy="281930"/>
          </a:xfrm>
          <a:prstGeom prst="rect">
            <a:avLst/>
          </a:prstGeom>
          <a:solidFill>
            <a:srgbClr val="1F3B2A"/>
          </a:solidFill>
          <a:ln/>
        </p:spPr>
        <p:txBody>
          <a:bodyPr wrap="none" lIns="152400" tIns="2540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float jumpForce = 10f;</a:t>
            </a:r>
            <a:endParaRPr lang="en-US" sz="1300" dirty="0"/>
          </a:p>
        </p:txBody>
      </p:sp>
      <p:sp>
        <p:nvSpPr>
          <p:cNvPr id="10" name="Text 8"/>
          <p:cNvSpPr/>
          <p:nvPr/>
        </p:nvSpPr>
        <p:spPr>
          <a:xfrm>
            <a:off x="984250" y="3122761"/>
            <a:ext cx="6318123"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FFD23F"/>
                </a:solidFill>
                <a:latin typeface="JetBrains Mono" pitchFamily="49" charset="0"/>
                <a:ea typeface="JetBrains Mono" pitchFamily="49" charset="-122"/>
                <a:cs typeface="JetBrains Mono" pitchFamily="49" charset="-120"/>
              </a:rPr>
              <a:t>=======</a:t>
            </a:r>
            <a:endParaRPr lang="en-US" sz="1300" dirty="0"/>
          </a:p>
        </p:txBody>
      </p:sp>
      <p:sp>
        <p:nvSpPr>
          <p:cNvPr id="11" name="Text 9"/>
          <p:cNvSpPr/>
          <p:nvPr/>
        </p:nvSpPr>
        <p:spPr>
          <a:xfrm>
            <a:off x="831850" y="3379291"/>
            <a:ext cx="6438900" cy="281930"/>
          </a:xfrm>
          <a:prstGeom prst="rect">
            <a:avLst/>
          </a:prstGeom>
          <a:solidFill>
            <a:srgbClr val="1B2F4A"/>
          </a:solidFill>
          <a:ln/>
        </p:spPr>
        <p:txBody>
          <a:bodyPr wrap="none" lIns="152400" tIns="2540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float jumpForce = 9000f; </a:t>
            </a:r>
            <a:r>
              <a:rPr lang="en-US" sz="1300" dirty="0">
                <a:solidFill>
                  <a:srgbClr val="9A90C2"/>
                </a:solidFill>
                <a:latin typeface="JetBrains Mono" pitchFamily="49" charset="0"/>
                <a:ea typeface="JetBrains Mono" pitchFamily="49" charset="-122"/>
                <a:cs typeface="JetBrains Mono" pitchFamily="49" charset="-120"/>
              </a:rPr>
              <a:t>// trust me bro</a:t>
            </a:r>
            <a:endParaRPr lang="en-US" sz="1300" dirty="0"/>
          </a:p>
        </p:txBody>
      </p:sp>
      <p:sp>
        <p:nvSpPr>
          <p:cNvPr id="12" name="Text 10"/>
          <p:cNvSpPr/>
          <p:nvPr/>
        </p:nvSpPr>
        <p:spPr>
          <a:xfrm>
            <a:off x="831850" y="3661221"/>
            <a:ext cx="6438900" cy="281930"/>
          </a:xfrm>
          <a:prstGeom prst="rect">
            <a:avLst/>
          </a:prstGeom>
          <a:solidFill>
            <a:srgbClr val="1D3E66"/>
          </a:solidFill>
          <a:ln/>
        </p:spPr>
        <p:txBody>
          <a:bodyPr wrap="none" lIns="152400" tIns="25400" rIns="0" bIns="0" rtlCol="0" anchor="t">
            <a:normAutofit/>
          </a:bodyPr>
          <a:lstStyle/>
          <a:p>
            <a:pPr marL="0" indent="0" algn="l">
              <a:lnSpc>
                <a:spcPts val="1820"/>
              </a:lnSpc>
              <a:buNone/>
            </a:pPr>
            <a:r>
              <a:rPr lang="en-US" sz="1300" dirty="0">
                <a:solidFill>
                  <a:srgbClr val="9CCBFF"/>
                </a:solidFill>
                <a:latin typeface="JetBrains Mono" pitchFamily="49" charset="0"/>
                <a:ea typeface="JetBrains Mono" pitchFamily="49" charset="-122"/>
                <a:cs typeface="JetBrains Mono" pitchFamily="49" charset="-120"/>
              </a:rPr>
              <a:t>&gt;&gt;&gt;&gt;&gt;&gt;&gt; feature/super-jump (theirs)</a:t>
            </a:r>
            <a:endParaRPr lang="en-US" sz="1300" dirty="0"/>
          </a:p>
        </p:txBody>
      </p:sp>
      <p:sp>
        <p:nvSpPr>
          <p:cNvPr id="13" name="Text 11"/>
          <p:cNvSpPr/>
          <p:nvPr/>
        </p:nvSpPr>
        <p:spPr>
          <a:xfrm>
            <a:off x="7594600" y="1732211"/>
            <a:ext cx="38981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D23F"/>
                </a:solidFill>
                <a:latin typeface="Press Start 2P" pitchFamily="49" charset="0"/>
                <a:ea typeface="Press Start 2P" pitchFamily="49" charset="-122"/>
                <a:cs typeface="Press Start 2P" pitchFamily="49" charset="-120"/>
              </a:rPr>
              <a:t>HOW TO WIN</a:t>
            </a:r>
            <a:endParaRPr lang="en-US" sz="1200" dirty="0"/>
          </a:p>
        </p:txBody>
      </p:sp>
      <p:sp>
        <p:nvSpPr>
          <p:cNvPr id="14" name="Text 12"/>
          <p:cNvSpPr/>
          <p:nvPr/>
        </p:nvSpPr>
        <p:spPr>
          <a:xfrm>
            <a:off x="7646194" y="2047131"/>
            <a:ext cx="3838924" cy="1406525"/>
          </a:xfrm>
          <a:prstGeom prst="rect">
            <a:avLst/>
          </a:prstGeom>
          <a:noFill/>
          <a:ln/>
        </p:spPr>
        <p:txBody>
          <a:bodyPr wrap="square" lIns="0" tIns="0" rIns="0" bIns="0" rtlCol="0" anchor="t">
            <a:normAutofit/>
          </a:bodyPr>
          <a:lstStyle/>
          <a:p>
            <a:pPr marL="202406" indent="-202406" algn="l">
              <a:lnSpc>
                <a:spcPts val="2175"/>
              </a:lnSpc>
              <a:buSzPct val="100000"/>
              <a:buFontTx/>
              <a:buAutoNum type="arabicPeriod"/>
            </a:pPr>
            <a:r>
              <a:rPr lang="en-US" sz="1500" dirty="0">
                <a:solidFill>
                  <a:srgbClr val="E9E1FF"/>
                </a:solidFill>
                <a:latin typeface="Fredoka" pitchFamily="34" charset="0"/>
                <a:ea typeface="Fredoka" pitchFamily="34" charset="-122"/>
                <a:cs typeface="Fredoka" pitchFamily="34" charset="-120"/>
              </a:rPr>
              <a:t>Don’t panic. It’s normal.</a:t>
            </a:r>
            <a:endParaRPr lang="en-US" sz="1500" dirty="0"/>
          </a:p>
          <a:p>
            <a:pPr marL="202406" indent="-202406" algn="l">
              <a:lnSpc>
                <a:spcPts val="2175"/>
              </a:lnSpc>
              <a:buSzPct val="100000"/>
              <a:buFontTx/>
              <a:buAutoNum type="arabicPeriod"/>
            </a:pPr>
            <a:r>
              <a:rPr lang="en-US" sz="1500" dirty="0">
                <a:solidFill>
                  <a:srgbClr val="E9E1FF"/>
                </a:solidFill>
                <a:latin typeface="Fredoka" pitchFamily="34" charset="0"/>
                <a:ea typeface="Fredoka" pitchFamily="34" charset="-122"/>
                <a:cs typeface="Fredoka" pitchFamily="34" charset="-120"/>
              </a:rPr>
              <a:t>Keep the right line (or both)</a:t>
            </a:r>
            <a:endParaRPr lang="en-US" sz="1500" dirty="0"/>
          </a:p>
          <a:p>
            <a:pPr marL="202406" indent="-202406" algn="l">
              <a:lnSpc>
                <a:spcPts val="2175"/>
              </a:lnSpc>
              <a:buSzPct val="100000"/>
              <a:buFontTx/>
              <a:buAutoNum type="arabicPeriod"/>
            </a:pPr>
            <a:r>
              <a:rPr lang="en-US" sz="1500" dirty="0">
                <a:solidFill>
                  <a:srgbClr val="E9E1FF"/>
                </a:solidFill>
                <a:latin typeface="Fredoka" pitchFamily="34" charset="0"/>
                <a:ea typeface="Fredoka" pitchFamily="34" charset="-122"/>
                <a:cs typeface="Fredoka" pitchFamily="34" charset="-120"/>
              </a:rPr>
              <a:t>Delete the &lt;&lt;&lt; === &gt;&gt;&gt; markers</a:t>
            </a:r>
            <a:endParaRPr lang="en-US" sz="1500" dirty="0"/>
          </a:p>
          <a:p>
            <a:pPr marL="202406" indent="-202406" algn="l">
              <a:lnSpc>
                <a:spcPts val="2175"/>
              </a:lnSpc>
              <a:buSzPct val="100000"/>
              <a:buFontTx/>
              <a:buAutoNum type="arabicPeriod"/>
            </a:pPr>
            <a:r>
              <a:rPr lang="en-US" sz="1500" dirty="0">
                <a:solidFill>
                  <a:srgbClr val="E9E1FF"/>
                </a:solidFill>
                <a:latin typeface="Fredoka" pitchFamily="34" charset="0"/>
                <a:ea typeface="Fredoka" pitchFamily="34" charset="-122"/>
                <a:cs typeface="Fredoka" pitchFamily="34" charset="-120"/>
              </a:rPr>
              <a:t>git add . then git commit</a:t>
            </a:r>
            <a:endParaRPr lang="en-US" sz="1500" dirty="0"/>
          </a:p>
          <a:p>
            <a:pPr marL="202406" indent="-202406" algn="l">
              <a:lnSpc>
                <a:spcPts val="2175"/>
              </a:lnSpc>
              <a:buSzPct val="100000"/>
              <a:buFontTx/>
              <a:buAutoNum type="arabicPeriod"/>
            </a:pPr>
            <a:r>
              <a:rPr lang="en-US" sz="1500" dirty="0">
                <a:solidFill>
                  <a:srgbClr val="E9E1FF"/>
                </a:solidFill>
                <a:latin typeface="Fredoka" pitchFamily="34" charset="0"/>
                <a:ea typeface="Fredoka" pitchFamily="34" charset="-122"/>
                <a:cs typeface="Fredoka" pitchFamily="34" charset="-120"/>
              </a:rPr>
              <a:t>Talk to your teammate 🤝</a:t>
            </a:r>
            <a:endParaRPr lang="en-US" sz="1500" dirty="0"/>
          </a:p>
        </p:txBody>
      </p:sp>
      <p:sp>
        <p:nvSpPr>
          <p:cNvPr id="15" name="Text 13"/>
          <p:cNvSpPr/>
          <p:nvPr/>
        </p:nvSpPr>
        <p:spPr>
          <a:xfrm>
            <a:off x="812800" y="4292402"/>
            <a:ext cx="98107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AEDB"/>
                </a:solidFill>
                <a:latin typeface="Fredoka" pitchFamily="34" charset="0"/>
                <a:ea typeface="Fredoka" pitchFamily="34" charset="-122"/>
                <a:cs typeface="Fredoka" pitchFamily="34" charset="-120"/>
              </a:rPr>
              <a:t>Happens when two people change the </a:t>
            </a:r>
            <a:r>
              <a:rPr lang="en-US" sz="1500" b="1" dirty="0">
                <a:solidFill>
                  <a:srgbClr val="FFF4E0"/>
                </a:solidFill>
                <a:latin typeface="Fredoka" pitchFamily="34" charset="0"/>
                <a:ea typeface="Fredoka" pitchFamily="34" charset="-122"/>
                <a:cs typeface="Fredoka" pitchFamily="34" charset="-120"/>
              </a:rPr>
              <a:t>same line</a:t>
            </a:r>
            <a:r>
              <a:rPr lang="en-US" sz="1500" dirty="0">
                <a:solidFill>
                  <a:srgbClr val="B9AEDB"/>
                </a:solidFill>
                <a:latin typeface="Fredoka" pitchFamily="34" charset="0"/>
                <a:ea typeface="Fredoka" pitchFamily="34" charset="-122"/>
                <a:cs typeface="Fredoka" pitchFamily="34" charset="-120"/>
              </a:rPr>
              <a:t> differently. Git can’t guess who’s right, so it asks you.</a:t>
            </a:r>
            <a:endParaRPr lang="en-US" sz="1500" dirty="0"/>
          </a:p>
        </p:txBody>
      </p:sp>
      <p:sp>
        <p:nvSpPr>
          <p:cNvPr id="16" name="Text 14"/>
          <p:cNvSpPr/>
          <p:nvPr/>
        </p:nvSpPr>
        <p:spPr>
          <a:xfrm rot="21360000">
            <a:off x="7505700" y="4966320"/>
            <a:ext cx="3403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FF4FA3">
                <a:alpha val="100000"/>
              </a:srgbClr>
            </a:outerShdw>
          </a:effectLst>
        </p:spPr>
        <p:txBody>
          <a:bodyPr wrap="square" lIns="26812" tIns="35575" rIns="2681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it’s not a bug, it’s a boss 😤</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194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2 &gt; LOOT</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18/30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Don’t upload the junk 🗑</a:t>
            </a:r>
            <a:endParaRPr lang="en-US" sz="4000" dirty="0"/>
          </a:p>
        </p:txBody>
      </p:sp>
      <p:sp>
        <p:nvSpPr>
          <p:cNvPr id="5" name="Text 3"/>
          <p:cNvSpPr/>
          <p:nvPr/>
        </p:nvSpPr>
        <p:spPr>
          <a:xfrm>
            <a:off x="812800" y="17881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3F6B"/>
                </a:solidFill>
                <a:latin typeface="Fredoka" pitchFamily="34" charset="0"/>
                <a:ea typeface="Fredoka" pitchFamily="34" charset="-122"/>
                <a:cs typeface="Fredoka" pitchFamily="34" charset="-120"/>
              </a:rPr>
              <a:t>A </a:t>
            </a:r>
            <a:r>
              <a:rPr lang="en-US" sz="1600" b="1" dirty="0">
                <a:solidFill>
                  <a:srgbClr val="1B1035"/>
                </a:solidFill>
                <a:latin typeface="Fredoka" pitchFamily="34" charset="0"/>
                <a:ea typeface="Fredoka" pitchFamily="34" charset="-122"/>
                <a:cs typeface="Fredoka" pitchFamily="34" charset="-120"/>
              </a:rPr>
              <a:t>.gitignore</a:t>
            </a:r>
            <a:r>
              <a:rPr lang="en-US" sz="1600" dirty="0">
                <a:solidFill>
                  <a:srgbClr val="4A3F6B"/>
                </a:solidFill>
                <a:latin typeface="Fredoka" pitchFamily="34" charset="0"/>
                <a:ea typeface="Fredoka" pitchFamily="34" charset="-122"/>
                <a:cs typeface="Fredoka" pitchFamily="34" charset="-120"/>
              </a:rPr>
              <a:t> file lists stuff Git should skip, like Unity’s giant auto-generated Library folder.</a:t>
            </a:r>
            <a:endParaRPr lang="en-US" sz="1600" dirty="0"/>
          </a:p>
        </p:txBody>
      </p:sp>
      <p:sp>
        <p:nvSpPr>
          <p:cNvPr id="6" name="Shape 4"/>
          <p:cNvSpPr/>
          <p:nvPr/>
        </p:nvSpPr>
        <p:spPr>
          <a:xfrm>
            <a:off x="822325" y="2285305"/>
            <a:ext cx="5130800" cy="3359001"/>
          </a:xfrm>
          <a:prstGeom prst="roundRect">
            <a:avLst>
              <a:gd name="adj" fmla="val 3497"/>
            </a:avLst>
          </a:prstGeom>
          <a:solidFill>
            <a:srgbClr val="0E0A1F"/>
          </a:solidFill>
          <a:ln w="19050">
            <a:solidFill>
              <a:srgbClr val="1B1035"/>
            </a:solidFill>
            <a:prstDash val="solid"/>
          </a:ln>
          <a:effectLst>
            <a:outerShdw dist="89803" dir="2700000" algn="bl" rotWithShape="0">
              <a:srgbClr val="3BE8FF">
                <a:alpha val="100000"/>
              </a:srgbClr>
            </a:outerShdw>
          </a:effectLst>
        </p:spPr>
        <p:txBody>
          <a:bodyPr/>
          <a:lstStyle/>
          <a:p>
            <a:endParaRPr lang="en-US"/>
          </a:p>
        </p:txBody>
      </p:sp>
      <p:sp>
        <p:nvSpPr>
          <p:cNvPr id="7" name="Text 5"/>
          <p:cNvSpPr/>
          <p:nvPr/>
        </p:nvSpPr>
        <p:spPr>
          <a:xfrm>
            <a:off x="831850" y="2294830"/>
            <a:ext cx="5111750" cy="365720"/>
          </a:xfrm>
          <a:custGeom>
            <a:avLst/>
            <a:gdLst/>
            <a:ahLst/>
            <a:cxnLst/>
            <a:rect l="l" t="t" r="r" b="b"/>
            <a:pathLst>
              <a:path w="5111750" h="365720">
                <a:moveTo>
                  <a:pt x="0" y="107950"/>
                </a:moveTo>
                <a:arcTo wR="107950" hR="107950" stAng="10800000" swAng="5400000"/>
                <a:lnTo>
                  <a:pt x="5003800" y="0"/>
                </a:lnTo>
                <a:arcTo wR="107950" hR="107950" stAng="16200000" swAng="5400000"/>
                <a:lnTo>
                  <a:pt x="5111750" y="365720"/>
                </a:lnTo>
                <a:lnTo>
                  <a:pt x="0" y="365720"/>
                </a:lnTo>
                <a:close/>
              </a:path>
            </a:pathLst>
          </a:custGeom>
          <a:solidFill>
            <a:srgbClr val="2A1A52"/>
          </a:solidFill>
          <a:ln/>
        </p:spPr>
        <p:txBody>
          <a:bodyPr wrap="square" lIns="152400" tIns="63500" rIns="152400" bIns="63500" rtlCol="0" anchor="ctr">
            <a:normAutofit/>
          </a:bodyPr>
          <a:lstStyle/>
          <a:p>
            <a:pPr marL="0" indent="0" algn="l">
              <a:lnSpc>
                <a:spcPts val="1680"/>
              </a:lnSpc>
              <a:buNone/>
            </a:pPr>
            <a:r>
              <a:rPr lang="en-US" sz="1200" dirty="0">
                <a:solidFill>
                  <a:srgbClr val="3BE8FF"/>
                </a:solidFill>
                <a:latin typeface="JetBrains Mono" pitchFamily="49" charset="0"/>
                <a:ea typeface="JetBrains Mono" pitchFamily="49" charset="-122"/>
                <a:cs typeface="JetBrains Mono" pitchFamily="49" charset="-120"/>
              </a:rPr>
              <a:t>.gitignore · Unity</a:t>
            </a:r>
            <a:endParaRPr lang="en-US" sz="1200" dirty="0"/>
          </a:p>
        </p:txBody>
      </p:sp>
      <p:sp>
        <p:nvSpPr>
          <p:cNvPr id="8" name="Text 6"/>
          <p:cNvSpPr/>
          <p:nvPr/>
        </p:nvSpPr>
        <p:spPr>
          <a:xfrm>
            <a:off x="1035050" y="281295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Unity rebuilds these itself</a:t>
            </a:r>
            <a:endParaRPr lang="en-US" sz="1300" dirty="0"/>
          </a:p>
        </p:txBody>
      </p:sp>
      <p:sp>
        <p:nvSpPr>
          <p:cNvPr id="9" name="Text 7"/>
          <p:cNvSpPr/>
          <p:nvPr/>
        </p:nvSpPr>
        <p:spPr>
          <a:xfrm>
            <a:off x="1035050" y="305678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[Ll]ibrary/</a:t>
            </a:r>
            <a:endParaRPr lang="en-US" sz="1300" dirty="0"/>
          </a:p>
        </p:txBody>
      </p:sp>
      <p:sp>
        <p:nvSpPr>
          <p:cNvPr id="10" name="Text 8"/>
          <p:cNvSpPr/>
          <p:nvPr/>
        </p:nvSpPr>
        <p:spPr>
          <a:xfrm>
            <a:off x="1035050" y="330061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[Tt]emp/</a:t>
            </a:r>
            <a:endParaRPr lang="en-US" sz="1300" dirty="0"/>
          </a:p>
        </p:txBody>
      </p:sp>
      <p:sp>
        <p:nvSpPr>
          <p:cNvPr id="11" name="Text 9"/>
          <p:cNvSpPr/>
          <p:nvPr/>
        </p:nvSpPr>
        <p:spPr>
          <a:xfrm>
            <a:off x="1035050" y="354444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[Oo]bj/</a:t>
            </a:r>
            <a:endParaRPr lang="en-US" sz="1300" dirty="0"/>
          </a:p>
        </p:txBody>
      </p:sp>
      <p:sp>
        <p:nvSpPr>
          <p:cNvPr id="12" name="Text 10"/>
          <p:cNvSpPr/>
          <p:nvPr/>
        </p:nvSpPr>
        <p:spPr>
          <a:xfrm>
            <a:off x="1035050" y="378827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[Bb]uild/</a:t>
            </a:r>
            <a:endParaRPr lang="en-US" sz="1300" dirty="0"/>
          </a:p>
        </p:txBody>
      </p:sp>
      <p:sp>
        <p:nvSpPr>
          <p:cNvPr id="13" name="Text 11"/>
          <p:cNvSpPr/>
          <p:nvPr/>
        </p:nvSpPr>
        <p:spPr>
          <a:xfrm>
            <a:off x="1035050" y="403210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[Bb]uilds/</a:t>
            </a:r>
            <a:endParaRPr lang="en-US" sz="1300" dirty="0"/>
          </a:p>
        </p:txBody>
      </p:sp>
      <p:sp>
        <p:nvSpPr>
          <p:cNvPr id="14" name="Text 12"/>
          <p:cNvSpPr/>
          <p:nvPr/>
        </p:nvSpPr>
        <p:spPr>
          <a:xfrm>
            <a:off x="1035050" y="427593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[Ll]ogs/</a:t>
            </a:r>
            <a:endParaRPr lang="en-US" sz="1300" dirty="0"/>
          </a:p>
        </p:txBody>
      </p:sp>
      <p:sp>
        <p:nvSpPr>
          <p:cNvPr id="15" name="Text 13"/>
          <p:cNvSpPr/>
          <p:nvPr/>
        </p:nvSpPr>
        <p:spPr>
          <a:xfrm>
            <a:off x="1035050" y="451976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[Uu]ser[Ss]ettings/</a:t>
            </a:r>
            <a:endParaRPr lang="en-US" sz="1300" dirty="0"/>
          </a:p>
        </p:txBody>
      </p:sp>
      <p:sp>
        <p:nvSpPr>
          <p:cNvPr id="16" name="Text 14"/>
          <p:cNvSpPr/>
          <p:nvPr/>
        </p:nvSpPr>
        <p:spPr>
          <a:xfrm>
            <a:off x="1035050" y="476359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IDE files</a:t>
            </a:r>
            <a:endParaRPr lang="en-US" sz="1300" dirty="0"/>
          </a:p>
        </p:txBody>
      </p:sp>
      <p:sp>
        <p:nvSpPr>
          <p:cNvPr id="17" name="Text 15"/>
          <p:cNvSpPr/>
          <p:nvPr/>
        </p:nvSpPr>
        <p:spPr>
          <a:xfrm>
            <a:off x="1035050" y="5007421"/>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*.csproj</a:t>
            </a:r>
            <a:endParaRPr lang="en-US" sz="1300" dirty="0"/>
          </a:p>
        </p:txBody>
      </p:sp>
      <p:sp>
        <p:nvSpPr>
          <p:cNvPr id="18" name="Text 16"/>
          <p:cNvSpPr/>
          <p:nvPr/>
        </p:nvSpPr>
        <p:spPr>
          <a:xfrm>
            <a:off x="1035050" y="5251252"/>
            <a:ext cx="4846511"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*.sln</a:t>
            </a:r>
            <a:endParaRPr lang="en-US" sz="1300" dirty="0"/>
          </a:p>
        </p:txBody>
      </p:sp>
      <p:sp>
        <p:nvSpPr>
          <p:cNvPr id="19" name="Shape 17"/>
          <p:cNvSpPr/>
          <p:nvPr/>
        </p:nvSpPr>
        <p:spPr>
          <a:xfrm>
            <a:off x="6276975" y="2285305"/>
            <a:ext cx="5092700" cy="1652191"/>
          </a:xfrm>
          <a:prstGeom prst="roundRect">
            <a:avLst>
              <a:gd name="adj" fmla="val 7110"/>
            </a:avLst>
          </a:prstGeom>
          <a:solidFill>
            <a:srgbClr val="0E0A1F"/>
          </a:solidFill>
          <a:ln w="19050">
            <a:solidFill>
              <a:srgbClr val="1B1035"/>
            </a:solidFill>
            <a:prstDash val="solid"/>
          </a:ln>
          <a:effectLst>
            <a:outerShdw dist="89803" dir="2700000" algn="bl" rotWithShape="0">
              <a:srgbClr val="B6FF3B">
                <a:alpha val="100000"/>
              </a:srgbClr>
            </a:outerShdw>
          </a:effectLst>
        </p:spPr>
        <p:txBody>
          <a:bodyPr/>
          <a:lstStyle/>
          <a:p>
            <a:endParaRPr lang="en-US"/>
          </a:p>
        </p:txBody>
      </p:sp>
      <p:sp>
        <p:nvSpPr>
          <p:cNvPr id="20" name="Text 18"/>
          <p:cNvSpPr/>
          <p:nvPr/>
        </p:nvSpPr>
        <p:spPr>
          <a:xfrm>
            <a:off x="6286500" y="2294830"/>
            <a:ext cx="5073650" cy="365720"/>
          </a:xfrm>
          <a:custGeom>
            <a:avLst/>
            <a:gdLst/>
            <a:ahLst/>
            <a:cxnLst/>
            <a:rect l="l" t="t" r="r" b="b"/>
            <a:pathLst>
              <a:path w="5073650" h="365720">
                <a:moveTo>
                  <a:pt x="0" y="107950"/>
                </a:moveTo>
                <a:arcTo wR="107950" hR="107950" stAng="10800000" swAng="5400000"/>
                <a:lnTo>
                  <a:pt x="4965700" y="0"/>
                </a:lnTo>
                <a:arcTo wR="107950" hR="107950" stAng="16200000" swAng="5400000"/>
                <a:lnTo>
                  <a:pt x="5073650" y="365720"/>
                </a:lnTo>
                <a:lnTo>
                  <a:pt x="0" y="365720"/>
                </a:lnTo>
                <a:close/>
              </a:path>
            </a:pathLst>
          </a:custGeom>
          <a:solidFill>
            <a:srgbClr val="2A1A52"/>
          </a:solidFill>
          <a:ln/>
        </p:spPr>
        <p:txBody>
          <a:bodyPr wrap="square" lIns="152400" tIns="63500" rIns="152400" bIns="63500" rtlCol="0" anchor="ctr">
            <a:normAutofit/>
          </a:bodyPr>
          <a:lstStyle/>
          <a:p>
            <a:pPr marL="0" indent="0" algn="l">
              <a:lnSpc>
                <a:spcPts val="1680"/>
              </a:lnSpc>
              <a:buNone/>
            </a:pPr>
            <a:r>
              <a:rPr lang="en-US" sz="1200" dirty="0">
                <a:solidFill>
                  <a:srgbClr val="B6FF3B"/>
                </a:solidFill>
                <a:latin typeface="JetBrains Mono" pitchFamily="49" charset="0"/>
                <a:ea typeface="JetBrains Mono" pitchFamily="49" charset="-122"/>
                <a:cs typeface="JetBrains Mono" pitchFamily="49" charset="-120"/>
              </a:rPr>
              <a:t>.gitignore · Godot 4</a:t>
            </a:r>
            <a:endParaRPr lang="en-US" sz="1200" dirty="0"/>
          </a:p>
        </p:txBody>
      </p:sp>
      <p:sp>
        <p:nvSpPr>
          <p:cNvPr id="21" name="Text 19"/>
          <p:cNvSpPr/>
          <p:nvPr/>
        </p:nvSpPr>
        <p:spPr>
          <a:xfrm>
            <a:off x="6489700" y="2812951"/>
            <a:ext cx="480726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Godot’s cache folder</a:t>
            </a:r>
            <a:endParaRPr lang="en-US" sz="1300" dirty="0"/>
          </a:p>
        </p:txBody>
      </p:sp>
      <p:sp>
        <p:nvSpPr>
          <p:cNvPr id="22" name="Text 20"/>
          <p:cNvSpPr/>
          <p:nvPr/>
        </p:nvSpPr>
        <p:spPr>
          <a:xfrm>
            <a:off x="6489700" y="3056781"/>
            <a:ext cx="480726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.godot/</a:t>
            </a:r>
            <a:endParaRPr lang="en-US" sz="1300" dirty="0"/>
          </a:p>
        </p:txBody>
      </p:sp>
      <p:sp>
        <p:nvSpPr>
          <p:cNvPr id="23" name="Text 21"/>
          <p:cNvSpPr/>
          <p:nvPr/>
        </p:nvSpPr>
        <p:spPr>
          <a:xfrm>
            <a:off x="6489700" y="3300611"/>
            <a:ext cx="480726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9A90C2"/>
                </a:solidFill>
                <a:latin typeface="JetBrains Mono" pitchFamily="49" charset="0"/>
                <a:ea typeface="JetBrains Mono" pitchFamily="49" charset="-122"/>
                <a:cs typeface="JetBrains Mono" pitchFamily="49" charset="-120"/>
              </a:rPr>
              <a:t># your exported builds</a:t>
            </a:r>
            <a:endParaRPr lang="en-US" sz="1300" dirty="0"/>
          </a:p>
        </p:txBody>
      </p:sp>
      <p:sp>
        <p:nvSpPr>
          <p:cNvPr id="24" name="Text 22"/>
          <p:cNvSpPr/>
          <p:nvPr/>
        </p:nvSpPr>
        <p:spPr>
          <a:xfrm>
            <a:off x="6489700" y="3544441"/>
            <a:ext cx="4807268" cy="256530"/>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E9E1FF"/>
                </a:solidFill>
                <a:latin typeface="JetBrains Mono" pitchFamily="49" charset="0"/>
                <a:ea typeface="JetBrains Mono" pitchFamily="49" charset="-122"/>
                <a:cs typeface="JetBrains Mono" pitchFamily="49" charset="-120"/>
              </a:rPr>
              <a:t>builds/</a:t>
            </a:r>
            <a:endParaRPr lang="en-US" sz="1300" dirty="0"/>
          </a:p>
        </p:txBody>
      </p:sp>
      <p:sp>
        <p:nvSpPr>
          <p:cNvPr id="25" name="Shape 23"/>
          <p:cNvSpPr/>
          <p:nvPr/>
        </p:nvSpPr>
        <p:spPr>
          <a:xfrm>
            <a:off x="6280150" y="4137521"/>
            <a:ext cx="5086350" cy="1170880"/>
          </a:xfrm>
          <a:prstGeom prst="roundRect">
            <a:avLst>
              <a:gd name="adj" fmla="val 11931"/>
            </a:avLst>
          </a:prstGeom>
          <a:solidFill>
            <a:srgbClr val="FFD23F"/>
          </a:solidFill>
          <a:ln w="25400">
            <a:solidFill>
              <a:srgbClr val="1B1035"/>
            </a:solidFill>
            <a:prstDash val="solid"/>
          </a:ln>
        </p:spPr>
        <p:txBody>
          <a:bodyPr/>
          <a:lstStyle/>
          <a:p>
            <a:endParaRPr lang="en-US"/>
          </a:p>
        </p:txBody>
      </p:sp>
      <p:sp>
        <p:nvSpPr>
          <p:cNvPr id="26" name="Text 24"/>
          <p:cNvSpPr/>
          <p:nvPr/>
        </p:nvSpPr>
        <p:spPr>
          <a:xfrm>
            <a:off x="6470650" y="4328021"/>
            <a:ext cx="484651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035"/>
                </a:solidFill>
                <a:latin typeface="Fredoka" pitchFamily="34" charset="0"/>
                <a:ea typeface="Fredoka" pitchFamily="34" charset="-122"/>
                <a:cs typeface="Fredoka" pitchFamily="34" charset="-120"/>
              </a:rPr>
              <a:t>🎁 Free templates</a:t>
            </a:r>
            <a:endParaRPr lang="en-US" sz="1600" dirty="0"/>
          </a:p>
        </p:txBody>
      </p:sp>
      <p:sp>
        <p:nvSpPr>
          <p:cNvPr id="27" name="Text 25"/>
          <p:cNvSpPr/>
          <p:nvPr/>
        </p:nvSpPr>
        <p:spPr>
          <a:xfrm>
            <a:off x="6470650" y="4622651"/>
            <a:ext cx="4846511"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Pick one when you create a repo on GitHub, or grab it from</a:t>
            </a:r>
            <a:endParaRPr lang="en-US" sz="1300" dirty="0"/>
          </a:p>
        </p:txBody>
      </p:sp>
      <p:sp>
        <p:nvSpPr>
          <p:cNvPr id="28" name="Text 26"/>
          <p:cNvSpPr/>
          <p:nvPr/>
        </p:nvSpPr>
        <p:spPr>
          <a:xfrm>
            <a:off x="6470650" y="4904581"/>
            <a:ext cx="48465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JetBrains Mono" pitchFamily="49" charset="0"/>
                <a:ea typeface="JetBrains Mono" pitchFamily="49" charset="-122"/>
                <a:cs typeface="JetBrains Mono" pitchFamily="49" charset="-120"/>
              </a:rPr>
              <a:t>github.com/github/gitignore</a:t>
            </a:r>
            <a:endParaRPr lang="en-US" sz="1200" dirty="0"/>
          </a:p>
        </p:txBody>
      </p:sp>
      <p:sp>
        <p:nvSpPr>
          <p:cNvPr id="29" name="Text 27"/>
          <p:cNvSpPr/>
          <p:nvPr/>
        </p:nvSpPr>
        <p:spPr>
          <a:xfrm rot="300000">
            <a:off x="8204200" y="1092820"/>
            <a:ext cx="2768600" cy="450850"/>
          </a:xfrm>
          <a:prstGeom prst="roundRect">
            <a:avLst>
              <a:gd name="adj" fmla="val 50000"/>
            </a:avLst>
          </a:prstGeom>
          <a:solidFill>
            <a:srgbClr val="FF4FA3"/>
          </a:solidFill>
          <a:ln w="25400">
            <a:solidFill>
              <a:srgbClr val="1B1035"/>
            </a:solidFill>
            <a:prstDash val="solid"/>
          </a:ln>
          <a:effectLst>
            <a:outerShdw dist="53882" dir="2700000" algn="bl" rotWithShape="0">
              <a:srgbClr val="1B1035">
                <a:alpha val="100000"/>
              </a:srgbClr>
            </a:outerShdw>
          </a:effectLst>
        </p:spPr>
        <p:txBody>
          <a:bodyPr wrap="square" lIns="36337" tIns="35575" rIns="3633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Library/ = GBs of nope 🙅</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BE8FF"/>
        </a:solidFill>
        <a:effectLst/>
      </p:bgPr>
    </p:bg>
    <p:spTree>
      <p:nvGrpSpPr>
        <p:cNvPr id="1" name=""/>
        <p:cNvGrpSpPr/>
        <p:nvPr/>
      </p:nvGrpSpPr>
      <p:grpSpPr>
        <a:xfrm>
          <a:off x="0" y="0"/>
          <a:ext cx="0" cy="0"/>
          <a:chOff x="0" y="0"/>
          <a:chExt cx="0" cy="0"/>
        </a:xfrm>
      </p:grpSpPr>
      <p:sp>
        <p:nvSpPr>
          <p:cNvPr id="2" name="Text 0"/>
          <p:cNvSpPr/>
          <p:nvPr/>
        </p:nvSpPr>
        <p:spPr>
          <a:xfrm>
            <a:off x="812800" y="1706910"/>
            <a:ext cx="719455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035"/>
                </a:solidFill>
                <a:latin typeface="Press Start 2P" pitchFamily="49" charset="0"/>
                <a:ea typeface="Press Start 2P" pitchFamily="49" charset="-122"/>
                <a:cs typeface="Press Start 2P" pitchFamily="49" charset="-120"/>
              </a:rPr>
              <a:t>LEVEL 3</a:t>
            </a:r>
            <a:endParaRPr lang="en-US" sz="2000" dirty="0"/>
          </a:p>
        </p:txBody>
      </p:sp>
      <p:sp>
        <p:nvSpPr>
          <p:cNvPr id="3" name="Text 1"/>
          <p:cNvSpPr>
            <a:spLocks noGrp="1"/>
          </p:cNvSpPr>
          <p:nvPr>
            <p:ph type="title"/>
          </p:nvPr>
        </p:nvSpPr>
        <p:spPr>
          <a:xfrm>
            <a:off x="812800" y="2291110"/>
            <a:ext cx="7521575" cy="1930400"/>
          </a:xfrm>
          <a:prstGeom prst="rect">
            <a:avLst/>
          </a:prstGeom>
          <a:noFill/>
          <a:ln/>
        </p:spPr>
        <p:txBody>
          <a:bodyPr wrap="square" lIns="0" tIns="0" rIns="0" bIns="0" rtlCol="0" anchor="t">
            <a:normAutofit/>
          </a:bodyPr>
          <a:lstStyle/>
          <a:p>
            <a:pPr marL="0" indent="0" algn="l">
              <a:lnSpc>
                <a:spcPts val="7500"/>
              </a:lnSpc>
              <a:buNone/>
            </a:pPr>
            <a:r>
              <a:rPr lang="en-US" sz="7500" b="0" i="0" dirty="0">
                <a:solidFill>
                  <a:srgbClr val="1B1035"/>
                </a:solidFill>
                <a:latin typeface="Bungee" pitchFamily="34" charset="0"/>
                <a:ea typeface="Bungee" pitchFamily="34" charset="-122"/>
                <a:cs typeface="Bungee" pitchFamily="34" charset="-120"/>
              </a:rPr>
              <a:t>Push from your IDE</a:t>
            </a:r>
            <a:endParaRPr lang="en-US" sz="7500" dirty="0"/>
          </a:p>
        </p:txBody>
      </p:sp>
      <p:sp>
        <p:nvSpPr>
          <p:cNvPr id="4" name="Text 2"/>
          <p:cNvSpPr/>
          <p:nvPr/>
        </p:nvSpPr>
        <p:spPr>
          <a:xfrm>
            <a:off x="812800" y="4424710"/>
            <a:ext cx="6867525"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B1035"/>
                </a:solidFill>
                <a:latin typeface="Fredoka" pitchFamily="34" charset="0"/>
                <a:ea typeface="Fredoka" pitchFamily="34" charset="-122"/>
                <a:cs typeface="Fredoka" pitchFamily="34" charset="-120"/>
              </a:rPr>
              <a:t>Scared of the terminal? Fair. VS Code has buttons for all of it.</a:t>
            </a:r>
            <a:endParaRPr lang="en-US" sz="2200" dirty="0"/>
          </a:p>
        </p:txBody>
      </p:sp>
      <p:pic>
        <p:nvPicPr>
          <p:cNvPr id="5" name="Image 0" descr="Mouse cursor clicking"/>
          <p:cNvPicPr>
            <a:picLocks noChangeAspect="1"/>
          </p:cNvPicPr>
          <p:nvPr/>
        </p:nvPicPr>
        <p:blipFill>
          <a:blip r:embed="rId3"/>
          <a:srcRect l="-221" r="-221"/>
          <a:stretch/>
        </p:blipFill>
        <p:spPr>
          <a:xfrm rot="21000000">
            <a:off x="8890000" y="2413000"/>
            <a:ext cx="2032000" cy="2159000"/>
          </a:xfrm>
          <a:prstGeom prst="rect">
            <a:avLst/>
          </a:prstGeom>
        </p:spPr>
      </p:pic>
      <p:sp>
        <p:nvSpPr>
          <p:cNvPr id="6" name="Text 3"/>
          <p:cNvSpPr/>
          <p:nvPr/>
        </p:nvSpPr>
        <p:spPr>
          <a:xfrm rot="420000">
            <a:off x="8775700" y="1473200"/>
            <a:ext cx="2070100" cy="444500"/>
          </a:xfrm>
          <a:custGeom>
            <a:avLst/>
            <a:gdLst/>
            <a:ahLst/>
            <a:cxnLst/>
            <a:rect l="l" t="t" r="r" b="b"/>
            <a:pathLst>
              <a:path w="2070100" h="444500">
                <a:moveTo>
                  <a:pt x="222250" y="0"/>
                </a:moveTo>
                <a:lnTo>
                  <a:pt x="1847850" y="0"/>
                </a:lnTo>
                <a:arcTo wR="222250" hR="222250" stAng="16200000" swAng="5400000"/>
                <a:lnTo>
                  <a:pt x="2070100" y="222250"/>
                </a:lnTo>
                <a:arcTo wR="222250" hR="222250" stAng="0" swAng="5400000"/>
                <a:lnTo>
                  <a:pt x="222250" y="444500"/>
                </a:lnTo>
                <a:arcTo wR="222250" hR="222250" stAng="5400000" swAng="5400000"/>
                <a:lnTo>
                  <a:pt x="0" y="222250"/>
                </a:lnTo>
                <a:arcTo wR="222250" hR="222250" stAng="10800000" swAng="5400000"/>
                <a:close/>
              </a:path>
            </a:pathLst>
          </a:custGeom>
          <a:solidFill>
            <a:srgbClr val="FFD23F"/>
          </a:solidFill>
          <a:ln w="25400">
            <a:solidFill>
              <a:srgbClr val="1B1035"/>
            </a:solidFill>
            <a:prstDash val="solid"/>
          </a:ln>
          <a:effectLst>
            <a:outerShdw dist="53882" dir="2700000" algn="bl" rotWithShape="0">
              <a:srgbClr val="1B1035">
                <a:alpha val="100000"/>
              </a:srgbClr>
            </a:outerShdw>
          </a:effectLst>
        </p:spPr>
        <p:txBody>
          <a:bodyPr wrap="square" lIns="86678" tIns="88900" rIns="86678" bIns="63500" rtlCol="0" anchor="t">
            <a:normAutofit/>
          </a:bodyPr>
          <a:lstStyle/>
          <a:p>
            <a:pPr marL="0" indent="0" algn="ctr">
              <a:lnSpc>
                <a:spcPts val="2100"/>
              </a:lnSpc>
              <a:buNone/>
            </a:pPr>
            <a:r>
              <a:rPr lang="en-US" sz="1500" b="1" dirty="0">
                <a:solidFill>
                  <a:srgbClr val="1B1035"/>
                </a:solidFill>
                <a:latin typeface="Fredoka" pitchFamily="34" charset="0"/>
                <a:ea typeface="Fredoka" pitchFamily="34" charset="-122"/>
                <a:cs typeface="Fredoka" pitchFamily="34" charset="-120"/>
              </a:rPr>
              <a:t>click click 🖱</a:t>
            </a:r>
            <a:endParaRPr lang="en-US" sz="1500" dirty="0"/>
          </a:p>
        </p:txBody>
      </p:sp>
      <p:sp>
        <p:nvSpPr>
          <p:cNvPr id="7" name="Text 4"/>
          <p:cNvSpPr/>
          <p:nvPr/>
        </p:nvSpPr>
        <p:spPr>
          <a:xfrm rot="21300000">
            <a:off x="6553200" y="5283820"/>
            <a:ext cx="2197100" cy="450850"/>
          </a:xfrm>
          <a:prstGeom prst="roundRect">
            <a:avLst>
              <a:gd name="adj" fmla="val 50000"/>
            </a:avLst>
          </a:prstGeom>
          <a:solidFill>
            <a:srgbClr val="FF4FA3"/>
          </a:solidFill>
          <a:ln w="25400">
            <a:solidFill>
              <a:srgbClr val="1B1035"/>
            </a:solidFill>
            <a:prstDash val="solid"/>
          </a:ln>
          <a:effectLst>
            <a:outerShdw dist="53882" dir="2700000" algn="bl" rotWithShape="0">
              <a:srgbClr val="1B1035">
                <a:alpha val="100000"/>
              </a:srgbClr>
            </a:outerShdw>
          </a:effectLst>
        </p:spPr>
        <p:txBody>
          <a:bodyPr wrap="square" lIns="44910" tIns="35575" rIns="44910"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no terminal needed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74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3 &gt; VS CODE</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20/30</a:t>
            </a:r>
            <a:endParaRPr lang="en-US" sz="1200" dirty="0"/>
          </a:p>
        </p:txBody>
      </p:sp>
      <p:sp>
        <p:nvSpPr>
          <p:cNvPr id="4" name="Text 2"/>
          <p:cNvSpPr>
            <a:spLocks noGrp="1"/>
          </p:cNvSpPr>
          <p:nvPr>
            <p:ph type="title"/>
          </p:nvPr>
        </p:nvSpPr>
        <p:spPr>
          <a:xfrm>
            <a:off x="812800" y="1026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FF4E0"/>
                </a:solidFill>
                <a:latin typeface="Bungee" pitchFamily="34" charset="0"/>
                <a:ea typeface="Bungee" pitchFamily="34" charset="-122"/>
                <a:cs typeface="Bungee" pitchFamily="34" charset="-120"/>
              </a:rPr>
              <a:t>VS Code: stage &amp; commit</a:t>
            </a:r>
            <a:endParaRPr lang="en-US" sz="3600" dirty="0"/>
          </a:p>
        </p:txBody>
      </p:sp>
      <p:sp>
        <p:nvSpPr>
          <p:cNvPr id="5" name="Shape 3"/>
          <p:cNvSpPr/>
          <p:nvPr/>
        </p:nvSpPr>
        <p:spPr>
          <a:xfrm>
            <a:off x="822325" y="1741736"/>
            <a:ext cx="6711950" cy="3310533"/>
          </a:xfrm>
          <a:prstGeom prst="roundRect">
            <a:avLst>
              <a:gd name="adj" fmla="val 2781"/>
            </a:avLst>
          </a:prstGeom>
          <a:solidFill>
            <a:srgbClr val="1E1E1E"/>
          </a:solidFill>
          <a:ln w="19050">
            <a:solidFill>
              <a:srgbClr val="3BE8FF"/>
            </a:solidFill>
            <a:prstDash val="solid"/>
          </a:ln>
          <a:effectLst>
            <a:outerShdw dist="89803" dir="2700000" algn="bl" rotWithShape="0">
              <a:srgbClr val="3BE8FF">
                <a:alpha val="100000"/>
              </a:srgbClr>
            </a:outerShdw>
          </a:effectLst>
        </p:spPr>
        <p:txBody>
          <a:bodyPr/>
          <a:lstStyle/>
          <a:p>
            <a:endParaRPr lang="en-US"/>
          </a:p>
        </p:txBody>
      </p:sp>
      <p:sp>
        <p:nvSpPr>
          <p:cNvPr id="6" name="Shape 4"/>
          <p:cNvSpPr/>
          <p:nvPr/>
        </p:nvSpPr>
        <p:spPr>
          <a:xfrm>
            <a:off x="831850" y="1751261"/>
            <a:ext cx="6692900" cy="340320"/>
          </a:xfrm>
          <a:custGeom>
            <a:avLst/>
            <a:gdLst/>
            <a:ahLst/>
            <a:cxnLst/>
            <a:rect l="l" t="t" r="r" b="b"/>
            <a:pathLst>
              <a:path w="6692900" h="340320">
                <a:moveTo>
                  <a:pt x="0" y="82550"/>
                </a:moveTo>
                <a:arcTo wR="82550" hR="82550" stAng="10800000" swAng="5400000"/>
                <a:lnTo>
                  <a:pt x="6610350" y="0"/>
                </a:lnTo>
                <a:arcTo wR="82550" hR="82550" stAng="16200000" swAng="5400000"/>
                <a:lnTo>
                  <a:pt x="6692900" y="340320"/>
                </a:lnTo>
                <a:lnTo>
                  <a:pt x="0" y="340320"/>
                </a:lnTo>
                <a:close/>
              </a:path>
            </a:pathLst>
          </a:custGeom>
          <a:solidFill>
            <a:srgbClr val="323233"/>
          </a:solidFill>
          <a:ln/>
        </p:spPr>
        <p:txBody>
          <a:bodyPr/>
          <a:lstStyle/>
          <a:p>
            <a:endParaRPr lang="en-US"/>
          </a:p>
        </p:txBody>
      </p:sp>
      <p:sp>
        <p:nvSpPr>
          <p:cNvPr id="7" name="Shape 5"/>
          <p:cNvSpPr/>
          <p:nvPr/>
        </p:nvSpPr>
        <p:spPr>
          <a:xfrm>
            <a:off x="958850" y="1870621"/>
            <a:ext cx="101600" cy="101600"/>
          </a:xfrm>
          <a:prstGeom prst="roundRect">
            <a:avLst>
              <a:gd name="adj" fmla="val 50000"/>
            </a:avLst>
          </a:prstGeom>
          <a:solidFill>
            <a:srgbClr val="FF5F57"/>
          </a:solidFill>
          <a:ln/>
        </p:spPr>
        <p:txBody>
          <a:bodyPr/>
          <a:lstStyle/>
          <a:p>
            <a:endParaRPr lang="en-US"/>
          </a:p>
        </p:txBody>
      </p:sp>
      <p:sp>
        <p:nvSpPr>
          <p:cNvPr id="8" name="Shape 6"/>
          <p:cNvSpPr/>
          <p:nvPr/>
        </p:nvSpPr>
        <p:spPr>
          <a:xfrm>
            <a:off x="1123950" y="1870621"/>
            <a:ext cx="101600" cy="101600"/>
          </a:xfrm>
          <a:prstGeom prst="roundRect">
            <a:avLst>
              <a:gd name="adj" fmla="val 50000"/>
            </a:avLst>
          </a:prstGeom>
          <a:solidFill>
            <a:srgbClr val="FEBC2E"/>
          </a:solidFill>
          <a:ln/>
        </p:spPr>
        <p:txBody>
          <a:bodyPr/>
          <a:lstStyle/>
          <a:p>
            <a:endParaRPr lang="en-US"/>
          </a:p>
        </p:txBody>
      </p:sp>
      <p:sp>
        <p:nvSpPr>
          <p:cNvPr id="9" name="Shape 7"/>
          <p:cNvSpPr/>
          <p:nvPr/>
        </p:nvSpPr>
        <p:spPr>
          <a:xfrm>
            <a:off x="1289050" y="1870621"/>
            <a:ext cx="101600" cy="101600"/>
          </a:xfrm>
          <a:prstGeom prst="roundRect">
            <a:avLst>
              <a:gd name="adj" fmla="val 50000"/>
            </a:avLst>
          </a:prstGeom>
          <a:solidFill>
            <a:srgbClr val="28C840"/>
          </a:solidFill>
          <a:ln/>
        </p:spPr>
        <p:txBody>
          <a:bodyPr/>
          <a:lstStyle/>
          <a:p>
            <a:endParaRPr lang="en-US"/>
          </a:p>
        </p:txBody>
      </p:sp>
      <p:sp>
        <p:nvSpPr>
          <p:cNvPr id="10" name="Text 8"/>
          <p:cNvSpPr/>
          <p:nvPr/>
        </p:nvSpPr>
        <p:spPr>
          <a:xfrm>
            <a:off x="1555750" y="1814761"/>
            <a:ext cx="28838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CCCCC"/>
                </a:solidFill>
                <a:latin typeface="Arial" pitchFamily="34" charset="0"/>
                <a:ea typeface="Arial" pitchFamily="34" charset="-122"/>
                <a:cs typeface="Arial" pitchFamily="34" charset="-120"/>
              </a:rPr>
              <a:t>space-goose — Visual Studio Code</a:t>
            </a:r>
            <a:endParaRPr lang="en-US" sz="1200" dirty="0"/>
          </a:p>
        </p:txBody>
      </p:sp>
      <p:sp>
        <p:nvSpPr>
          <p:cNvPr id="11" name="Shape 9"/>
          <p:cNvSpPr/>
          <p:nvPr/>
        </p:nvSpPr>
        <p:spPr>
          <a:xfrm>
            <a:off x="831850" y="2091581"/>
            <a:ext cx="482600" cy="2661642"/>
          </a:xfrm>
          <a:prstGeom prst="rect">
            <a:avLst/>
          </a:prstGeom>
          <a:solidFill>
            <a:srgbClr val="333333"/>
          </a:solidFill>
          <a:ln/>
        </p:spPr>
        <p:txBody>
          <a:bodyPr/>
          <a:lstStyle/>
          <a:p>
            <a:endParaRPr lang="en-US"/>
          </a:p>
        </p:txBody>
      </p:sp>
      <p:pic>
        <p:nvPicPr>
          <p:cNvPr id="12" name="Image 0" descr="Code"/>
          <p:cNvPicPr>
            <a:picLocks noChangeAspect="1"/>
          </p:cNvPicPr>
          <p:nvPr/>
        </p:nvPicPr>
        <p:blipFill>
          <a:blip r:embed="rId3"/>
          <a:srcRect/>
          <a:stretch/>
        </p:blipFill>
        <p:spPr>
          <a:xfrm>
            <a:off x="946150" y="2243981"/>
            <a:ext cx="254000" cy="254000"/>
          </a:xfrm>
          <a:prstGeom prst="rect">
            <a:avLst/>
          </a:prstGeom>
        </p:spPr>
      </p:pic>
      <p:pic>
        <p:nvPicPr>
          <p:cNvPr id="13" name="Image 1" descr="Search"/>
          <p:cNvPicPr>
            <a:picLocks noChangeAspect="1"/>
          </p:cNvPicPr>
          <p:nvPr/>
        </p:nvPicPr>
        <p:blipFill>
          <a:blip r:embed="rId4"/>
          <a:srcRect/>
          <a:stretch/>
        </p:blipFill>
        <p:spPr>
          <a:xfrm>
            <a:off x="946150" y="2675781"/>
            <a:ext cx="254000" cy="254000"/>
          </a:xfrm>
          <a:prstGeom prst="rect">
            <a:avLst/>
          </a:prstGeom>
        </p:spPr>
      </p:pic>
      <p:pic>
        <p:nvPicPr>
          <p:cNvPr id="14" name="Image 2" descr="Source Control icon"/>
          <p:cNvPicPr>
            <a:picLocks noChangeAspect="1"/>
          </p:cNvPicPr>
          <p:nvPr/>
        </p:nvPicPr>
        <p:blipFill>
          <a:blip r:embed="rId5"/>
          <a:srcRect/>
          <a:stretch/>
        </p:blipFill>
        <p:spPr>
          <a:xfrm>
            <a:off x="946150" y="3107581"/>
            <a:ext cx="254000" cy="254000"/>
          </a:xfrm>
          <a:prstGeom prst="rect">
            <a:avLst/>
          </a:prstGeom>
        </p:spPr>
      </p:pic>
      <p:sp>
        <p:nvSpPr>
          <p:cNvPr id="15" name="Text 10"/>
          <p:cNvSpPr/>
          <p:nvPr/>
        </p:nvSpPr>
        <p:spPr>
          <a:xfrm>
            <a:off x="933450" y="341238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1</a:t>
            </a:r>
            <a:endParaRPr lang="en-US" sz="1300" dirty="0"/>
          </a:p>
        </p:txBody>
      </p:sp>
      <p:pic>
        <p:nvPicPr>
          <p:cNvPr id="16" name="Image 3" descr="Play"/>
          <p:cNvPicPr>
            <a:picLocks noChangeAspect="1"/>
          </p:cNvPicPr>
          <p:nvPr/>
        </p:nvPicPr>
        <p:blipFill>
          <a:blip r:embed="rId6"/>
          <a:srcRect/>
          <a:stretch/>
        </p:blipFill>
        <p:spPr>
          <a:xfrm>
            <a:off x="946150" y="3869581"/>
            <a:ext cx="254000" cy="254000"/>
          </a:xfrm>
          <a:prstGeom prst="rect">
            <a:avLst/>
          </a:prstGeom>
        </p:spPr>
      </p:pic>
      <p:pic>
        <p:nvPicPr>
          <p:cNvPr id="17" name="Image 4" descr="Settings"/>
          <p:cNvPicPr>
            <a:picLocks noChangeAspect="1"/>
          </p:cNvPicPr>
          <p:nvPr/>
        </p:nvPicPr>
        <p:blipFill>
          <a:blip r:embed="rId7"/>
          <a:srcRect/>
          <a:stretch/>
        </p:blipFill>
        <p:spPr>
          <a:xfrm>
            <a:off x="946150" y="4301381"/>
            <a:ext cx="254000" cy="254000"/>
          </a:xfrm>
          <a:prstGeom prst="rect">
            <a:avLst/>
          </a:prstGeom>
        </p:spPr>
      </p:pic>
      <p:sp>
        <p:nvSpPr>
          <p:cNvPr id="18" name="Shape 11"/>
          <p:cNvSpPr/>
          <p:nvPr/>
        </p:nvSpPr>
        <p:spPr>
          <a:xfrm>
            <a:off x="1314450" y="2091581"/>
            <a:ext cx="2286000" cy="2661642"/>
          </a:xfrm>
          <a:prstGeom prst="rect">
            <a:avLst/>
          </a:prstGeom>
          <a:solidFill>
            <a:srgbClr val="252526"/>
          </a:solidFill>
          <a:ln/>
        </p:spPr>
        <p:txBody>
          <a:bodyPr/>
          <a:lstStyle/>
          <a:p>
            <a:endParaRPr lang="en-US"/>
          </a:p>
        </p:txBody>
      </p:sp>
      <p:sp>
        <p:nvSpPr>
          <p:cNvPr id="19" name="Text 12"/>
          <p:cNvSpPr/>
          <p:nvPr/>
        </p:nvSpPr>
        <p:spPr>
          <a:xfrm>
            <a:off x="1441450" y="2218581"/>
            <a:ext cx="209296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BBBBBB"/>
                </a:solidFill>
                <a:latin typeface="Arial" pitchFamily="34" charset="0"/>
                <a:ea typeface="Arial" pitchFamily="34" charset="-122"/>
                <a:cs typeface="Arial" pitchFamily="34" charset="-120"/>
              </a:rPr>
              <a:t>SOURCE CONTROL</a:t>
            </a:r>
            <a:endParaRPr lang="en-US" sz="1200" dirty="0"/>
          </a:p>
        </p:txBody>
      </p:sp>
      <p:sp>
        <p:nvSpPr>
          <p:cNvPr id="20" name="Text 13"/>
          <p:cNvSpPr/>
          <p:nvPr/>
        </p:nvSpPr>
        <p:spPr>
          <a:xfrm>
            <a:off x="1441450" y="255126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3</a:t>
            </a:r>
            <a:endParaRPr lang="en-US" sz="1300" dirty="0"/>
          </a:p>
        </p:txBody>
      </p:sp>
      <p:sp>
        <p:nvSpPr>
          <p:cNvPr id="21" name="Text 14"/>
          <p:cNvSpPr/>
          <p:nvPr/>
        </p:nvSpPr>
        <p:spPr>
          <a:xfrm>
            <a:off x="1790700" y="2527151"/>
            <a:ext cx="1676400" cy="327620"/>
          </a:xfrm>
          <a:prstGeom prst="rect">
            <a:avLst/>
          </a:prstGeom>
          <a:solidFill>
            <a:srgbClr val="3C3C3C"/>
          </a:solidFill>
          <a:ln w="12700">
            <a:solidFill>
              <a:srgbClr val="007FD4"/>
            </a:solidFill>
            <a:prstDash val="solid"/>
          </a:ln>
        </p:spPr>
        <p:txBody>
          <a:bodyPr wrap="square" lIns="82550" tIns="57150" rIns="31750" bIns="31750" rtlCol="0" anchor="t">
            <a:normAutofit/>
          </a:bodyPr>
          <a:lstStyle/>
          <a:p>
            <a:pPr marL="0" indent="0" algn="l">
              <a:lnSpc>
                <a:spcPts val="1680"/>
              </a:lnSpc>
              <a:buNone/>
            </a:pPr>
            <a:r>
              <a:rPr lang="en-US" sz="1200" dirty="0">
                <a:solidFill>
                  <a:srgbClr val="E0E0E0"/>
                </a:solidFill>
                <a:latin typeface="Arial" pitchFamily="34" charset="0"/>
                <a:ea typeface="Arial" pitchFamily="34" charset="-122"/>
                <a:cs typeface="Arial" pitchFamily="34" charset="-120"/>
              </a:rPr>
              <a:t>Add double jump 🦘</a:t>
            </a:r>
            <a:endParaRPr lang="en-US" sz="1200" dirty="0"/>
          </a:p>
        </p:txBody>
      </p:sp>
      <p:sp>
        <p:nvSpPr>
          <p:cNvPr id="22" name="Text 15"/>
          <p:cNvSpPr/>
          <p:nvPr/>
        </p:nvSpPr>
        <p:spPr>
          <a:xfrm>
            <a:off x="1441450" y="2967782"/>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4</a:t>
            </a:r>
            <a:endParaRPr lang="en-US" sz="1300" dirty="0"/>
          </a:p>
        </p:txBody>
      </p:sp>
      <p:sp>
        <p:nvSpPr>
          <p:cNvPr id="23" name="Text 16"/>
          <p:cNvSpPr/>
          <p:nvPr/>
        </p:nvSpPr>
        <p:spPr>
          <a:xfrm>
            <a:off x="1784350" y="2950021"/>
            <a:ext cx="1689100" cy="314920"/>
          </a:xfrm>
          <a:prstGeom prst="roundRect">
            <a:avLst>
              <a:gd name="adj" fmla="val 8066"/>
            </a:avLst>
          </a:prstGeom>
          <a:solidFill>
            <a:srgbClr val="0078D4"/>
          </a:solidFill>
          <a:ln/>
        </p:spPr>
        <p:txBody>
          <a:bodyPr wrap="square" lIns="43361" tIns="43361" rIns="43361" bIns="17961" rtlCol="0" anchor="t">
            <a:normAutofit/>
          </a:bodyPr>
          <a:lstStyle/>
          <a:p>
            <a:pPr marL="0" indent="0" algn="ctr">
              <a:lnSpc>
                <a:spcPts val="1680"/>
              </a:lnSpc>
              <a:buNone/>
            </a:pPr>
            <a:r>
              <a:rPr lang="en-US" sz="1200" dirty="0">
                <a:solidFill>
                  <a:srgbClr val="FFFFFF"/>
                </a:solidFill>
                <a:latin typeface="Arial" pitchFamily="34" charset="0"/>
                <a:ea typeface="Arial" pitchFamily="34" charset="-122"/>
                <a:cs typeface="Arial" pitchFamily="34" charset="-120"/>
              </a:rPr>
              <a:t>✓ Commit</a:t>
            </a:r>
            <a:endParaRPr lang="en-US" sz="1200" dirty="0"/>
          </a:p>
        </p:txBody>
      </p:sp>
      <p:sp>
        <p:nvSpPr>
          <p:cNvPr id="24" name="Text 17"/>
          <p:cNvSpPr/>
          <p:nvPr/>
        </p:nvSpPr>
        <p:spPr>
          <a:xfrm>
            <a:off x="1441450" y="3353842"/>
            <a:ext cx="2092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BBBBB"/>
                </a:solidFill>
                <a:latin typeface="Arial" pitchFamily="34" charset="0"/>
                <a:ea typeface="Arial" pitchFamily="34" charset="-122"/>
                <a:cs typeface="Arial" pitchFamily="34" charset="-120"/>
              </a:rPr>
              <a:t>▾ Staged Changes (1)</a:t>
            </a:r>
            <a:endParaRPr lang="en-US" sz="1200" dirty="0"/>
          </a:p>
        </p:txBody>
      </p:sp>
      <p:sp>
        <p:nvSpPr>
          <p:cNvPr id="25" name="Shape 18"/>
          <p:cNvSpPr/>
          <p:nvPr/>
        </p:nvSpPr>
        <p:spPr>
          <a:xfrm>
            <a:off x="1441450" y="3656062"/>
            <a:ext cx="2032000" cy="289520"/>
          </a:xfrm>
          <a:prstGeom prst="rect">
            <a:avLst/>
          </a:prstGeom>
          <a:solidFill>
            <a:srgbClr val="37373D"/>
          </a:solidFill>
          <a:ln/>
        </p:spPr>
        <p:txBody>
          <a:bodyPr/>
          <a:lstStyle/>
          <a:p>
            <a:endParaRPr lang="en-US"/>
          </a:p>
        </p:txBody>
      </p:sp>
      <p:sp>
        <p:nvSpPr>
          <p:cNvPr id="26" name="Text 19"/>
          <p:cNvSpPr/>
          <p:nvPr/>
        </p:nvSpPr>
        <p:spPr>
          <a:xfrm>
            <a:off x="1517650" y="3694162"/>
            <a:ext cx="151581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0E0E0"/>
                </a:solidFill>
                <a:latin typeface="Arial" pitchFamily="34" charset="0"/>
                <a:ea typeface="Arial" pitchFamily="34" charset="-122"/>
                <a:cs typeface="Arial" pitchFamily="34" charset="-120"/>
              </a:rPr>
              <a:t>PlayerController.cs</a:t>
            </a:r>
            <a:endParaRPr lang="en-US" sz="1200" dirty="0"/>
          </a:p>
        </p:txBody>
      </p:sp>
      <p:sp>
        <p:nvSpPr>
          <p:cNvPr id="27" name="Text 20"/>
          <p:cNvSpPr/>
          <p:nvPr/>
        </p:nvSpPr>
        <p:spPr>
          <a:xfrm>
            <a:off x="3219500" y="3694162"/>
            <a:ext cx="17775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2C08D"/>
                </a:solidFill>
                <a:latin typeface="Arial" pitchFamily="34" charset="0"/>
                <a:ea typeface="Arial" pitchFamily="34" charset="-122"/>
                <a:cs typeface="Arial" pitchFamily="34" charset="-120"/>
              </a:rPr>
              <a:t>M</a:t>
            </a:r>
            <a:endParaRPr lang="en-US" sz="1200" dirty="0"/>
          </a:p>
        </p:txBody>
      </p:sp>
      <p:sp>
        <p:nvSpPr>
          <p:cNvPr id="28" name="Text 21"/>
          <p:cNvSpPr/>
          <p:nvPr/>
        </p:nvSpPr>
        <p:spPr>
          <a:xfrm>
            <a:off x="1441450" y="4034482"/>
            <a:ext cx="2092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BBBBB"/>
                </a:solidFill>
                <a:latin typeface="Arial" pitchFamily="34" charset="0"/>
                <a:ea typeface="Arial" pitchFamily="34" charset="-122"/>
                <a:cs typeface="Arial" pitchFamily="34" charset="-120"/>
              </a:rPr>
              <a:t>▾ Changes (1)</a:t>
            </a:r>
            <a:endParaRPr lang="en-US" sz="1200" dirty="0"/>
          </a:p>
        </p:txBody>
      </p:sp>
      <p:sp>
        <p:nvSpPr>
          <p:cNvPr id="29" name="Text 22"/>
          <p:cNvSpPr/>
          <p:nvPr/>
        </p:nvSpPr>
        <p:spPr>
          <a:xfrm>
            <a:off x="1441450" y="4341763"/>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2</a:t>
            </a:r>
            <a:endParaRPr lang="en-US" sz="1300" dirty="0"/>
          </a:p>
        </p:txBody>
      </p:sp>
      <p:sp>
        <p:nvSpPr>
          <p:cNvPr id="30" name="Shape 23"/>
          <p:cNvSpPr/>
          <p:nvPr/>
        </p:nvSpPr>
        <p:spPr>
          <a:xfrm>
            <a:off x="1784350" y="4336703"/>
            <a:ext cx="1689100" cy="289520"/>
          </a:xfrm>
          <a:prstGeom prst="rect">
            <a:avLst/>
          </a:prstGeom>
          <a:solidFill>
            <a:srgbClr val="2A2D2E"/>
          </a:solidFill>
          <a:ln/>
        </p:spPr>
        <p:txBody>
          <a:bodyPr/>
          <a:lstStyle/>
          <a:p>
            <a:endParaRPr lang="en-US"/>
          </a:p>
        </p:txBody>
      </p:sp>
      <p:sp>
        <p:nvSpPr>
          <p:cNvPr id="31" name="Text 24"/>
          <p:cNvSpPr/>
          <p:nvPr/>
        </p:nvSpPr>
        <p:spPr>
          <a:xfrm>
            <a:off x="1860550" y="4374803"/>
            <a:ext cx="9756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0E0E0"/>
                </a:solidFill>
                <a:latin typeface="Arial" pitchFamily="34" charset="0"/>
                <a:ea typeface="Arial" pitchFamily="34" charset="-122"/>
                <a:cs typeface="Arial" pitchFamily="34" charset="-120"/>
              </a:rPr>
              <a:t>EnemyAI.cs</a:t>
            </a:r>
            <a:endParaRPr lang="en-US" sz="1200" dirty="0"/>
          </a:p>
        </p:txBody>
      </p:sp>
      <p:sp>
        <p:nvSpPr>
          <p:cNvPr id="32" name="Text 25"/>
          <p:cNvSpPr/>
          <p:nvPr/>
        </p:nvSpPr>
        <p:spPr>
          <a:xfrm>
            <a:off x="3033068" y="4374803"/>
            <a:ext cx="190599" cy="213320"/>
          </a:xfrm>
          <a:custGeom>
            <a:avLst/>
            <a:gdLst/>
            <a:ahLst/>
            <a:cxnLst/>
            <a:rect l="l" t="t" r="r" b="b"/>
            <a:pathLst>
              <a:path w="190599" h="213320">
                <a:moveTo>
                  <a:pt x="25400" y="0"/>
                </a:moveTo>
                <a:lnTo>
                  <a:pt x="165199" y="0"/>
                </a:lnTo>
                <a:arcTo wR="25400" hR="25400" stAng="16200000" swAng="5400000"/>
                <a:lnTo>
                  <a:pt x="190599" y="187920"/>
                </a:lnTo>
                <a:arcTo wR="25400" hR="25400" stAng="0" swAng="5400000"/>
                <a:lnTo>
                  <a:pt x="25400" y="213320"/>
                </a:lnTo>
                <a:arcTo wR="25400" hR="25400" stAng="5400000" swAng="5400000"/>
                <a:lnTo>
                  <a:pt x="0" y="25400"/>
                </a:lnTo>
                <a:arcTo wR="25400" hR="25400" stAng="10800000" swAng="5400000"/>
                <a:close/>
              </a:path>
            </a:pathLst>
          </a:custGeom>
          <a:solidFill>
            <a:srgbClr val="4A4A4A"/>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3" name="Text 26"/>
          <p:cNvSpPr/>
          <p:nvPr/>
        </p:nvSpPr>
        <p:spPr>
          <a:xfrm>
            <a:off x="3287167" y="4374803"/>
            <a:ext cx="1608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3C991"/>
                </a:solidFill>
                <a:latin typeface="Arial" pitchFamily="34" charset="0"/>
                <a:ea typeface="Arial" pitchFamily="34" charset="-122"/>
                <a:cs typeface="Arial" pitchFamily="34" charset="-120"/>
              </a:rPr>
              <a:t>U</a:t>
            </a:r>
            <a:endParaRPr lang="en-US" sz="1200" dirty="0"/>
          </a:p>
        </p:txBody>
      </p:sp>
      <p:sp>
        <p:nvSpPr>
          <p:cNvPr id="34" name="Shape 27"/>
          <p:cNvSpPr/>
          <p:nvPr/>
        </p:nvSpPr>
        <p:spPr>
          <a:xfrm>
            <a:off x="3600450" y="2091581"/>
            <a:ext cx="3924300" cy="2661642"/>
          </a:xfrm>
          <a:prstGeom prst="rect">
            <a:avLst/>
          </a:prstGeom>
          <a:solidFill>
            <a:srgbClr val="1E1E1E"/>
          </a:solidFill>
          <a:ln/>
        </p:spPr>
        <p:txBody>
          <a:bodyPr/>
          <a:lstStyle/>
          <a:p>
            <a:endParaRPr lang="en-US"/>
          </a:p>
        </p:txBody>
      </p:sp>
      <p:sp>
        <p:nvSpPr>
          <p:cNvPr id="35" name="Shape 28"/>
          <p:cNvSpPr/>
          <p:nvPr/>
        </p:nvSpPr>
        <p:spPr>
          <a:xfrm>
            <a:off x="3600450" y="2091581"/>
            <a:ext cx="3924300" cy="340320"/>
          </a:xfrm>
          <a:prstGeom prst="rect">
            <a:avLst/>
          </a:prstGeom>
          <a:solidFill>
            <a:srgbClr val="252526"/>
          </a:solidFill>
          <a:ln/>
        </p:spPr>
        <p:txBody>
          <a:bodyPr/>
          <a:lstStyle/>
          <a:p>
            <a:endParaRPr lang="en-US"/>
          </a:p>
        </p:txBody>
      </p:sp>
      <p:sp>
        <p:nvSpPr>
          <p:cNvPr id="36" name="Text 29"/>
          <p:cNvSpPr/>
          <p:nvPr/>
        </p:nvSpPr>
        <p:spPr>
          <a:xfrm>
            <a:off x="3600450" y="2091581"/>
            <a:ext cx="1532979" cy="340320"/>
          </a:xfrm>
          <a:prstGeom prst="rect">
            <a:avLst/>
          </a:prstGeom>
          <a:solidFill>
            <a:srgbClr val="1E1E1E"/>
          </a:solidFill>
          <a:ln/>
        </p:spPr>
        <p:txBody>
          <a:bodyPr wrap="none" lIns="0" tIns="0" rIns="0" bIns="0" rtlCol="0" anchor="ctr">
            <a:normAutofit/>
          </a:bodyPr>
          <a:lstStyle/>
          <a:p>
            <a:pPr marL="0" indent="0" algn="ctr">
              <a:lnSpc>
                <a:spcPts val="1680"/>
              </a:lnSpc>
              <a:buNone/>
            </a:pPr>
            <a:r>
              <a:rPr lang="en-US" sz="1200" dirty="0">
                <a:solidFill>
                  <a:srgbClr val="FFFFFF"/>
                </a:solidFill>
                <a:latin typeface="Arial" pitchFamily="34" charset="0"/>
                <a:ea typeface="Arial" pitchFamily="34" charset="-122"/>
                <a:cs typeface="Arial" pitchFamily="34" charset="-120"/>
              </a:rPr>
              <a:t>PlayerController.cs</a:t>
            </a:r>
            <a:endParaRPr lang="en-US" sz="1200" dirty="0"/>
          </a:p>
        </p:txBody>
      </p:sp>
      <p:sp>
        <p:nvSpPr>
          <p:cNvPr id="37" name="Text 30"/>
          <p:cNvSpPr/>
          <p:nvPr/>
        </p:nvSpPr>
        <p:spPr>
          <a:xfrm>
            <a:off x="3727450" y="2558901"/>
            <a:ext cx="3780409"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69CD6"/>
                </a:solidFill>
                <a:latin typeface="JetBrains Mono" pitchFamily="49" charset="0"/>
                <a:ea typeface="JetBrains Mono" pitchFamily="49" charset="-122"/>
                <a:cs typeface="JetBrains Mono" pitchFamily="49" charset="-120"/>
              </a:rPr>
              <a:t>void </a:t>
            </a:r>
            <a:r>
              <a:rPr lang="en-US" sz="1200" dirty="0">
                <a:solidFill>
                  <a:srgbClr val="DCDCAA"/>
                </a:solidFill>
                <a:latin typeface="JetBrains Mono" pitchFamily="49" charset="0"/>
                <a:ea typeface="JetBrains Mono" pitchFamily="49" charset="-122"/>
                <a:cs typeface="JetBrains Mono" pitchFamily="49" charset="-120"/>
              </a:rPr>
              <a:t>Update</a:t>
            </a:r>
            <a:r>
              <a:rPr lang="en-US" sz="1200" dirty="0">
                <a:solidFill>
                  <a:srgbClr val="D4D4D4"/>
                </a:solidFill>
                <a:latin typeface="JetBrains Mono" pitchFamily="49" charset="0"/>
                <a:ea typeface="JetBrains Mono" pitchFamily="49" charset="-122"/>
                <a:cs typeface="JetBrains Mono" pitchFamily="49" charset="-120"/>
              </a:rPr>
              <a:t>() {</a:t>
            </a:r>
            <a:endParaRPr lang="en-US" sz="1200" dirty="0"/>
          </a:p>
        </p:txBody>
      </p:sp>
      <p:sp>
        <p:nvSpPr>
          <p:cNvPr id="38" name="Text 31"/>
          <p:cNvSpPr/>
          <p:nvPr/>
        </p:nvSpPr>
        <p:spPr>
          <a:xfrm>
            <a:off x="3727450" y="2797621"/>
            <a:ext cx="3780409"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D4D4D4"/>
                </a:solidFill>
                <a:latin typeface="JetBrains Mono" pitchFamily="49" charset="0"/>
                <a:ea typeface="JetBrains Mono" pitchFamily="49" charset="-122"/>
                <a:cs typeface="JetBrains Mono" pitchFamily="49" charset="-120"/>
              </a:rPr>
              <a:t>  </a:t>
            </a:r>
            <a:r>
              <a:rPr lang="en-US" sz="1200" dirty="0">
                <a:solidFill>
                  <a:srgbClr val="C586C0"/>
                </a:solidFill>
                <a:latin typeface="JetBrains Mono" pitchFamily="49" charset="0"/>
                <a:ea typeface="JetBrains Mono" pitchFamily="49" charset="-122"/>
                <a:cs typeface="JetBrains Mono" pitchFamily="49" charset="-120"/>
              </a:rPr>
              <a:t>if</a:t>
            </a:r>
            <a:r>
              <a:rPr lang="en-US" sz="1200" dirty="0">
                <a:solidFill>
                  <a:srgbClr val="D4D4D4"/>
                </a:solidFill>
                <a:latin typeface="JetBrains Mono" pitchFamily="49" charset="0"/>
                <a:ea typeface="JetBrains Mono" pitchFamily="49" charset="-122"/>
                <a:cs typeface="JetBrains Mono" pitchFamily="49" charset="-120"/>
              </a:rPr>
              <a:t> (Jump() &amp;&amp; jumpsLeft &gt; 0) {</a:t>
            </a:r>
            <a:endParaRPr lang="en-US" sz="1200" dirty="0"/>
          </a:p>
        </p:txBody>
      </p:sp>
      <p:sp>
        <p:nvSpPr>
          <p:cNvPr id="39" name="Text 32"/>
          <p:cNvSpPr/>
          <p:nvPr/>
        </p:nvSpPr>
        <p:spPr>
          <a:xfrm>
            <a:off x="3727450" y="3036342"/>
            <a:ext cx="3780409"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D4D4D4"/>
                </a:solidFill>
                <a:latin typeface="JetBrains Mono" pitchFamily="49" charset="0"/>
                <a:ea typeface="JetBrains Mono" pitchFamily="49" charset="-122"/>
                <a:cs typeface="JetBrains Mono" pitchFamily="49" charset="-120"/>
              </a:rPr>
              <a:t>    rb.velocity = up * jumpForce;</a:t>
            </a:r>
            <a:endParaRPr lang="en-US" sz="1200" dirty="0"/>
          </a:p>
        </p:txBody>
      </p:sp>
      <p:sp>
        <p:nvSpPr>
          <p:cNvPr id="40" name="Text 33"/>
          <p:cNvSpPr/>
          <p:nvPr/>
        </p:nvSpPr>
        <p:spPr>
          <a:xfrm>
            <a:off x="3727450" y="3275062"/>
            <a:ext cx="3780409"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D4D4D4"/>
                </a:solidFill>
                <a:latin typeface="JetBrains Mono" pitchFamily="49" charset="0"/>
                <a:ea typeface="JetBrains Mono" pitchFamily="49" charset="-122"/>
                <a:cs typeface="JetBrains Mono" pitchFamily="49" charset="-120"/>
              </a:rPr>
              <a:t>    jumpsLeft--;</a:t>
            </a:r>
            <a:endParaRPr lang="en-US" sz="1200" dirty="0"/>
          </a:p>
        </p:txBody>
      </p:sp>
      <p:sp>
        <p:nvSpPr>
          <p:cNvPr id="41" name="Text 34"/>
          <p:cNvSpPr/>
          <p:nvPr/>
        </p:nvSpPr>
        <p:spPr>
          <a:xfrm>
            <a:off x="3727450" y="3513782"/>
            <a:ext cx="3780409"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D4D4D4"/>
                </a:solidFill>
                <a:latin typeface="JetBrains Mono" pitchFamily="49" charset="0"/>
                <a:ea typeface="JetBrains Mono" pitchFamily="49" charset="-122"/>
                <a:cs typeface="JetBrains Mono" pitchFamily="49" charset="-120"/>
              </a:rPr>
              <a:t>  }</a:t>
            </a:r>
            <a:endParaRPr lang="en-US" sz="1200" dirty="0"/>
          </a:p>
        </p:txBody>
      </p:sp>
      <p:sp>
        <p:nvSpPr>
          <p:cNvPr id="42" name="Text 35"/>
          <p:cNvSpPr/>
          <p:nvPr/>
        </p:nvSpPr>
        <p:spPr>
          <a:xfrm>
            <a:off x="3727450" y="3752503"/>
            <a:ext cx="3780409"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D4D4D4"/>
                </a:solidFill>
                <a:latin typeface="JetBrains Mono" pitchFamily="49" charset="0"/>
                <a:ea typeface="JetBrains Mono" pitchFamily="49" charset="-122"/>
                <a:cs typeface="JetBrains Mono" pitchFamily="49" charset="-120"/>
              </a:rPr>
              <a:t>}</a:t>
            </a:r>
            <a:endParaRPr lang="en-US" sz="1200" dirty="0"/>
          </a:p>
        </p:txBody>
      </p:sp>
      <p:sp>
        <p:nvSpPr>
          <p:cNvPr id="43" name="Text 36"/>
          <p:cNvSpPr/>
          <p:nvPr/>
        </p:nvSpPr>
        <p:spPr>
          <a:xfrm>
            <a:off x="3727450" y="3991223"/>
            <a:ext cx="3780409"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6A9955"/>
                </a:solidFill>
                <a:latin typeface="JetBrains Mono" pitchFamily="49" charset="0"/>
                <a:ea typeface="JetBrains Mono" pitchFamily="49" charset="-122"/>
                <a:cs typeface="JetBrains Mono" pitchFamily="49" charset="-120"/>
              </a:rPr>
              <a:t>// 🦘 boing boing</a:t>
            </a:r>
            <a:endParaRPr lang="en-US" sz="1200" dirty="0"/>
          </a:p>
        </p:txBody>
      </p:sp>
      <p:sp>
        <p:nvSpPr>
          <p:cNvPr id="44" name="Shape 37"/>
          <p:cNvSpPr/>
          <p:nvPr/>
        </p:nvSpPr>
        <p:spPr>
          <a:xfrm>
            <a:off x="831850" y="4753223"/>
            <a:ext cx="6692900" cy="289520"/>
          </a:xfrm>
          <a:custGeom>
            <a:avLst/>
            <a:gdLst/>
            <a:ahLst/>
            <a:cxnLst/>
            <a:rect l="l" t="t" r="r" b="b"/>
            <a:pathLst>
              <a:path w="6692900" h="289520">
                <a:moveTo>
                  <a:pt x="6692900" y="206970"/>
                </a:moveTo>
                <a:arcTo wR="82550" hR="82550" stAng="0" swAng="5400000"/>
                <a:lnTo>
                  <a:pt x="82550" y="289520"/>
                </a:lnTo>
                <a:arcTo wR="82550" hR="82550" stAng="5400000" swAng="5400000"/>
                <a:lnTo>
                  <a:pt x="0" y="0"/>
                </a:lnTo>
                <a:lnTo>
                  <a:pt x="6692900" y="0"/>
                </a:lnTo>
                <a:close/>
              </a:path>
            </a:pathLst>
          </a:custGeom>
          <a:solidFill>
            <a:srgbClr val="007ACC"/>
          </a:solidFill>
          <a:ln/>
        </p:spPr>
        <p:txBody>
          <a:bodyPr/>
          <a:lstStyle/>
          <a:p>
            <a:endParaRPr lang="en-US"/>
          </a:p>
        </p:txBody>
      </p:sp>
      <p:sp>
        <p:nvSpPr>
          <p:cNvPr id="45" name="Text 38"/>
          <p:cNvSpPr/>
          <p:nvPr/>
        </p:nvSpPr>
        <p:spPr>
          <a:xfrm>
            <a:off x="933450" y="4791323"/>
            <a:ext cx="6259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 main*</a:t>
            </a:r>
            <a:endParaRPr lang="en-US" sz="1200" dirty="0"/>
          </a:p>
        </p:txBody>
      </p:sp>
      <p:sp>
        <p:nvSpPr>
          <p:cNvPr id="46" name="Text 39"/>
          <p:cNvSpPr/>
          <p:nvPr/>
        </p:nvSpPr>
        <p:spPr>
          <a:xfrm>
            <a:off x="1607443" y="4791323"/>
            <a:ext cx="61221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 0↓ 1↑</a:t>
            </a:r>
            <a:endParaRPr lang="en-US" sz="1200" dirty="0"/>
          </a:p>
        </p:txBody>
      </p:sp>
      <p:sp>
        <p:nvSpPr>
          <p:cNvPr id="47" name="Shape 40"/>
          <p:cNvSpPr/>
          <p:nvPr/>
        </p:nvSpPr>
        <p:spPr>
          <a:xfrm>
            <a:off x="7861300" y="1744911"/>
            <a:ext cx="3505200" cy="746720"/>
          </a:xfrm>
          <a:prstGeom prst="roundRect">
            <a:avLst>
              <a:gd name="adj" fmla="val 15307"/>
            </a:avLst>
          </a:prstGeom>
          <a:solidFill>
            <a:srgbClr val="2A1A52"/>
          </a:solidFill>
          <a:ln w="25400">
            <a:solidFill>
              <a:srgbClr val="FFD23F"/>
            </a:solidFill>
            <a:prstDash val="solid"/>
          </a:ln>
        </p:spPr>
        <p:txBody>
          <a:bodyPr/>
          <a:lstStyle/>
          <a:p>
            <a:endParaRPr lang="en-US"/>
          </a:p>
        </p:txBody>
      </p:sp>
      <p:sp>
        <p:nvSpPr>
          <p:cNvPr id="48" name="Text 41"/>
          <p:cNvSpPr/>
          <p:nvPr/>
        </p:nvSpPr>
        <p:spPr>
          <a:xfrm>
            <a:off x="8001000" y="188461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1</a:t>
            </a:r>
            <a:endParaRPr lang="en-US" sz="1300" dirty="0"/>
          </a:p>
        </p:txBody>
      </p:sp>
      <p:sp>
        <p:nvSpPr>
          <p:cNvPr id="49" name="Text 42"/>
          <p:cNvSpPr/>
          <p:nvPr/>
        </p:nvSpPr>
        <p:spPr>
          <a:xfrm>
            <a:off x="8382000" y="1884611"/>
            <a:ext cx="29301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4E0"/>
                </a:solidFill>
                <a:latin typeface="Fredoka" pitchFamily="34" charset="0"/>
                <a:ea typeface="Fredoka" pitchFamily="34" charset="-122"/>
                <a:cs typeface="Fredoka" pitchFamily="34" charset="-120"/>
              </a:rPr>
              <a:t>Open Source Control</a:t>
            </a:r>
            <a:endParaRPr lang="en-US" sz="1500" dirty="0"/>
          </a:p>
        </p:txBody>
      </p:sp>
      <p:sp>
        <p:nvSpPr>
          <p:cNvPr id="50" name="Text 43"/>
          <p:cNvSpPr/>
          <p:nvPr/>
        </p:nvSpPr>
        <p:spPr>
          <a:xfrm>
            <a:off x="8382000" y="2138611"/>
            <a:ext cx="2930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Branch icon, or Ctrl+Shift+G</a:t>
            </a:r>
            <a:endParaRPr lang="en-US" sz="1200" dirty="0"/>
          </a:p>
        </p:txBody>
      </p:sp>
      <p:sp>
        <p:nvSpPr>
          <p:cNvPr id="51" name="Shape 44"/>
          <p:cNvSpPr/>
          <p:nvPr/>
        </p:nvSpPr>
        <p:spPr>
          <a:xfrm>
            <a:off x="7861300" y="2644031"/>
            <a:ext cx="3505200" cy="746720"/>
          </a:xfrm>
          <a:prstGeom prst="roundRect">
            <a:avLst>
              <a:gd name="adj" fmla="val 15307"/>
            </a:avLst>
          </a:prstGeom>
          <a:solidFill>
            <a:srgbClr val="2A1A52"/>
          </a:solidFill>
          <a:ln w="25400">
            <a:solidFill>
              <a:srgbClr val="FFD23F"/>
            </a:solidFill>
            <a:prstDash val="solid"/>
          </a:ln>
        </p:spPr>
        <p:txBody>
          <a:bodyPr/>
          <a:lstStyle/>
          <a:p>
            <a:endParaRPr lang="en-US"/>
          </a:p>
        </p:txBody>
      </p:sp>
      <p:sp>
        <p:nvSpPr>
          <p:cNvPr id="52" name="Text 45"/>
          <p:cNvSpPr/>
          <p:nvPr/>
        </p:nvSpPr>
        <p:spPr>
          <a:xfrm>
            <a:off x="8001000" y="278373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2</a:t>
            </a:r>
            <a:endParaRPr lang="en-US" sz="1300" dirty="0"/>
          </a:p>
        </p:txBody>
      </p:sp>
      <p:sp>
        <p:nvSpPr>
          <p:cNvPr id="53" name="Text 46"/>
          <p:cNvSpPr/>
          <p:nvPr/>
        </p:nvSpPr>
        <p:spPr>
          <a:xfrm>
            <a:off x="8382000" y="2783731"/>
            <a:ext cx="29301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4E0"/>
                </a:solidFill>
                <a:latin typeface="Fredoka" pitchFamily="34" charset="0"/>
                <a:ea typeface="Fredoka" pitchFamily="34" charset="-122"/>
                <a:cs typeface="Fredoka" pitchFamily="34" charset="-120"/>
              </a:rPr>
              <a:t>Stage files</a:t>
            </a:r>
            <a:endParaRPr lang="en-US" sz="1500" dirty="0"/>
          </a:p>
        </p:txBody>
      </p:sp>
      <p:sp>
        <p:nvSpPr>
          <p:cNvPr id="54" name="Text 47"/>
          <p:cNvSpPr/>
          <p:nvPr/>
        </p:nvSpPr>
        <p:spPr>
          <a:xfrm>
            <a:off x="8382000" y="3037731"/>
            <a:ext cx="2930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Hover a file, click + (that’s git add)</a:t>
            </a:r>
            <a:endParaRPr lang="en-US" sz="1200" dirty="0"/>
          </a:p>
        </p:txBody>
      </p:sp>
      <p:sp>
        <p:nvSpPr>
          <p:cNvPr id="55" name="Shape 48"/>
          <p:cNvSpPr/>
          <p:nvPr/>
        </p:nvSpPr>
        <p:spPr>
          <a:xfrm>
            <a:off x="7861300" y="3543151"/>
            <a:ext cx="3505200" cy="746720"/>
          </a:xfrm>
          <a:prstGeom prst="roundRect">
            <a:avLst>
              <a:gd name="adj" fmla="val 15307"/>
            </a:avLst>
          </a:prstGeom>
          <a:solidFill>
            <a:srgbClr val="2A1A52"/>
          </a:solidFill>
          <a:ln w="25400">
            <a:solidFill>
              <a:srgbClr val="FFD23F"/>
            </a:solidFill>
            <a:prstDash val="solid"/>
          </a:ln>
        </p:spPr>
        <p:txBody>
          <a:bodyPr/>
          <a:lstStyle/>
          <a:p>
            <a:endParaRPr lang="en-US"/>
          </a:p>
        </p:txBody>
      </p:sp>
      <p:sp>
        <p:nvSpPr>
          <p:cNvPr id="56" name="Text 49"/>
          <p:cNvSpPr/>
          <p:nvPr/>
        </p:nvSpPr>
        <p:spPr>
          <a:xfrm>
            <a:off x="8001000" y="368285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3</a:t>
            </a:r>
            <a:endParaRPr lang="en-US" sz="1300" dirty="0"/>
          </a:p>
        </p:txBody>
      </p:sp>
      <p:sp>
        <p:nvSpPr>
          <p:cNvPr id="57" name="Text 50"/>
          <p:cNvSpPr/>
          <p:nvPr/>
        </p:nvSpPr>
        <p:spPr>
          <a:xfrm>
            <a:off x="8382000" y="3682851"/>
            <a:ext cx="29301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4E0"/>
                </a:solidFill>
                <a:latin typeface="Fredoka" pitchFamily="34" charset="0"/>
                <a:ea typeface="Fredoka" pitchFamily="34" charset="-122"/>
                <a:cs typeface="Fredoka" pitchFamily="34" charset="-120"/>
              </a:rPr>
              <a:t>Write a message</a:t>
            </a:r>
            <a:endParaRPr lang="en-US" sz="1500" dirty="0"/>
          </a:p>
        </p:txBody>
      </p:sp>
      <p:sp>
        <p:nvSpPr>
          <p:cNvPr id="58" name="Text 51"/>
          <p:cNvSpPr/>
          <p:nvPr/>
        </p:nvSpPr>
        <p:spPr>
          <a:xfrm>
            <a:off x="8382000" y="3936851"/>
            <a:ext cx="2930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Like a patch note: what changed?</a:t>
            </a:r>
            <a:endParaRPr lang="en-US" sz="1200" dirty="0"/>
          </a:p>
        </p:txBody>
      </p:sp>
      <p:sp>
        <p:nvSpPr>
          <p:cNvPr id="59" name="Shape 52"/>
          <p:cNvSpPr/>
          <p:nvPr/>
        </p:nvSpPr>
        <p:spPr>
          <a:xfrm>
            <a:off x="7861300" y="4442271"/>
            <a:ext cx="3505200" cy="746720"/>
          </a:xfrm>
          <a:prstGeom prst="roundRect">
            <a:avLst>
              <a:gd name="adj" fmla="val 15307"/>
            </a:avLst>
          </a:prstGeom>
          <a:solidFill>
            <a:srgbClr val="2A1A52"/>
          </a:solidFill>
          <a:ln w="25400">
            <a:solidFill>
              <a:srgbClr val="FFD23F"/>
            </a:solidFill>
            <a:prstDash val="solid"/>
          </a:ln>
        </p:spPr>
        <p:txBody>
          <a:bodyPr/>
          <a:lstStyle/>
          <a:p>
            <a:endParaRPr lang="en-US"/>
          </a:p>
        </p:txBody>
      </p:sp>
      <p:sp>
        <p:nvSpPr>
          <p:cNvPr id="60" name="Text 53"/>
          <p:cNvSpPr/>
          <p:nvPr/>
        </p:nvSpPr>
        <p:spPr>
          <a:xfrm>
            <a:off x="8001000" y="458197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4</a:t>
            </a:r>
            <a:endParaRPr lang="en-US" sz="1300" dirty="0"/>
          </a:p>
        </p:txBody>
      </p:sp>
      <p:sp>
        <p:nvSpPr>
          <p:cNvPr id="61" name="Text 54"/>
          <p:cNvSpPr/>
          <p:nvPr/>
        </p:nvSpPr>
        <p:spPr>
          <a:xfrm>
            <a:off x="8382000" y="4581971"/>
            <a:ext cx="29301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4E0"/>
                </a:solidFill>
                <a:latin typeface="Fredoka" pitchFamily="34" charset="0"/>
                <a:ea typeface="Fredoka" pitchFamily="34" charset="-122"/>
                <a:cs typeface="Fredoka" pitchFamily="34" charset="-120"/>
              </a:rPr>
              <a:t>Click ✓ Commit</a:t>
            </a:r>
            <a:endParaRPr lang="en-US" sz="1500" dirty="0"/>
          </a:p>
        </p:txBody>
      </p:sp>
      <p:sp>
        <p:nvSpPr>
          <p:cNvPr id="62" name="Text 55"/>
          <p:cNvSpPr/>
          <p:nvPr/>
        </p:nvSpPr>
        <p:spPr>
          <a:xfrm>
            <a:off x="8382000" y="4835971"/>
            <a:ext cx="2930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or Ctrl+Enter (Mac: ⌘+Enter)</a:t>
            </a:r>
            <a:endParaRPr lang="en-US" sz="1200" dirty="0"/>
          </a:p>
        </p:txBody>
      </p:sp>
      <p:sp>
        <p:nvSpPr>
          <p:cNvPr id="63" name="Text 56"/>
          <p:cNvSpPr/>
          <p:nvPr/>
        </p:nvSpPr>
        <p:spPr>
          <a:xfrm rot="360000">
            <a:off x="9029700" y="1061070"/>
            <a:ext cx="1816100" cy="450850"/>
          </a:xfrm>
          <a:prstGeom prst="roundRect">
            <a:avLst>
              <a:gd name="adj" fmla="val 50000"/>
            </a:avLst>
          </a:prstGeom>
          <a:solidFill>
            <a:srgbClr val="FF4FA3"/>
          </a:solidFill>
          <a:ln w="25400">
            <a:solidFill>
              <a:srgbClr val="1B1035"/>
            </a:solidFill>
            <a:prstDash val="solid"/>
          </a:ln>
          <a:effectLst>
            <a:outerShdw dist="53882" dir="2700000" algn="bl" rotWithShape="0">
              <a:srgbClr val="0E0A1F">
                <a:alpha val="100000"/>
              </a:srgbClr>
            </a:outerShdw>
          </a:effectLst>
        </p:spPr>
        <p:txBody>
          <a:bodyPr wrap="square" lIns="48275" tIns="35575" rIns="48275"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button gang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74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3 &gt; VS CODE</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21/30</a:t>
            </a:r>
            <a:endParaRPr lang="en-US" sz="1200" dirty="0"/>
          </a:p>
        </p:txBody>
      </p:sp>
      <p:sp>
        <p:nvSpPr>
          <p:cNvPr id="4" name="Text 2"/>
          <p:cNvSpPr>
            <a:spLocks noGrp="1"/>
          </p:cNvSpPr>
          <p:nvPr>
            <p:ph type="title"/>
          </p:nvPr>
        </p:nvSpPr>
        <p:spPr>
          <a:xfrm>
            <a:off x="812800" y="1026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FF4E0"/>
                </a:solidFill>
                <a:latin typeface="Bungee" pitchFamily="34" charset="0"/>
                <a:ea typeface="Bungee" pitchFamily="34" charset="-122"/>
                <a:cs typeface="Bungee" pitchFamily="34" charset="-120"/>
              </a:rPr>
              <a:t>VS Code: push it online</a:t>
            </a:r>
            <a:endParaRPr lang="en-US" sz="3600" dirty="0"/>
          </a:p>
        </p:txBody>
      </p:sp>
      <p:sp>
        <p:nvSpPr>
          <p:cNvPr id="5" name="Shape 3"/>
          <p:cNvSpPr/>
          <p:nvPr/>
        </p:nvSpPr>
        <p:spPr>
          <a:xfrm>
            <a:off x="822325" y="1741736"/>
            <a:ext cx="6711950" cy="2934692"/>
          </a:xfrm>
          <a:prstGeom prst="roundRect">
            <a:avLst>
              <a:gd name="adj" fmla="val 3137"/>
            </a:avLst>
          </a:prstGeom>
          <a:solidFill>
            <a:srgbClr val="1E1E1E"/>
          </a:solidFill>
          <a:ln w="19050">
            <a:solidFill>
              <a:srgbClr val="B6FF3B"/>
            </a:solidFill>
            <a:prstDash val="solid"/>
          </a:ln>
          <a:effectLst>
            <a:outerShdw dist="89803" dir="2700000" algn="bl" rotWithShape="0">
              <a:srgbClr val="B6FF3B">
                <a:alpha val="100000"/>
              </a:srgbClr>
            </a:outerShdw>
          </a:effectLst>
        </p:spPr>
        <p:txBody>
          <a:bodyPr/>
          <a:lstStyle/>
          <a:p>
            <a:endParaRPr lang="en-US"/>
          </a:p>
        </p:txBody>
      </p:sp>
      <p:sp>
        <p:nvSpPr>
          <p:cNvPr id="6" name="Shape 4"/>
          <p:cNvSpPr/>
          <p:nvPr/>
        </p:nvSpPr>
        <p:spPr>
          <a:xfrm>
            <a:off x="831850" y="1751261"/>
            <a:ext cx="6692900" cy="340320"/>
          </a:xfrm>
          <a:custGeom>
            <a:avLst/>
            <a:gdLst/>
            <a:ahLst/>
            <a:cxnLst/>
            <a:rect l="l" t="t" r="r" b="b"/>
            <a:pathLst>
              <a:path w="6692900" h="340320">
                <a:moveTo>
                  <a:pt x="0" y="82550"/>
                </a:moveTo>
                <a:arcTo wR="82550" hR="82550" stAng="10800000" swAng="5400000"/>
                <a:lnTo>
                  <a:pt x="6610350" y="0"/>
                </a:lnTo>
                <a:arcTo wR="82550" hR="82550" stAng="16200000" swAng="5400000"/>
                <a:lnTo>
                  <a:pt x="6692900" y="340320"/>
                </a:lnTo>
                <a:lnTo>
                  <a:pt x="0" y="340320"/>
                </a:lnTo>
                <a:close/>
              </a:path>
            </a:pathLst>
          </a:custGeom>
          <a:solidFill>
            <a:srgbClr val="323233"/>
          </a:solidFill>
          <a:ln/>
        </p:spPr>
        <p:txBody>
          <a:bodyPr/>
          <a:lstStyle/>
          <a:p>
            <a:endParaRPr lang="en-US"/>
          </a:p>
        </p:txBody>
      </p:sp>
      <p:sp>
        <p:nvSpPr>
          <p:cNvPr id="7" name="Shape 5"/>
          <p:cNvSpPr/>
          <p:nvPr/>
        </p:nvSpPr>
        <p:spPr>
          <a:xfrm>
            <a:off x="958850" y="1870621"/>
            <a:ext cx="101600" cy="101600"/>
          </a:xfrm>
          <a:prstGeom prst="roundRect">
            <a:avLst>
              <a:gd name="adj" fmla="val 50000"/>
            </a:avLst>
          </a:prstGeom>
          <a:solidFill>
            <a:srgbClr val="FF5F57"/>
          </a:solidFill>
          <a:ln/>
        </p:spPr>
        <p:txBody>
          <a:bodyPr/>
          <a:lstStyle/>
          <a:p>
            <a:endParaRPr lang="en-US"/>
          </a:p>
        </p:txBody>
      </p:sp>
      <p:sp>
        <p:nvSpPr>
          <p:cNvPr id="8" name="Shape 6"/>
          <p:cNvSpPr/>
          <p:nvPr/>
        </p:nvSpPr>
        <p:spPr>
          <a:xfrm>
            <a:off x="1123950" y="1870621"/>
            <a:ext cx="101600" cy="101600"/>
          </a:xfrm>
          <a:prstGeom prst="roundRect">
            <a:avLst>
              <a:gd name="adj" fmla="val 50000"/>
            </a:avLst>
          </a:prstGeom>
          <a:solidFill>
            <a:srgbClr val="FEBC2E"/>
          </a:solidFill>
          <a:ln/>
        </p:spPr>
        <p:txBody>
          <a:bodyPr/>
          <a:lstStyle/>
          <a:p>
            <a:endParaRPr lang="en-US"/>
          </a:p>
        </p:txBody>
      </p:sp>
      <p:sp>
        <p:nvSpPr>
          <p:cNvPr id="9" name="Shape 7"/>
          <p:cNvSpPr/>
          <p:nvPr/>
        </p:nvSpPr>
        <p:spPr>
          <a:xfrm>
            <a:off x="1289050" y="1870621"/>
            <a:ext cx="101600" cy="101600"/>
          </a:xfrm>
          <a:prstGeom prst="roundRect">
            <a:avLst>
              <a:gd name="adj" fmla="val 50000"/>
            </a:avLst>
          </a:prstGeom>
          <a:solidFill>
            <a:srgbClr val="28C840"/>
          </a:solidFill>
          <a:ln/>
        </p:spPr>
        <p:txBody>
          <a:bodyPr/>
          <a:lstStyle/>
          <a:p>
            <a:endParaRPr lang="en-US"/>
          </a:p>
        </p:txBody>
      </p:sp>
      <p:sp>
        <p:nvSpPr>
          <p:cNvPr id="10" name="Text 8"/>
          <p:cNvSpPr/>
          <p:nvPr/>
        </p:nvSpPr>
        <p:spPr>
          <a:xfrm>
            <a:off x="1555750" y="1814761"/>
            <a:ext cx="28838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CCCCC"/>
                </a:solidFill>
                <a:latin typeface="Arial" pitchFamily="34" charset="0"/>
                <a:ea typeface="Arial" pitchFamily="34" charset="-122"/>
                <a:cs typeface="Arial" pitchFamily="34" charset="-120"/>
              </a:rPr>
              <a:t>space-goose — Visual Studio Code</a:t>
            </a:r>
            <a:endParaRPr lang="en-US" sz="1200" dirty="0"/>
          </a:p>
        </p:txBody>
      </p:sp>
      <p:sp>
        <p:nvSpPr>
          <p:cNvPr id="11" name="Shape 9"/>
          <p:cNvSpPr/>
          <p:nvPr/>
        </p:nvSpPr>
        <p:spPr>
          <a:xfrm>
            <a:off x="831850" y="2091581"/>
            <a:ext cx="2286000" cy="2285802"/>
          </a:xfrm>
          <a:prstGeom prst="rect">
            <a:avLst/>
          </a:prstGeom>
          <a:solidFill>
            <a:srgbClr val="252526"/>
          </a:solidFill>
          <a:ln/>
        </p:spPr>
        <p:txBody>
          <a:bodyPr/>
          <a:lstStyle/>
          <a:p>
            <a:endParaRPr lang="en-US"/>
          </a:p>
        </p:txBody>
      </p:sp>
      <p:sp>
        <p:nvSpPr>
          <p:cNvPr id="12" name="Text 10"/>
          <p:cNvSpPr/>
          <p:nvPr/>
        </p:nvSpPr>
        <p:spPr>
          <a:xfrm>
            <a:off x="958850" y="2218581"/>
            <a:ext cx="2092960"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BBBBBB"/>
                </a:solidFill>
                <a:latin typeface="Arial" pitchFamily="34" charset="0"/>
                <a:ea typeface="Arial" pitchFamily="34" charset="-122"/>
                <a:cs typeface="Arial" pitchFamily="34" charset="-120"/>
              </a:rPr>
              <a:t>SOURCE CONTROL</a:t>
            </a:r>
            <a:endParaRPr lang="en-US" sz="1200" dirty="0"/>
          </a:p>
        </p:txBody>
      </p:sp>
      <p:sp>
        <p:nvSpPr>
          <p:cNvPr id="13" name="Text 11"/>
          <p:cNvSpPr/>
          <p:nvPr/>
        </p:nvSpPr>
        <p:spPr>
          <a:xfrm>
            <a:off x="958850" y="255126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1</a:t>
            </a:r>
            <a:endParaRPr lang="en-US" sz="1300" dirty="0"/>
          </a:p>
        </p:txBody>
      </p:sp>
      <p:sp>
        <p:nvSpPr>
          <p:cNvPr id="14" name="Text 12"/>
          <p:cNvSpPr/>
          <p:nvPr/>
        </p:nvSpPr>
        <p:spPr>
          <a:xfrm>
            <a:off x="1301750" y="2533501"/>
            <a:ext cx="1689100" cy="314920"/>
          </a:xfrm>
          <a:prstGeom prst="roundRect">
            <a:avLst>
              <a:gd name="adj" fmla="val 8066"/>
            </a:avLst>
          </a:prstGeom>
          <a:solidFill>
            <a:srgbClr val="0078D4"/>
          </a:solidFill>
          <a:ln/>
        </p:spPr>
        <p:txBody>
          <a:bodyPr wrap="square" lIns="43361" tIns="43361" rIns="43361" bIns="17961" rtlCol="0" anchor="t">
            <a:normAutofit/>
          </a:bodyPr>
          <a:lstStyle/>
          <a:p>
            <a:pPr marL="0" indent="0" algn="ctr">
              <a:lnSpc>
                <a:spcPts val="1680"/>
              </a:lnSpc>
              <a:buNone/>
            </a:pPr>
            <a:r>
              <a:rPr lang="en-US" sz="1200" dirty="0">
                <a:solidFill>
                  <a:srgbClr val="FFFFFF"/>
                </a:solidFill>
                <a:latin typeface="Arial" pitchFamily="34" charset="0"/>
                <a:ea typeface="Arial" pitchFamily="34" charset="-122"/>
                <a:cs typeface="Arial" pitchFamily="34" charset="-120"/>
              </a:rPr>
              <a:t>☁ Publish Branch</a:t>
            </a:r>
            <a:endParaRPr lang="en-US" sz="1200" dirty="0"/>
          </a:p>
        </p:txBody>
      </p:sp>
      <p:sp>
        <p:nvSpPr>
          <p:cNvPr id="15" name="Text 13"/>
          <p:cNvSpPr/>
          <p:nvPr/>
        </p:nvSpPr>
        <p:spPr>
          <a:xfrm>
            <a:off x="958850" y="2950021"/>
            <a:ext cx="2159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D9D9D"/>
                </a:solidFill>
                <a:latin typeface="Arial" pitchFamily="34" charset="0"/>
                <a:ea typeface="Arial" pitchFamily="34" charset="-122"/>
                <a:cs typeface="Arial" pitchFamily="34" charset="-120"/>
              </a:rPr>
              <a:t>No changes. Saved locally ✅</a:t>
            </a:r>
            <a:endParaRPr lang="en-US" sz="1200" dirty="0"/>
          </a:p>
        </p:txBody>
      </p:sp>
      <p:sp>
        <p:nvSpPr>
          <p:cNvPr id="16" name="Shape 14"/>
          <p:cNvSpPr/>
          <p:nvPr/>
        </p:nvSpPr>
        <p:spPr>
          <a:xfrm>
            <a:off x="958850" y="3264942"/>
            <a:ext cx="2032000" cy="12700"/>
          </a:xfrm>
          <a:prstGeom prst="rect">
            <a:avLst/>
          </a:prstGeom>
          <a:solidFill>
            <a:srgbClr val="3C3C3C"/>
          </a:solidFill>
          <a:ln/>
        </p:spPr>
        <p:txBody>
          <a:bodyPr/>
          <a:lstStyle/>
          <a:p>
            <a:endParaRPr lang="en-US"/>
          </a:p>
        </p:txBody>
      </p:sp>
      <p:sp>
        <p:nvSpPr>
          <p:cNvPr id="17" name="Text 15"/>
          <p:cNvSpPr/>
          <p:nvPr/>
        </p:nvSpPr>
        <p:spPr>
          <a:xfrm>
            <a:off x="958850" y="3379242"/>
            <a:ext cx="2092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BBBBB"/>
                </a:solidFill>
                <a:latin typeface="Arial" pitchFamily="34" charset="0"/>
                <a:ea typeface="Arial" pitchFamily="34" charset="-122"/>
                <a:cs typeface="Arial" pitchFamily="34" charset="-120"/>
              </a:rPr>
              <a:t>After the first push:</a:t>
            </a:r>
            <a:endParaRPr lang="en-US" sz="1200" dirty="0"/>
          </a:p>
        </p:txBody>
      </p:sp>
      <p:sp>
        <p:nvSpPr>
          <p:cNvPr id="18" name="Text 16"/>
          <p:cNvSpPr/>
          <p:nvPr/>
        </p:nvSpPr>
        <p:spPr>
          <a:xfrm>
            <a:off x="958850" y="3711922"/>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3</a:t>
            </a:r>
            <a:endParaRPr lang="en-US" sz="1300" dirty="0"/>
          </a:p>
        </p:txBody>
      </p:sp>
      <p:sp>
        <p:nvSpPr>
          <p:cNvPr id="19" name="Text 17"/>
          <p:cNvSpPr/>
          <p:nvPr/>
        </p:nvSpPr>
        <p:spPr>
          <a:xfrm>
            <a:off x="1301750" y="3694162"/>
            <a:ext cx="1689100" cy="314920"/>
          </a:xfrm>
          <a:prstGeom prst="roundRect">
            <a:avLst>
              <a:gd name="adj" fmla="val 8066"/>
            </a:avLst>
          </a:prstGeom>
          <a:solidFill>
            <a:srgbClr val="0078D4"/>
          </a:solidFill>
          <a:ln/>
        </p:spPr>
        <p:txBody>
          <a:bodyPr wrap="square" lIns="43361" tIns="43361" rIns="43361" bIns="17961" rtlCol="0" anchor="t">
            <a:normAutofit/>
          </a:bodyPr>
          <a:lstStyle/>
          <a:p>
            <a:pPr marL="0" indent="0" algn="ctr">
              <a:lnSpc>
                <a:spcPts val="1680"/>
              </a:lnSpc>
              <a:buNone/>
            </a:pPr>
            <a:r>
              <a:rPr lang="en-US" sz="1200" dirty="0">
                <a:solidFill>
                  <a:srgbClr val="FFFFFF"/>
                </a:solidFill>
                <a:latin typeface="Arial" pitchFamily="34" charset="0"/>
                <a:ea typeface="Arial" pitchFamily="34" charset="-122"/>
                <a:cs typeface="Arial" pitchFamily="34" charset="-120"/>
              </a:rPr>
              <a:t>⟳ Sync Changes 1↑</a:t>
            </a:r>
            <a:endParaRPr lang="en-US" sz="1200" dirty="0"/>
          </a:p>
        </p:txBody>
      </p:sp>
      <p:sp>
        <p:nvSpPr>
          <p:cNvPr id="20" name="Shape 18"/>
          <p:cNvSpPr/>
          <p:nvPr/>
        </p:nvSpPr>
        <p:spPr>
          <a:xfrm>
            <a:off x="3117850" y="2091581"/>
            <a:ext cx="4406900" cy="2285802"/>
          </a:xfrm>
          <a:prstGeom prst="rect">
            <a:avLst/>
          </a:prstGeom>
          <a:solidFill>
            <a:srgbClr val="1E1E1E"/>
          </a:solidFill>
          <a:ln/>
        </p:spPr>
        <p:txBody>
          <a:bodyPr/>
          <a:lstStyle/>
          <a:p>
            <a:endParaRPr lang="en-US"/>
          </a:p>
        </p:txBody>
      </p:sp>
      <p:sp>
        <p:nvSpPr>
          <p:cNvPr id="21" name="Shape 19"/>
          <p:cNvSpPr/>
          <p:nvPr/>
        </p:nvSpPr>
        <p:spPr>
          <a:xfrm>
            <a:off x="3276600" y="2250331"/>
            <a:ext cx="4089400" cy="1150541"/>
          </a:xfrm>
          <a:prstGeom prst="roundRect">
            <a:avLst>
              <a:gd name="adj" fmla="val 3863"/>
            </a:avLst>
          </a:prstGeom>
          <a:solidFill>
            <a:srgbClr val="252526"/>
          </a:solidFill>
          <a:ln w="12700">
            <a:solidFill>
              <a:srgbClr val="454545"/>
            </a:solidFill>
            <a:prstDash val="solid"/>
          </a:ln>
          <a:effectLst>
            <a:outerShdw blurRad="152400" dist="50800" dir="5400000" algn="bl" rotWithShape="0">
              <a:srgbClr val="000000">
                <a:alpha val="50000"/>
              </a:srgbClr>
            </a:outerShdw>
          </a:effectLst>
        </p:spPr>
        <p:txBody>
          <a:bodyPr/>
          <a:lstStyle/>
          <a:p>
            <a:endParaRPr lang="en-US"/>
          </a:p>
        </p:txBody>
      </p:sp>
      <p:sp>
        <p:nvSpPr>
          <p:cNvPr id="22" name="Text 20"/>
          <p:cNvSpPr/>
          <p:nvPr/>
        </p:nvSpPr>
        <p:spPr>
          <a:xfrm>
            <a:off x="3340100" y="2313831"/>
            <a:ext cx="3962400" cy="327620"/>
          </a:xfrm>
          <a:prstGeom prst="rect">
            <a:avLst/>
          </a:prstGeom>
          <a:solidFill>
            <a:srgbClr val="3C3C3C"/>
          </a:solidFill>
          <a:ln w="12700">
            <a:solidFill>
              <a:srgbClr val="007FD4"/>
            </a:solidFill>
            <a:prstDash val="solid"/>
          </a:ln>
        </p:spPr>
        <p:txBody>
          <a:bodyPr wrap="square" lIns="82550" tIns="57150" rIns="0" bIns="31750" rtlCol="0" anchor="t">
            <a:normAutofit/>
          </a:bodyPr>
          <a:lstStyle/>
          <a:p>
            <a:pPr marL="0" indent="0" algn="l">
              <a:lnSpc>
                <a:spcPts val="1680"/>
              </a:lnSpc>
              <a:buNone/>
            </a:pPr>
            <a:r>
              <a:rPr lang="en-US" sz="1200" dirty="0">
                <a:solidFill>
                  <a:srgbClr val="E0E0E0"/>
                </a:solidFill>
                <a:latin typeface="Arial" pitchFamily="34" charset="0"/>
                <a:ea typeface="Arial" pitchFamily="34" charset="-122"/>
                <a:cs typeface="Arial" pitchFamily="34" charset="-120"/>
              </a:rPr>
              <a:t>space-goose</a:t>
            </a:r>
            <a:endParaRPr lang="en-US" sz="1200" dirty="0"/>
          </a:p>
        </p:txBody>
      </p:sp>
      <p:sp>
        <p:nvSpPr>
          <p:cNvPr id="23" name="Shape 21"/>
          <p:cNvSpPr/>
          <p:nvPr/>
        </p:nvSpPr>
        <p:spPr>
          <a:xfrm>
            <a:off x="3333750" y="2647801"/>
            <a:ext cx="3975100" cy="381000"/>
          </a:xfrm>
          <a:prstGeom prst="rect">
            <a:avLst/>
          </a:prstGeom>
          <a:solidFill>
            <a:srgbClr val="04395E"/>
          </a:solidFill>
          <a:ln/>
        </p:spPr>
        <p:txBody>
          <a:bodyPr/>
          <a:lstStyle/>
          <a:p>
            <a:endParaRPr lang="en-US"/>
          </a:p>
        </p:txBody>
      </p:sp>
      <p:sp>
        <p:nvSpPr>
          <p:cNvPr id="24" name="Text 22"/>
          <p:cNvSpPr/>
          <p:nvPr/>
        </p:nvSpPr>
        <p:spPr>
          <a:xfrm>
            <a:off x="3409950" y="269860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2</a:t>
            </a:r>
            <a:endParaRPr lang="en-US" sz="1300" dirty="0"/>
          </a:p>
        </p:txBody>
      </p:sp>
      <p:sp>
        <p:nvSpPr>
          <p:cNvPr id="25" name="Text 23"/>
          <p:cNvSpPr/>
          <p:nvPr/>
        </p:nvSpPr>
        <p:spPr>
          <a:xfrm>
            <a:off x="3752850" y="2731641"/>
            <a:ext cx="28766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Publish to GitHub private repository</a:t>
            </a:r>
            <a:endParaRPr lang="en-US" sz="1200" dirty="0"/>
          </a:p>
        </p:txBody>
      </p:sp>
      <p:sp>
        <p:nvSpPr>
          <p:cNvPr id="26" name="Text 24"/>
          <p:cNvSpPr/>
          <p:nvPr/>
        </p:nvSpPr>
        <p:spPr>
          <a:xfrm>
            <a:off x="3752850" y="3079601"/>
            <a:ext cx="358419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CCCCC"/>
                </a:solidFill>
                <a:latin typeface="Arial" pitchFamily="34" charset="0"/>
                <a:ea typeface="Arial" pitchFamily="34" charset="-122"/>
                <a:cs typeface="Arial" pitchFamily="34" charset="-120"/>
              </a:rPr>
              <a:t>Publish to GitHub public repository</a:t>
            </a:r>
            <a:endParaRPr lang="en-US" sz="1200" dirty="0"/>
          </a:p>
        </p:txBody>
      </p:sp>
      <p:sp>
        <p:nvSpPr>
          <p:cNvPr id="27" name="Text 25"/>
          <p:cNvSpPr/>
          <p:nvPr/>
        </p:nvSpPr>
        <p:spPr>
          <a:xfrm>
            <a:off x="3270250" y="3534221"/>
            <a:ext cx="4225163"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569CD6">
                    <a:alpha val="45000"/>
                  </a:srgbClr>
                </a:solidFill>
                <a:latin typeface="JetBrains Mono" pitchFamily="49" charset="0"/>
                <a:ea typeface="JetBrains Mono" pitchFamily="49" charset="-122"/>
                <a:cs typeface="JetBrains Mono" pitchFamily="49" charset="-120"/>
              </a:rPr>
              <a:t>void </a:t>
            </a:r>
            <a:r>
              <a:rPr lang="en-US" sz="1200" dirty="0">
                <a:solidFill>
                  <a:srgbClr val="DCDCAA">
                    <a:alpha val="45000"/>
                  </a:srgbClr>
                </a:solidFill>
                <a:latin typeface="JetBrains Mono" pitchFamily="49" charset="0"/>
                <a:ea typeface="JetBrains Mono" pitchFamily="49" charset="-122"/>
                <a:cs typeface="JetBrains Mono" pitchFamily="49" charset="-120"/>
              </a:rPr>
              <a:t>Update</a:t>
            </a:r>
            <a:r>
              <a:rPr lang="en-US" sz="1200" dirty="0">
                <a:solidFill>
                  <a:srgbClr val="D4D4D4">
                    <a:alpha val="45000"/>
                  </a:srgbClr>
                </a:solidFill>
                <a:latin typeface="JetBrains Mono" pitchFamily="49" charset="0"/>
                <a:ea typeface="JetBrains Mono" pitchFamily="49" charset="-122"/>
                <a:cs typeface="JetBrains Mono" pitchFamily="49" charset="-120"/>
              </a:rPr>
              <a:t>() {</a:t>
            </a:r>
            <a:endParaRPr lang="en-US" sz="1200" dirty="0"/>
          </a:p>
        </p:txBody>
      </p:sp>
      <p:sp>
        <p:nvSpPr>
          <p:cNvPr id="28" name="Text 26"/>
          <p:cNvSpPr/>
          <p:nvPr/>
        </p:nvSpPr>
        <p:spPr>
          <a:xfrm>
            <a:off x="3270250" y="3772942"/>
            <a:ext cx="4225163"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D4D4D4">
                    <a:alpha val="45000"/>
                  </a:srgbClr>
                </a:solidFill>
                <a:latin typeface="JetBrains Mono" pitchFamily="49" charset="0"/>
                <a:ea typeface="JetBrains Mono" pitchFamily="49" charset="-122"/>
                <a:cs typeface="JetBrains Mono" pitchFamily="49" charset="-120"/>
              </a:rPr>
              <a:t>  </a:t>
            </a:r>
            <a:r>
              <a:rPr lang="en-US" sz="1200" dirty="0">
                <a:solidFill>
                  <a:srgbClr val="C586C0">
                    <a:alpha val="45000"/>
                  </a:srgbClr>
                </a:solidFill>
                <a:latin typeface="JetBrains Mono" pitchFamily="49" charset="0"/>
                <a:ea typeface="JetBrains Mono" pitchFamily="49" charset="-122"/>
                <a:cs typeface="JetBrains Mono" pitchFamily="49" charset="-120"/>
              </a:rPr>
              <a:t>if</a:t>
            </a:r>
            <a:r>
              <a:rPr lang="en-US" sz="1200" dirty="0">
                <a:solidFill>
                  <a:srgbClr val="D4D4D4">
                    <a:alpha val="45000"/>
                  </a:srgbClr>
                </a:solidFill>
                <a:latin typeface="JetBrains Mono" pitchFamily="49" charset="0"/>
                <a:ea typeface="JetBrains Mono" pitchFamily="49" charset="-122"/>
                <a:cs typeface="JetBrains Mono" pitchFamily="49" charset="-120"/>
              </a:rPr>
              <a:t> (Jump() &amp;&amp; jumpsLeft &gt; 0) {</a:t>
            </a:r>
            <a:endParaRPr lang="en-US" sz="1200" dirty="0"/>
          </a:p>
        </p:txBody>
      </p:sp>
      <p:sp>
        <p:nvSpPr>
          <p:cNvPr id="29" name="Text 27"/>
          <p:cNvSpPr/>
          <p:nvPr/>
        </p:nvSpPr>
        <p:spPr>
          <a:xfrm>
            <a:off x="3270250" y="4011662"/>
            <a:ext cx="4225163"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D4D4D4">
                    <a:alpha val="45000"/>
                  </a:srgbClr>
                </a:solidFill>
                <a:latin typeface="JetBrains Mono" pitchFamily="49" charset="0"/>
                <a:ea typeface="JetBrains Mono" pitchFamily="49" charset="-122"/>
                <a:cs typeface="JetBrains Mono" pitchFamily="49" charset="-120"/>
              </a:rPr>
              <a:t>    rb.velocity = up * jumpForce;</a:t>
            </a:r>
            <a:endParaRPr lang="en-US" sz="1200" dirty="0"/>
          </a:p>
        </p:txBody>
      </p:sp>
      <p:sp>
        <p:nvSpPr>
          <p:cNvPr id="30" name="Shape 28"/>
          <p:cNvSpPr/>
          <p:nvPr/>
        </p:nvSpPr>
        <p:spPr>
          <a:xfrm>
            <a:off x="831850" y="4377382"/>
            <a:ext cx="6692900" cy="289520"/>
          </a:xfrm>
          <a:custGeom>
            <a:avLst/>
            <a:gdLst/>
            <a:ahLst/>
            <a:cxnLst/>
            <a:rect l="l" t="t" r="r" b="b"/>
            <a:pathLst>
              <a:path w="6692900" h="289520">
                <a:moveTo>
                  <a:pt x="6692900" y="206970"/>
                </a:moveTo>
                <a:arcTo wR="82550" hR="82550" stAng="0" swAng="5400000"/>
                <a:lnTo>
                  <a:pt x="82550" y="289520"/>
                </a:lnTo>
                <a:arcTo wR="82550" hR="82550" stAng="5400000" swAng="5400000"/>
                <a:lnTo>
                  <a:pt x="0" y="0"/>
                </a:lnTo>
                <a:lnTo>
                  <a:pt x="6692900" y="0"/>
                </a:lnTo>
                <a:close/>
              </a:path>
            </a:pathLst>
          </a:custGeom>
          <a:solidFill>
            <a:srgbClr val="007ACC"/>
          </a:solidFill>
          <a:ln/>
        </p:spPr>
        <p:txBody>
          <a:bodyPr/>
          <a:lstStyle/>
          <a:p>
            <a:endParaRPr lang="en-US"/>
          </a:p>
        </p:txBody>
      </p:sp>
      <p:sp>
        <p:nvSpPr>
          <p:cNvPr id="31" name="Text 29"/>
          <p:cNvSpPr/>
          <p:nvPr/>
        </p:nvSpPr>
        <p:spPr>
          <a:xfrm>
            <a:off x="933450" y="4415482"/>
            <a:ext cx="5547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 main</a:t>
            </a:r>
            <a:endParaRPr lang="en-US" sz="1200" dirty="0"/>
          </a:p>
        </p:txBody>
      </p:sp>
      <p:sp>
        <p:nvSpPr>
          <p:cNvPr id="32" name="Text 30"/>
          <p:cNvSpPr/>
          <p:nvPr/>
        </p:nvSpPr>
        <p:spPr>
          <a:xfrm>
            <a:off x="1548110" y="4415482"/>
            <a:ext cx="12401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Arial" pitchFamily="34" charset="0"/>
                <a:ea typeface="Arial" pitchFamily="34" charset="-122"/>
                <a:cs typeface="Arial" pitchFamily="34" charset="-120"/>
              </a:rPr>
              <a:t>☁ publishing…</a:t>
            </a:r>
            <a:endParaRPr lang="en-US" sz="1200" dirty="0"/>
          </a:p>
        </p:txBody>
      </p:sp>
      <p:sp>
        <p:nvSpPr>
          <p:cNvPr id="33" name="Shape 31"/>
          <p:cNvSpPr/>
          <p:nvPr/>
        </p:nvSpPr>
        <p:spPr>
          <a:xfrm>
            <a:off x="7861300" y="1744911"/>
            <a:ext cx="3505200" cy="746720"/>
          </a:xfrm>
          <a:prstGeom prst="roundRect">
            <a:avLst>
              <a:gd name="adj" fmla="val 15307"/>
            </a:avLst>
          </a:prstGeom>
          <a:solidFill>
            <a:srgbClr val="2A1A52"/>
          </a:solidFill>
          <a:ln w="25400">
            <a:solidFill>
              <a:srgbClr val="B6FF3B"/>
            </a:solidFill>
            <a:prstDash val="solid"/>
          </a:ln>
        </p:spPr>
        <p:txBody>
          <a:bodyPr/>
          <a:lstStyle/>
          <a:p>
            <a:endParaRPr lang="en-US"/>
          </a:p>
        </p:txBody>
      </p:sp>
      <p:sp>
        <p:nvSpPr>
          <p:cNvPr id="34" name="Text 32"/>
          <p:cNvSpPr/>
          <p:nvPr/>
        </p:nvSpPr>
        <p:spPr>
          <a:xfrm>
            <a:off x="8001000" y="188461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1</a:t>
            </a:r>
            <a:endParaRPr lang="en-US" sz="1300" dirty="0"/>
          </a:p>
        </p:txBody>
      </p:sp>
      <p:sp>
        <p:nvSpPr>
          <p:cNvPr id="35" name="Text 33"/>
          <p:cNvSpPr/>
          <p:nvPr/>
        </p:nvSpPr>
        <p:spPr>
          <a:xfrm>
            <a:off x="8382000" y="1884611"/>
            <a:ext cx="29301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4E0"/>
                </a:solidFill>
                <a:latin typeface="Fredoka" pitchFamily="34" charset="0"/>
                <a:ea typeface="Fredoka" pitchFamily="34" charset="-122"/>
                <a:cs typeface="Fredoka" pitchFamily="34" charset="-120"/>
              </a:rPr>
              <a:t>Publish Branch</a:t>
            </a:r>
            <a:endParaRPr lang="en-US" sz="1500" dirty="0"/>
          </a:p>
        </p:txBody>
      </p:sp>
      <p:sp>
        <p:nvSpPr>
          <p:cNvPr id="36" name="Text 34"/>
          <p:cNvSpPr/>
          <p:nvPr/>
        </p:nvSpPr>
        <p:spPr>
          <a:xfrm>
            <a:off x="8382000" y="2138611"/>
            <a:ext cx="2930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First push of a new repo</a:t>
            </a:r>
            <a:endParaRPr lang="en-US" sz="1200" dirty="0"/>
          </a:p>
        </p:txBody>
      </p:sp>
      <p:sp>
        <p:nvSpPr>
          <p:cNvPr id="37" name="Shape 35"/>
          <p:cNvSpPr/>
          <p:nvPr/>
        </p:nvSpPr>
        <p:spPr>
          <a:xfrm>
            <a:off x="7861300" y="2644031"/>
            <a:ext cx="3505200" cy="746720"/>
          </a:xfrm>
          <a:prstGeom prst="roundRect">
            <a:avLst>
              <a:gd name="adj" fmla="val 15307"/>
            </a:avLst>
          </a:prstGeom>
          <a:solidFill>
            <a:srgbClr val="2A1A52"/>
          </a:solidFill>
          <a:ln w="25400">
            <a:solidFill>
              <a:srgbClr val="B6FF3B"/>
            </a:solidFill>
            <a:prstDash val="solid"/>
          </a:ln>
        </p:spPr>
        <p:txBody>
          <a:bodyPr/>
          <a:lstStyle/>
          <a:p>
            <a:endParaRPr lang="en-US"/>
          </a:p>
        </p:txBody>
      </p:sp>
      <p:sp>
        <p:nvSpPr>
          <p:cNvPr id="38" name="Text 36"/>
          <p:cNvSpPr/>
          <p:nvPr/>
        </p:nvSpPr>
        <p:spPr>
          <a:xfrm>
            <a:off x="8001000" y="278373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2</a:t>
            </a:r>
            <a:endParaRPr lang="en-US" sz="1300" dirty="0"/>
          </a:p>
        </p:txBody>
      </p:sp>
      <p:sp>
        <p:nvSpPr>
          <p:cNvPr id="39" name="Text 37"/>
          <p:cNvSpPr/>
          <p:nvPr/>
        </p:nvSpPr>
        <p:spPr>
          <a:xfrm>
            <a:off x="8382000" y="2783731"/>
            <a:ext cx="29301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4E0"/>
                </a:solidFill>
                <a:latin typeface="Fredoka" pitchFamily="34" charset="0"/>
                <a:ea typeface="Fredoka" pitchFamily="34" charset="-122"/>
                <a:cs typeface="Fredoka" pitchFamily="34" charset="-120"/>
              </a:rPr>
              <a:t>Private or public</a:t>
            </a:r>
            <a:endParaRPr lang="en-US" sz="1500" dirty="0"/>
          </a:p>
        </p:txBody>
      </p:sp>
      <p:sp>
        <p:nvSpPr>
          <p:cNvPr id="40" name="Text 38"/>
          <p:cNvSpPr/>
          <p:nvPr/>
        </p:nvSpPr>
        <p:spPr>
          <a:xfrm>
            <a:off x="8382000" y="3037731"/>
            <a:ext cx="2930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Sign in to GitHub, click Allow</a:t>
            </a:r>
            <a:endParaRPr lang="en-US" sz="1200" dirty="0"/>
          </a:p>
        </p:txBody>
      </p:sp>
      <p:sp>
        <p:nvSpPr>
          <p:cNvPr id="41" name="Shape 39"/>
          <p:cNvSpPr/>
          <p:nvPr/>
        </p:nvSpPr>
        <p:spPr>
          <a:xfrm>
            <a:off x="7861300" y="3543151"/>
            <a:ext cx="3505200" cy="746720"/>
          </a:xfrm>
          <a:prstGeom prst="roundRect">
            <a:avLst>
              <a:gd name="adj" fmla="val 15307"/>
            </a:avLst>
          </a:prstGeom>
          <a:solidFill>
            <a:srgbClr val="2A1A52"/>
          </a:solidFill>
          <a:ln w="25400">
            <a:solidFill>
              <a:srgbClr val="B6FF3B"/>
            </a:solidFill>
            <a:prstDash val="solid"/>
          </a:ln>
        </p:spPr>
        <p:txBody>
          <a:bodyPr/>
          <a:lstStyle/>
          <a:p>
            <a:endParaRPr lang="en-US"/>
          </a:p>
        </p:txBody>
      </p:sp>
      <p:sp>
        <p:nvSpPr>
          <p:cNvPr id="42" name="Text 40"/>
          <p:cNvSpPr/>
          <p:nvPr/>
        </p:nvSpPr>
        <p:spPr>
          <a:xfrm>
            <a:off x="8001000" y="3682851"/>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D23F"/>
          </a:solidFill>
          <a:ln/>
        </p:spPr>
        <p:txBody>
          <a:bodyPr wrap="square" lIns="0" tIns="0" rIns="0" bIns="0" rtlCol="0" anchor="t">
            <a:normAutofit/>
          </a:bodyPr>
          <a:lstStyle/>
          <a:p>
            <a:pPr marL="0" indent="0" algn="ctr">
              <a:lnSpc>
                <a:spcPts val="2210"/>
              </a:lnSpc>
              <a:buNone/>
            </a:pPr>
            <a:r>
              <a:rPr lang="en-US" sz="1300" b="1" dirty="0">
                <a:solidFill>
                  <a:srgbClr val="1B1035"/>
                </a:solidFill>
                <a:latin typeface="Fredoka" pitchFamily="34" charset="0"/>
                <a:ea typeface="Fredoka" pitchFamily="34" charset="-122"/>
                <a:cs typeface="Fredoka" pitchFamily="34" charset="-120"/>
              </a:rPr>
              <a:t>3</a:t>
            </a:r>
            <a:endParaRPr lang="en-US" sz="1300" dirty="0"/>
          </a:p>
        </p:txBody>
      </p:sp>
      <p:sp>
        <p:nvSpPr>
          <p:cNvPr id="43" name="Text 41"/>
          <p:cNvSpPr/>
          <p:nvPr/>
        </p:nvSpPr>
        <p:spPr>
          <a:xfrm>
            <a:off x="8382000" y="3682851"/>
            <a:ext cx="293014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4E0"/>
                </a:solidFill>
                <a:latin typeface="Fredoka" pitchFamily="34" charset="0"/>
                <a:ea typeface="Fredoka" pitchFamily="34" charset="-122"/>
                <a:cs typeface="Fredoka" pitchFamily="34" charset="-120"/>
              </a:rPr>
              <a:t>Sync Changes</a:t>
            </a:r>
            <a:endParaRPr lang="en-US" sz="1500" dirty="0"/>
          </a:p>
        </p:txBody>
      </p:sp>
      <p:sp>
        <p:nvSpPr>
          <p:cNvPr id="44" name="Text 42"/>
          <p:cNvSpPr/>
          <p:nvPr/>
        </p:nvSpPr>
        <p:spPr>
          <a:xfrm>
            <a:off x="8382000" y="3936851"/>
            <a:ext cx="29301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Then: pull + push in one click</a:t>
            </a:r>
            <a:endParaRPr lang="en-US" sz="1200" dirty="0"/>
          </a:p>
        </p:txBody>
      </p:sp>
      <p:sp>
        <p:nvSpPr>
          <p:cNvPr id="45" name="Shape 43"/>
          <p:cNvSpPr/>
          <p:nvPr/>
        </p:nvSpPr>
        <p:spPr>
          <a:xfrm>
            <a:off x="7848600" y="4429571"/>
            <a:ext cx="3530600" cy="1396802"/>
          </a:xfrm>
          <a:prstGeom prst="roundRect">
            <a:avLst>
              <a:gd name="adj" fmla="val 9092"/>
            </a:avLst>
          </a:prstGeom>
          <a:solidFill>
            <a:srgbClr val="FF8A3D"/>
          </a:solidFill>
          <a:ln/>
        </p:spPr>
        <p:txBody>
          <a:bodyPr/>
          <a:lstStyle/>
          <a:p>
            <a:endParaRPr lang="en-US"/>
          </a:p>
        </p:txBody>
      </p:sp>
      <p:sp>
        <p:nvSpPr>
          <p:cNvPr id="46" name="Text 44"/>
          <p:cNvSpPr/>
          <p:nvPr/>
        </p:nvSpPr>
        <p:spPr>
          <a:xfrm>
            <a:off x="7975600" y="4556571"/>
            <a:ext cx="337489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1035"/>
                </a:solidFill>
                <a:latin typeface="Fredoka" pitchFamily="34" charset="0"/>
                <a:ea typeface="Fredoka" pitchFamily="34" charset="-122"/>
                <a:cs typeface="Fredoka" pitchFamily="34" charset="-120"/>
              </a:rPr>
              <a:t>🧡 On GitLab?</a:t>
            </a:r>
            <a:endParaRPr lang="en-US" sz="1400" dirty="0"/>
          </a:p>
        </p:txBody>
      </p:sp>
      <p:sp>
        <p:nvSpPr>
          <p:cNvPr id="47" name="Text 45"/>
          <p:cNvSpPr/>
          <p:nvPr/>
        </p:nvSpPr>
        <p:spPr>
          <a:xfrm>
            <a:off x="7975600" y="4807992"/>
            <a:ext cx="337489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035"/>
                </a:solidFill>
                <a:latin typeface="Fredoka" pitchFamily="34" charset="0"/>
                <a:ea typeface="Fredoka" pitchFamily="34" charset="-122"/>
                <a:cs typeface="Fredoka" pitchFamily="34" charset="-120"/>
              </a:rPr>
              <a:t>Make an empty project on gitlab.com, copy its URL, then:</a:t>
            </a:r>
            <a:endParaRPr lang="en-US" sz="1200" dirty="0"/>
          </a:p>
        </p:txBody>
      </p:sp>
      <p:sp>
        <p:nvSpPr>
          <p:cNvPr id="48" name="Text 46"/>
          <p:cNvSpPr/>
          <p:nvPr/>
        </p:nvSpPr>
        <p:spPr>
          <a:xfrm>
            <a:off x="7975600" y="5272732"/>
            <a:ext cx="337489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1035"/>
                </a:solidFill>
                <a:latin typeface="JetBrains Mono" pitchFamily="49" charset="0"/>
                <a:ea typeface="JetBrains Mono" pitchFamily="49" charset="-122"/>
                <a:cs typeface="JetBrains Mono" pitchFamily="49" charset="-120"/>
              </a:rPr>
              <a:t>git remote add origin &lt;url&gt;</a:t>
            </a:r>
            <a:endParaRPr lang="en-US" sz="1200" dirty="0"/>
          </a:p>
          <a:p>
            <a:pPr marL="0" indent="0" algn="l">
              <a:lnSpc>
                <a:spcPts val="1680"/>
              </a:lnSpc>
              <a:buNone/>
            </a:pPr>
            <a:r>
              <a:rPr lang="en-US" sz="1200" dirty="0">
                <a:solidFill>
                  <a:srgbClr val="1B1035"/>
                </a:solidFill>
                <a:latin typeface="JetBrains Mono" pitchFamily="49" charset="0"/>
                <a:ea typeface="JetBrains Mono" pitchFamily="49" charset="-122"/>
                <a:cs typeface="JetBrains Mono" pitchFamily="49" charset="-120"/>
              </a:rPr>
              <a:t>git push -u origin main</a:t>
            </a:r>
            <a:endParaRPr lang="en-US" sz="1200" dirty="0"/>
          </a:p>
        </p:txBody>
      </p:sp>
      <p:sp>
        <p:nvSpPr>
          <p:cNvPr id="49" name="Text 47"/>
          <p:cNvSpPr/>
          <p:nvPr/>
        </p:nvSpPr>
        <p:spPr>
          <a:xfrm rot="360000">
            <a:off x="8902700" y="1061070"/>
            <a:ext cx="2006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FF4FA3">
                <a:alpha val="100000"/>
              </a:srgbClr>
            </a:outerShdw>
          </a:effectLst>
        </p:spPr>
        <p:txBody>
          <a:bodyPr wrap="square" lIns="47767" tIns="35575" rIns="4776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to the cloud!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329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3 &gt; OTHER IDES</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22/30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Not a VS Code main?</a:t>
            </a:r>
            <a:endParaRPr lang="en-US" sz="4000" dirty="0"/>
          </a:p>
        </p:txBody>
      </p:sp>
      <p:sp>
        <p:nvSpPr>
          <p:cNvPr id="5" name="Shape 3"/>
          <p:cNvSpPr/>
          <p:nvPr/>
        </p:nvSpPr>
        <p:spPr>
          <a:xfrm>
            <a:off x="825500" y="1800820"/>
            <a:ext cx="5168900" cy="1404541"/>
          </a:xfrm>
          <a:prstGeom prst="roundRect">
            <a:avLst>
              <a:gd name="adj" fmla="val 9946"/>
            </a:avLst>
          </a:prstGeom>
          <a:solidFill>
            <a:srgbClr val="FFFDF8"/>
          </a:solidFill>
          <a:ln w="25400">
            <a:solidFill>
              <a:srgbClr val="1B1035"/>
            </a:solidFill>
            <a:prstDash val="solid"/>
          </a:ln>
          <a:effectLst>
            <a:outerShdw dist="71842" dir="2700000" algn="bl" rotWithShape="0">
              <a:srgbClr val="9B6BFF">
                <a:alpha val="100000"/>
              </a:srgbClr>
            </a:outerShdw>
          </a:effectLst>
        </p:spPr>
        <p:txBody>
          <a:bodyPr/>
          <a:lstStyle/>
          <a:p>
            <a:endParaRPr lang="en-US"/>
          </a:p>
        </p:txBody>
      </p:sp>
      <p:sp>
        <p:nvSpPr>
          <p:cNvPr id="6" name="Text 4"/>
          <p:cNvSpPr/>
          <p:nvPr/>
        </p:nvSpPr>
        <p:spPr>
          <a:xfrm>
            <a:off x="1041400" y="2016720"/>
            <a:ext cx="48792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035"/>
                </a:solidFill>
                <a:latin typeface="Fredoka" pitchFamily="34" charset="0"/>
                <a:ea typeface="Fredoka" pitchFamily="34" charset="-122"/>
                <a:cs typeface="Fredoka" pitchFamily="34" charset="-120"/>
              </a:rPr>
              <a:t>🟣 Visual Studio</a:t>
            </a:r>
            <a:endParaRPr lang="en-US" sz="1800" dirty="0"/>
          </a:p>
        </p:txBody>
      </p:sp>
      <p:sp>
        <p:nvSpPr>
          <p:cNvPr id="7" name="Text 5"/>
          <p:cNvSpPr/>
          <p:nvPr/>
        </p:nvSpPr>
        <p:spPr>
          <a:xfrm>
            <a:off x="1041400" y="2379911"/>
            <a:ext cx="487921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Popular for Unity + C#</a:t>
            </a:r>
            <a:endParaRPr lang="en-US" sz="1300" dirty="0"/>
          </a:p>
        </p:txBody>
      </p:sp>
      <p:sp>
        <p:nvSpPr>
          <p:cNvPr id="8" name="Text 6"/>
          <p:cNvSpPr/>
          <p:nvPr/>
        </p:nvSpPr>
        <p:spPr>
          <a:xfrm>
            <a:off x="1041400" y="2699941"/>
            <a:ext cx="1183680" cy="289520"/>
          </a:xfrm>
          <a:prstGeom prst="roundRect">
            <a:avLst>
              <a:gd name="adj" fmla="val 21933"/>
            </a:avLst>
          </a:prstGeom>
          <a:solidFill>
            <a:srgbClr val="1B1035"/>
          </a:solidFill>
          <a:ln/>
        </p:spPr>
        <p:txBody>
          <a:bodyPr wrap="none" lIns="0" tIns="0" rIns="0" bIns="0" rtlCol="0" anchor="ctr">
            <a:normAutofit/>
          </a:bodyPr>
          <a:lstStyle/>
          <a:p>
            <a:pPr marL="0" indent="0" algn="ctr">
              <a:lnSpc>
                <a:spcPts val="1680"/>
              </a:lnSpc>
              <a:buNone/>
            </a:pPr>
            <a:r>
              <a:rPr lang="en-US" sz="1200" dirty="0">
                <a:solidFill>
                  <a:srgbClr val="FFF4E0"/>
                </a:solidFill>
                <a:latin typeface="JetBrains Mono" pitchFamily="49" charset="0"/>
                <a:ea typeface="JetBrains Mono" pitchFamily="49" charset="-122"/>
                <a:cs typeface="JetBrains Mono" pitchFamily="49" charset="-120"/>
              </a:rPr>
              <a:t>Git Changes</a:t>
            </a:r>
            <a:endParaRPr lang="en-US" sz="1200" dirty="0"/>
          </a:p>
        </p:txBody>
      </p:sp>
      <p:sp>
        <p:nvSpPr>
          <p:cNvPr id="9" name="Text 7"/>
          <p:cNvSpPr/>
          <p:nvPr/>
        </p:nvSpPr>
        <p:spPr>
          <a:xfrm>
            <a:off x="2288580" y="272911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a:t>
            </a:r>
            <a:endParaRPr lang="en-US" sz="1300" dirty="0"/>
          </a:p>
        </p:txBody>
      </p:sp>
      <p:sp>
        <p:nvSpPr>
          <p:cNvPr id="10" name="Text 8"/>
          <p:cNvSpPr/>
          <p:nvPr/>
        </p:nvSpPr>
        <p:spPr>
          <a:xfrm>
            <a:off x="2517180" y="2699941"/>
            <a:ext cx="817910" cy="289520"/>
          </a:xfrm>
          <a:prstGeom prst="roundRect">
            <a:avLst>
              <a:gd name="adj" fmla="val 21933"/>
            </a:avLst>
          </a:prstGeom>
          <a:solidFill>
            <a:srgbClr val="1B1035"/>
          </a:solidFill>
          <a:ln/>
        </p:spPr>
        <p:txBody>
          <a:bodyPr wrap="none" lIns="0" tIns="0" rIns="0" bIns="0" rtlCol="0" anchor="ctr">
            <a:normAutofit/>
          </a:bodyPr>
          <a:lstStyle/>
          <a:p>
            <a:pPr marL="0" indent="0" algn="ctr">
              <a:lnSpc>
                <a:spcPts val="1680"/>
              </a:lnSpc>
              <a:buNone/>
            </a:pPr>
            <a:r>
              <a:rPr lang="en-US" sz="1200" dirty="0">
                <a:solidFill>
                  <a:srgbClr val="FFF4E0"/>
                </a:solidFill>
                <a:latin typeface="JetBrains Mono" pitchFamily="49" charset="0"/>
                <a:ea typeface="JetBrains Mono" pitchFamily="49" charset="-122"/>
                <a:cs typeface="JetBrains Mono" pitchFamily="49" charset="-120"/>
              </a:rPr>
              <a:t>message</a:t>
            </a:r>
            <a:endParaRPr lang="en-US" sz="1200" dirty="0"/>
          </a:p>
        </p:txBody>
      </p:sp>
      <p:sp>
        <p:nvSpPr>
          <p:cNvPr id="11" name="Text 9"/>
          <p:cNvSpPr/>
          <p:nvPr/>
        </p:nvSpPr>
        <p:spPr>
          <a:xfrm>
            <a:off x="3398589" y="272911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a:t>
            </a:r>
            <a:endParaRPr lang="en-US" sz="1300" dirty="0"/>
          </a:p>
        </p:txBody>
      </p:sp>
      <p:sp>
        <p:nvSpPr>
          <p:cNvPr id="12" name="Text 10"/>
          <p:cNvSpPr/>
          <p:nvPr/>
        </p:nvSpPr>
        <p:spPr>
          <a:xfrm>
            <a:off x="3627189" y="2699941"/>
            <a:ext cx="1092200" cy="289520"/>
          </a:xfrm>
          <a:prstGeom prst="roundRect">
            <a:avLst>
              <a:gd name="adj" fmla="val 21933"/>
            </a:avLst>
          </a:prstGeom>
          <a:solidFill>
            <a:srgbClr val="1B1035"/>
          </a:solidFill>
          <a:ln/>
        </p:spPr>
        <p:txBody>
          <a:bodyPr wrap="none" lIns="0" tIns="0" rIns="0" bIns="0" rtlCol="0" anchor="ctr">
            <a:normAutofit/>
          </a:bodyPr>
          <a:lstStyle/>
          <a:p>
            <a:pPr marL="0" indent="0" algn="ctr">
              <a:lnSpc>
                <a:spcPts val="1680"/>
              </a:lnSpc>
              <a:buNone/>
            </a:pPr>
            <a:r>
              <a:rPr lang="en-US" sz="1200" dirty="0">
                <a:solidFill>
                  <a:srgbClr val="FFF4E0"/>
                </a:solidFill>
                <a:latin typeface="JetBrains Mono" pitchFamily="49" charset="0"/>
                <a:ea typeface="JetBrains Mono" pitchFamily="49" charset="-122"/>
                <a:cs typeface="JetBrains Mono" pitchFamily="49" charset="-120"/>
              </a:rPr>
              <a:t>Commit All</a:t>
            </a:r>
            <a:endParaRPr lang="en-US" sz="1200" dirty="0"/>
          </a:p>
        </p:txBody>
      </p:sp>
      <p:sp>
        <p:nvSpPr>
          <p:cNvPr id="13" name="Text 11"/>
          <p:cNvSpPr/>
          <p:nvPr/>
        </p:nvSpPr>
        <p:spPr>
          <a:xfrm>
            <a:off x="4782889" y="272911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a:t>
            </a:r>
            <a:endParaRPr lang="en-US" sz="1300" dirty="0"/>
          </a:p>
        </p:txBody>
      </p:sp>
      <p:sp>
        <p:nvSpPr>
          <p:cNvPr id="14" name="Text 12"/>
          <p:cNvSpPr/>
          <p:nvPr/>
        </p:nvSpPr>
        <p:spPr>
          <a:xfrm>
            <a:off x="5011489" y="2699941"/>
            <a:ext cx="726480" cy="289520"/>
          </a:xfrm>
          <a:prstGeom prst="roundRect">
            <a:avLst>
              <a:gd name="adj" fmla="val 21933"/>
            </a:avLst>
          </a:prstGeom>
          <a:solidFill>
            <a:srgbClr val="9B6BFF"/>
          </a:solidFill>
          <a:ln/>
        </p:spPr>
        <p:txBody>
          <a:bodyPr wrap="none" lIns="0" tIns="0" rIns="0" bIns="0" rtlCol="0" anchor="ctr">
            <a:normAutofit/>
          </a:bodyPr>
          <a:lstStyle/>
          <a:p>
            <a:pPr marL="0" indent="0" algn="ctr">
              <a:lnSpc>
                <a:spcPts val="1680"/>
              </a:lnSpc>
              <a:buNone/>
            </a:pPr>
            <a:r>
              <a:rPr lang="en-US" sz="1200" dirty="0">
                <a:solidFill>
                  <a:srgbClr val="1B1035"/>
                </a:solidFill>
                <a:latin typeface="JetBrains Mono" pitchFamily="49" charset="0"/>
                <a:ea typeface="JetBrains Mono" pitchFamily="49" charset="-122"/>
                <a:cs typeface="JetBrains Mono" pitchFamily="49" charset="-120"/>
              </a:rPr>
              <a:t>↑ Push</a:t>
            </a:r>
            <a:endParaRPr lang="en-US" sz="1200" dirty="0"/>
          </a:p>
        </p:txBody>
      </p:sp>
      <p:sp>
        <p:nvSpPr>
          <p:cNvPr id="15" name="Shape 13"/>
          <p:cNvSpPr/>
          <p:nvPr/>
        </p:nvSpPr>
        <p:spPr>
          <a:xfrm>
            <a:off x="6197600" y="1800820"/>
            <a:ext cx="5168900" cy="1404541"/>
          </a:xfrm>
          <a:prstGeom prst="roundRect">
            <a:avLst>
              <a:gd name="adj" fmla="val 9946"/>
            </a:avLst>
          </a:prstGeom>
          <a:solidFill>
            <a:srgbClr val="FFFDF8"/>
          </a:solidFill>
          <a:ln w="25400">
            <a:solidFill>
              <a:srgbClr val="1B1035"/>
            </a:solidFill>
            <a:prstDash val="solid"/>
          </a:ln>
          <a:effectLst>
            <a:outerShdw dist="71842" dir="2700000" algn="bl" rotWithShape="0">
              <a:srgbClr val="FF4FA3">
                <a:alpha val="100000"/>
              </a:srgbClr>
            </a:outerShdw>
          </a:effectLst>
        </p:spPr>
        <p:txBody>
          <a:bodyPr/>
          <a:lstStyle/>
          <a:p>
            <a:endParaRPr lang="en-US"/>
          </a:p>
        </p:txBody>
      </p:sp>
      <p:sp>
        <p:nvSpPr>
          <p:cNvPr id="16" name="Text 14"/>
          <p:cNvSpPr/>
          <p:nvPr/>
        </p:nvSpPr>
        <p:spPr>
          <a:xfrm>
            <a:off x="6413500" y="2016720"/>
            <a:ext cx="48792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035"/>
                </a:solidFill>
                <a:latin typeface="Fredoka" pitchFamily="34" charset="0"/>
                <a:ea typeface="Fredoka" pitchFamily="34" charset="-122"/>
                <a:cs typeface="Fredoka" pitchFamily="34" charset="-120"/>
              </a:rPr>
              <a:t>🧠 JetBrains Rider</a:t>
            </a:r>
            <a:endParaRPr lang="en-US" sz="1800" dirty="0"/>
          </a:p>
        </p:txBody>
      </p:sp>
      <p:sp>
        <p:nvSpPr>
          <p:cNvPr id="17" name="Text 15"/>
          <p:cNvSpPr/>
          <p:nvPr/>
        </p:nvSpPr>
        <p:spPr>
          <a:xfrm>
            <a:off x="6413500" y="2379911"/>
            <a:ext cx="487921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Two shortcuts, that’s it (Mac: ⌘ instead of Ctrl)</a:t>
            </a:r>
            <a:endParaRPr lang="en-US" sz="1300" dirty="0"/>
          </a:p>
        </p:txBody>
      </p:sp>
      <p:sp>
        <p:nvSpPr>
          <p:cNvPr id="18" name="Text 16"/>
          <p:cNvSpPr/>
          <p:nvPr/>
        </p:nvSpPr>
        <p:spPr>
          <a:xfrm>
            <a:off x="6413500" y="2699941"/>
            <a:ext cx="726480" cy="289520"/>
          </a:xfrm>
          <a:prstGeom prst="roundRect">
            <a:avLst>
              <a:gd name="adj" fmla="val 21933"/>
            </a:avLst>
          </a:prstGeom>
          <a:solidFill>
            <a:srgbClr val="1B1035"/>
          </a:solidFill>
          <a:ln/>
        </p:spPr>
        <p:txBody>
          <a:bodyPr wrap="none" lIns="0" tIns="0" rIns="0" bIns="0" rtlCol="0" anchor="ctr">
            <a:normAutofit/>
          </a:bodyPr>
          <a:lstStyle/>
          <a:p>
            <a:pPr marL="0" indent="0" algn="ctr">
              <a:lnSpc>
                <a:spcPts val="1680"/>
              </a:lnSpc>
              <a:buNone/>
            </a:pPr>
            <a:r>
              <a:rPr lang="en-US" sz="1200" dirty="0">
                <a:solidFill>
                  <a:srgbClr val="FFF4E0"/>
                </a:solidFill>
                <a:latin typeface="JetBrains Mono" pitchFamily="49" charset="0"/>
                <a:ea typeface="JetBrains Mono" pitchFamily="49" charset="-122"/>
                <a:cs typeface="JetBrains Mono" pitchFamily="49" charset="-120"/>
              </a:rPr>
              <a:t>Ctrl+K</a:t>
            </a:r>
            <a:endParaRPr lang="en-US" sz="1200" dirty="0"/>
          </a:p>
        </p:txBody>
      </p:sp>
      <p:sp>
        <p:nvSpPr>
          <p:cNvPr id="19" name="Text 17"/>
          <p:cNvSpPr/>
          <p:nvPr/>
        </p:nvSpPr>
        <p:spPr>
          <a:xfrm>
            <a:off x="7203480" y="2729111"/>
            <a:ext cx="60831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commit</a:t>
            </a:r>
            <a:endParaRPr lang="en-US" sz="1300" dirty="0"/>
          </a:p>
        </p:txBody>
      </p:sp>
      <p:sp>
        <p:nvSpPr>
          <p:cNvPr id="20" name="Text 18"/>
          <p:cNvSpPr/>
          <p:nvPr/>
        </p:nvSpPr>
        <p:spPr>
          <a:xfrm>
            <a:off x="7811790" y="2729111"/>
            <a:ext cx="8071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a:t>
            </a:r>
            <a:endParaRPr lang="en-US" sz="1300" dirty="0"/>
          </a:p>
        </p:txBody>
      </p:sp>
      <p:sp>
        <p:nvSpPr>
          <p:cNvPr id="21" name="Text 19"/>
          <p:cNvSpPr/>
          <p:nvPr/>
        </p:nvSpPr>
        <p:spPr>
          <a:xfrm>
            <a:off x="7905204" y="2699941"/>
            <a:ext cx="1275110" cy="289520"/>
          </a:xfrm>
          <a:prstGeom prst="roundRect">
            <a:avLst>
              <a:gd name="adj" fmla="val 21933"/>
            </a:avLst>
          </a:prstGeom>
          <a:solidFill>
            <a:srgbClr val="FF4FA3"/>
          </a:solidFill>
          <a:ln/>
        </p:spPr>
        <p:txBody>
          <a:bodyPr wrap="none" lIns="0" tIns="0" rIns="0" bIns="0" rtlCol="0" anchor="ctr">
            <a:normAutofit/>
          </a:bodyPr>
          <a:lstStyle/>
          <a:p>
            <a:pPr marL="0" indent="0" algn="ctr">
              <a:lnSpc>
                <a:spcPts val="1680"/>
              </a:lnSpc>
              <a:buNone/>
            </a:pPr>
            <a:r>
              <a:rPr lang="en-US" sz="1200" dirty="0">
                <a:solidFill>
                  <a:srgbClr val="1B1035"/>
                </a:solidFill>
                <a:latin typeface="JetBrains Mono" pitchFamily="49" charset="0"/>
                <a:ea typeface="JetBrains Mono" pitchFamily="49" charset="-122"/>
                <a:cs typeface="JetBrains Mono" pitchFamily="49" charset="-120"/>
              </a:rPr>
              <a:t>Ctrl+Shift+K</a:t>
            </a:r>
            <a:endParaRPr lang="en-US" sz="1200" dirty="0"/>
          </a:p>
        </p:txBody>
      </p:sp>
      <p:sp>
        <p:nvSpPr>
          <p:cNvPr id="22" name="Text 20"/>
          <p:cNvSpPr/>
          <p:nvPr/>
        </p:nvSpPr>
        <p:spPr>
          <a:xfrm>
            <a:off x="9243814" y="2729111"/>
            <a:ext cx="41826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push</a:t>
            </a:r>
            <a:endParaRPr lang="en-US" sz="1300" dirty="0"/>
          </a:p>
        </p:txBody>
      </p:sp>
      <p:sp>
        <p:nvSpPr>
          <p:cNvPr id="23" name="Shape 21"/>
          <p:cNvSpPr/>
          <p:nvPr/>
        </p:nvSpPr>
        <p:spPr>
          <a:xfrm>
            <a:off x="825500" y="3408561"/>
            <a:ext cx="5168900" cy="1757561"/>
          </a:xfrm>
          <a:prstGeom prst="roundRect">
            <a:avLst>
              <a:gd name="adj" fmla="val 7949"/>
            </a:avLst>
          </a:prstGeom>
          <a:solidFill>
            <a:srgbClr val="FFFDF8"/>
          </a:solidFill>
          <a:ln w="25400">
            <a:solidFill>
              <a:srgbClr val="1B1035"/>
            </a:solidFill>
            <a:prstDash val="solid"/>
          </a:ln>
          <a:effectLst>
            <a:outerShdw dist="71842" dir="2700000" algn="bl" rotWithShape="0">
              <a:srgbClr val="3BE8FF">
                <a:alpha val="100000"/>
              </a:srgbClr>
            </a:outerShdw>
          </a:effectLst>
        </p:spPr>
        <p:txBody>
          <a:bodyPr/>
          <a:lstStyle/>
          <a:p>
            <a:endParaRPr lang="en-US"/>
          </a:p>
        </p:txBody>
      </p:sp>
      <p:sp>
        <p:nvSpPr>
          <p:cNvPr id="24" name="Text 22"/>
          <p:cNvSpPr/>
          <p:nvPr/>
        </p:nvSpPr>
        <p:spPr>
          <a:xfrm>
            <a:off x="1041400" y="3624461"/>
            <a:ext cx="48792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035"/>
                </a:solidFill>
                <a:latin typeface="Fredoka" pitchFamily="34" charset="0"/>
                <a:ea typeface="Fredoka" pitchFamily="34" charset="-122"/>
                <a:cs typeface="Fredoka" pitchFamily="34" charset="-120"/>
              </a:rPr>
              <a:t>🤖 Godot</a:t>
            </a:r>
            <a:endParaRPr lang="en-US" sz="1800" dirty="0"/>
          </a:p>
        </p:txBody>
      </p:sp>
      <p:sp>
        <p:nvSpPr>
          <p:cNvPr id="25" name="Text 23"/>
          <p:cNvSpPr/>
          <p:nvPr/>
        </p:nvSpPr>
        <p:spPr>
          <a:xfrm>
            <a:off x="1041400" y="3987651"/>
            <a:ext cx="487921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No big Git button built in. Pick one:</a:t>
            </a:r>
            <a:endParaRPr lang="en-US" sz="1300" dirty="0"/>
          </a:p>
        </p:txBody>
      </p:sp>
      <p:sp>
        <p:nvSpPr>
          <p:cNvPr id="26" name="Text 24"/>
          <p:cNvSpPr/>
          <p:nvPr/>
        </p:nvSpPr>
        <p:spPr>
          <a:xfrm>
            <a:off x="1041400" y="4307681"/>
            <a:ext cx="1457970" cy="289520"/>
          </a:xfrm>
          <a:prstGeom prst="roundRect">
            <a:avLst>
              <a:gd name="adj" fmla="val 21933"/>
            </a:avLst>
          </a:prstGeom>
          <a:solidFill>
            <a:srgbClr val="1B1035"/>
          </a:solidFill>
          <a:ln/>
        </p:spPr>
        <p:txBody>
          <a:bodyPr wrap="none" lIns="0" tIns="0" rIns="0" bIns="0" rtlCol="0" anchor="ctr">
            <a:normAutofit/>
          </a:bodyPr>
          <a:lstStyle/>
          <a:p>
            <a:pPr marL="0" indent="0" algn="ctr">
              <a:lnSpc>
                <a:spcPts val="1680"/>
              </a:lnSpc>
              <a:buNone/>
            </a:pPr>
            <a:r>
              <a:rPr lang="en-US" sz="1200" dirty="0">
                <a:solidFill>
                  <a:srgbClr val="FFF4E0"/>
                </a:solidFill>
                <a:latin typeface="JetBrains Mono" pitchFamily="49" charset="0"/>
                <a:ea typeface="JetBrains Mono" pitchFamily="49" charset="-122"/>
                <a:cs typeface="JetBrains Mono" pitchFamily="49" charset="-120"/>
              </a:rPr>
              <a:t>terminal combo</a:t>
            </a:r>
            <a:endParaRPr lang="en-US" sz="1200" dirty="0"/>
          </a:p>
        </p:txBody>
      </p:sp>
      <p:sp>
        <p:nvSpPr>
          <p:cNvPr id="27" name="Text 25"/>
          <p:cNvSpPr/>
          <p:nvPr/>
        </p:nvSpPr>
        <p:spPr>
          <a:xfrm>
            <a:off x="2562870" y="4336852"/>
            <a:ext cx="21019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or</a:t>
            </a:r>
            <a:endParaRPr lang="en-US" sz="1300" dirty="0"/>
          </a:p>
        </p:txBody>
      </p:sp>
      <p:sp>
        <p:nvSpPr>
          <p:cNvPr id="28" name="Text 26"/>
          <p:cNvSpPr/>
          <p:nvPr/>
        </p:nvSpPr>
        <p:spPr>
          <a:xfrm>
            <a:off x="2785765" y="4307681"/>
            <a:ext cx="1457970" cy="289520"/>
          </a:xfrm>
          <a:prstGeom prst="roundRect">
            <a:avLst>
              <a:gd name="adj" fmla="val 21933"/>
            </a:avLst>
          </a:prstGeom>
          <a:solidFill>
            <a:srgbClr val="1B1035"/>
          </a:solidFill>
          <a:ln/>
        </p:spPr>
        <p:txBody>
          <a:bodyPr wrap="none" lIns="0" tIns="0" rIns="0" bIns="0" rtlCol="0" anchor="ctr">
            <a:normAutofit/>
          </a:bodyPr>
          <a:lstStyle/>
          <a:p>
            <a:pPr marL="0" indent="0" algn="ctr">
              <a:lnSpc>
                <a:spcPts val="1680"/>
              </a:lnSpc>
              <a:buNone/>
            </a:pPr>
            <a:r>
              <a:rPr lang="en-US" sz="1200" dirty="0">
                <a:solidFill>
                  <a:srgbClr val="FFF4E0"/>
                </a:solidFill>
                <a:latin typeface="JetBrains Mono" pitchFamily="49" charset="0"/>
                <a:ea typeface="JetBrains Mono" pitchFamily="49" charset="-122"/>
                <a:cs typeface="JetBrains Mono" pitchFamily="49" charset="-120"/>
              </a:rPr>
              <a:t>GitHub Desktop</a:t>
            </a:r>
            <a:endParaRPr lang="en-US" sz="1200" dirty="0"/>
          </a:p>
        </p:txBody>
      </p:sp>
      <p:sp>
        <p:nvSpPr>
          <p:cNvPr id="29" name="Text 27"/>
          <p:cNvSpPr/>
          <p:nvPr/>
        </p:nvSpPr>
        <p:spPr>
          <a:xfrm>
            <a:off x="4307235" y="4336852"/>
            <a:ext cx="210195"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or</a:t>
            </a:r>
            <a:endParaRPr lang="en-US" sz="1300" dirty="0"/>
          </a:p>
        </p:txBody>
      </p:sp>
      <p:sp>
        <p:nvSpPr>
          <p:cNvPr id="30" name="Text 28"/>
          <p:cNvSpPr/>
          <p:nvPr/>
        </p:nvSpPr>
        <p:spPr>
          <a:xfrm>
            <a:off x="1041400" y="4660702"/>
            <a:ext cx="1640880" cy="289520"/>
          </a:xfrm>
          <a:prstGeom prst="roundRect">
            <a:avLst>
              <a:gd name="adj" fmla="val 21933"/>
            </a:avLst>
          </a:prstGeom>
          <a:solidFill>
            <a:srgbClr val="3BE8FF"/>
          </a:solidFill>
          <a:ln/>
        </p:spPr>
        <p:txBody>
          <a:bodyPr wrap="none" lIns="0" tIns="0" rIns="0" bIns="0" rtlCol="0" anchor="ctr">
            <a:normAutofit/>
          </a:bodyPr>
          <a:lstStyle/>
          <a:p>
            <a:pPr marL="0" indent="0" algn="ctr">
              <a:lnSpc>
                <a:spcPts val="1680"/>
              </a:lnSpc>
              <a:buNone/>
            </a:pPr>
            <a:r>
              <a:rPr lang="en-US" sz="1200" dirty="0">
                <a:solidFill>
                  <a:srgbClr val="1B1035"/>
                </a:solidFill>
                <a:latin typeface="JetBrains Mono" pitchFamily="49" charset="0"/>
                <a:ea typeface="JetBrains Mono" pitchFamily="49" charset="-122"/>
                <a:cs typeface="JetBrains Mono" pitchFamily="49" charset="-120"/>
              </a:rPr>
              <a:t>Godot Git plugin</a:t>
            </a:r>
            <a:endParaRPr lang="en-US" sz="1200" dirty="0"/>
          </a:p>
        </p:txBody>
      </p:sp>
      <p:sp>
        <p:nvSpPr>
          <p:cNvPr id="31" name="Shape 29"/>
          <p:cNvSpPr/>
          <p:nvPr/>
        </p:nvSpPr>
        <p:spPr>
          <a:xfrm>
            <a:off x="6197600" y="3408561"/>
            <a:ext cx="5168900" cy="1757561"/>
          </a:xfrm>
          <a:prstGeom prst="roundRect">
            <a:avLst>
              <a:gd name="adj" fmla="val 7949"/>
            </a:avLst>
          </a:prstGeom>
          <a:solidFill>
            <a:srgbClr val="FFFDF8"/>
          </a:solidFill>
          <a:ln w="25400">
            <a:solidFill>
              <a:srgbClr val="1B1035"/>
            </a:solidFill>
            <a:prstDash val="solid"/>
          </a:ln>
          <a:effectLst>
            <a:outerShdw dist="71842" dir="2700000" algn="bl" rotWithShape="0">
              <a:srgbClr val="B6FF3B">
                <a:alpha val="100000"/>
              </a:srgbClr>
            </a:outerShdw>
          </a:effectLst>
        </p:spPr>
        <p:txBody>
          <a:bodyPr/>
          <a:lstStyle/>
          <a:p>
            <a:endParaRPr lang="en-US"/>
          </a:p>
        </p:txBody>
      </p:sp>
      <p:sp>
        <p:nvSpPr>
          <p:cNvPr id="32" name="Text 30"/>
          <p:cNvSpPr/>
          <p:nvPr/>
        </p:nvSpPr>
        <p:spPr>
          <a:xfrm>
            <a:off x="6413500" y="3624461"/>
            <a:ext cx="487921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1035"/>
                </a:solidFill>
                <a:latin typeface="Fredoka" pitchFamily="34" charset="0"/>
                <a:ea typeface="Fredoka" pitchFamily="34" charset="-122"/>
                <a:cs typeface="Fredoka" pitchFamily="34" charset="-120"/>
              </a:rPr>
              <a:t>🖥 GitHub Desktop</a:t>
            </a:r>
            <a:endParaRPr lang="en-US" sz="1800" dirty="0"/>
          </a:p>
        </p:txBody>
      </p:sp>
      <p:sp>
        <p:nvSpPr>
          <p:cNvPr id="33" name="Text 31"/>
          <p:cNvSpPr/>
          <p:nvPr/>
        </p:nvSpPr>
        <p:spPr>
          <a:xfrm>
            <a:off x="6413500" y="3987651"/>
            <a:ext cx="487921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3F6B"/>
                </a:solidFill>
                <a:latin typeface="Fredoka" pitchFamily="34" charset="0"/>
                <a:ea typeface="Fredoka" pitchFamily="34" charset="-122"/>
                <a:cs typeface="Fredoka" pitchFamily="34" charset="-120"/>
              </a:rPr>
              <a:t>Zero typing. Works with GitLab repos too.</a:t>
            </a:r>
            <a:endParaRPr lang="en-US" sz="1300" dirty="0"/>
          </a:p>
        </p:txBody>
      </p:sp>
      <p:sp>
        <p:nvSpPr>
          <p:cNvPr id="34" name="Text 32"/>
          <p:cNvSpPr/>
          <p:nvPr/>
        </p:nvSpPr>
        <p:spPr>
          <a:xfrm>
            <a:off x="6413500" y="4307681"/>
            <a:ext cx="1457970" cy="289520"/>
          </a:xfrm>
          <a:prstGeom prst="roundRect">
            <a:avLst>
              <a:gd name="adj" fmla="val 21933"/>
            </a:avLst>
          </a:prstGeom>
          <a:solidFill>
            <a:srgbClr val="1B1035"/>
          </a:solidFill>
          <a:ln/>
        </p:spPr>
        <p:txBody>
          <a:bodyPr wrap="none" lIns="0" tIns="0" rIns="0" bIns="0" rtlCol="0" anchor="ctr">
            <a:normAutofit/>
          </a:bodyPr>
          <a:lstStyle/>
          <a:p>
            <a:pPr marL="0" indent="0" algn="ctr">
              <a:lnSpc>
                <a:spcPts val="1680"/>
              </a:lnSpc>
              <a:buNone/>
            </a:pPr>
            <a:r>
              <a:rPr lang="en-US" sz="1200" dirty="0">
                <a:solidFill>
                  <a:srgbClr val="FFF4E0"/>
                </a:solidFill>
                <a:latin typeface="JetBrains Mono" pitchFamily="49" charset="0"/>
                <a:ea typeface="JetBrains Mono" pitchFamily="49" charset="-122"/>
                <a:cs typeface="JetBrains Mono" pitchFamily="49" charset="-120"/>
              </a:rPr>
              <a:t>Commit to main</a:t>
            </a:r>
            <a:endParaRPr lang="en-US" sz="1200" dirty="0"/>
          </a:p>
        </p:txBody>
      </p:sp>
      <p:sp>
        <p:nvSpPr>
          <p:cNvPr id="35" name="Text 33"/>
          <p:cNvSpPr/>
          <p:nvPr/>
        </p:nvSpPr>
        <p:spPr>
          <a:xfrm>
            <a:off x="7934970" y="4336852"/>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1035"/>
                </a:solidFill>
                <a:latin typeface="Fredoka" pitchFamily="34" charset="0"/>
                <a:ea typeface="Fredoka" pitchFamily="34" charset="-122"/>
                <a:cs typeface="Fredoka" pitchFamily="34" charset="-120"/>
              </a:rPr>
              <a:t>→</a:t>
            </a:r>
            <a:endParaRPr lang="en-US" sz="1300" dirty="0"/>
          </a:p>
        </p:txBody>
      </p:sp>
      <p:sp>
        <p:nvSpPr>
          <p:cNvPr id="36" name="Text 34"/>
          <p:cNvSpPr/>
          <p:nvPr/>
        </p:nvSpPr>
        <p:spPr>
          <a:xfrm>
            <a:off x="8163570" y="4307681"/>
            <a:ext cx="1183680" cy="289520"/>
          </a:xfrm>
          <a:prstGeom prst="roundRect">
            <a:avLst>
              <a:gd name="adj" fmla="val 21933"/>
            </a:avLst>
          </a:prstGeom>
          <a:solidFill>
            <a:srgbClr val="B6FF3B"/>
          </a:solidFill>
          <a:ln/>
        </p:spPr>
        <p:txBody>
          <a:bodyPr wrap="none" lIns="0" tIns="0" rIns="0" bIns="0" rtlCol="0" anchor="ctr">
            <a:normAutofit/>
          </a:bodyPr>
          <a:lstStyle/>
          <a:p>
            <a:pPr marL="0" indent="0" algn="ctr">
              <a:lnSpc>
                <a:spcPts val="1680"/>
              </a:lnSpc>
              <a:buNone/>
            </a:pPr>
            <a:r>
              <a:rPr lang="en-US" sz="1200" dirty="0">
                <a:solidFill>
                  <a:srgbClr val="1B1035"/>
                </a:solidFill>
                <a:latin typeface="JetBrains Mono" pitchFamily="49" charset="0"/>
                <a:ea typeface="JetBrains Mono" pitchFamily="49" charset="-122"/>
                <a:cs typeface="JetBrains Mono" pitchFamily="49" charset="-120"/>
              </a:rPr>
              <a:t>Push origin</a:t>
            </a:r>
            <a:endParaRPr lang="en-US" sz="1200" dirty="0"/>
          </a:p>
        </p:txBody>
      </p:sp>
      <p:sp>
        <p:nvSpPr>
          <p:cNvPr id="37" name="Text 35"/>
          <p:cNvSpPr/>
          <p:nvPr/>
        </p:nvSpPr>
        <p:spPr>
          <a:xfrm>
            <a:off x="812800" y="538202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3F6B"/>
                </a:solidFill>
                <a:latin typeface="Fredoka" pitchFamily="34" charset="0"/>
                <a:ea typeface="Fredoka" pitchFamily="34" charset="-122"/>
                <a:cs typeface="Fredoka" pitchFamily="34" charset="-120"/>
              </a:rPr>
              <a:t>Every button runs the same </a:t>
            </a:r>
            <a:r>
              <a:rPr lang="en-US" sz="1500" b="1" dirty="0">
                <a:solidFill>
                  <a:srgbClr val="1B1035"/>
                </a:solidFill>
                <a:latin typeface="Fredoka" pitchFamily="34" charset="0"/>
                <a:ea typeface="Fredoka" pitchFamily="34" charset="-122"/>
                <a:cs typeface="Fredoka" pitchFamily="34" charset="-120"/>
              </a:rPr>
              <a:t>add → commit → push</a:t>
            </a:r>
            <a:r>
              <a:rPr lang="en-US" sz="1500" dirty="0">
                <a:solidFill>
                  <a:srgbClr val="4A3F6B"/>
                </a:solidFill>
                <a:latin typeface="Fredoka" pitchFamily="34" charset="0"/>
                <a:ea typeface="Fredoka" pitchFamily="34" charset="-122"/>
                <a:cs typeface="Fredoka" pitchFamily="34" charset="-120"/>
              </a:rPr>
              <a:t> under the hood. Same game, different controller. 🎮</a:t>
            </a:r>
            <a:endParaRPr lang="en-US" sz="1500" dirty="0"/>
          </a:p>
        </p:txBody>
      </p:sp>
      <p:sp>
        <p:nvSpPr>
          <p:cNvPr id="38" name="Text 36"/>
          <p:cNvSpPr/>
          <p:nvPr/>
        </p:nvSpPr>
        <p:spPr>
          <a:xfrm rot="300000">
            <a:off x="8648700" y="1092820"/>
            <a:ext cx="2197100" cy="450850"/>
          </a:xfrm>
          <a:prstGeom prst="roundRect">
            <a:avLst>
              <a:gd name="adj" fmla="val 50000"/>
            </a:avLst>
          </a:prstGeom>
          <a:solidFill>
            <a:srgbClr val="3BE8FF"/>
          </a:solidFill>
          <a:ln w="25400">
            <a:solidFill>
              <a:srgbClr val="1B1035"/>
            </a:solidFill>
            <a:prstDash val="solid"/>
          </a:ln>
          <a:effectLst>
            <a:outerShdw dist="53882" dir="2700000" algn="bl" rotWithShape="0">
              <a:srgbClr val="1B1035">
                <a:alpha val="100000"/>
              </a:srgbClr>
            </a:outerShdw>
          </a:effectLst>
        </p:spPr>
        <p:txBody>
          <a:bodyPr wrap="square" lIns="44910" tIns="35575" rIns="44910"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pick your class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D23F"/>
        </a:solidFill>
        <a:effectLst/>
      </p:bgPr>
    </p:bg>
    <p:spTree>
      <p:nvGrpSpPr>
        <p:cNvPr id="1" name=""/>
        <p:cNvGrpSpPr/>
        <p:nvPr/>
      </p:nvGrpSpPr>
      <p:grpSpPr>
        <a:xfrm>
          <a:off x="0" y="0"/>
          <a:ext cx="0" cy="0"/>
          <a:chOff x="0" y="0"/>
          <a:chExt cx="0" cy="0"/>
        </a:xfrm>
      </p:grpSpPr>
      <p:sp>
        <p:nvSpPr>
          <p:cNvPr id="2" name="Text 0"/>
          <p:cNvSpPr/>
          <p:nvPr/>
        </p:nvSpPr>
        <p:spPr>
          <a:xfrm>
            <a:off x="812800" y="2183160"/>
            <a:ext cx="719455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B1035"/>
                </a:solidFill>
                <a:latin typeface="Press Start 2P" pitchFamily="49" charset="0"/>
                <a:ea typeface="Press Start 2P" pitchFamily="49" charset="-122"/>
                <a:cs typeface="Press Start 2P" pitchFamily="49" charset="-120"/>
              </a:rPr>
              <a:t>LEVEL 4 · FINAL BOSS</a:t>
            </a:r>
            <a:endParaRPr lang="en-US" sz="2000" dirty="0"/>
          </a:p>
        </p:txBody>
      </p:sp>
      <p:sp>
        <p:nvSpPr>
          <p:cNvPr id="3" name="Text 1"/>
          <p:cNvSpPr>
            <a:spLocks noGrp="1"/>
          </p:cNvSpPr>
          <p:nvPr>
            <p:ph type="title"/>
          </p:nvPr>
        </p:nvSpPr>
        <p:spPr>
          <a:xfrm>
            <a:off x="812800" y="2767360"/>
            <a:ext cx="7521575" cy="977900"/>
          </a:xfrm>
          <a:prstGeom prst="rect">
            <a:avLst/>
          </a:prstGeom>
          <a:noFill/>
          <a:ln/>
        </p:spPr>
        <p:txBody>
          <a:bodyPr wrap="square" lIns="0" tIns="0" rIns="0" bIns="0" rtlCol="0" anchor="t">
            <a:normAutofit/>
          </a:bodyPr>
          <a:lstStyle/>
          <a:p>
            <a:pPr marL="0" indent="0" algn="l">
              <a:lnSpc>
                <a:spcPts val="7500"/>
              </a:lnSpc>
              <a:buNone/>
            </a:pPr>
            <a:r>
              <a:rPr lang="en-US" sz="7500" b="0" i="0" dirty="0">
                <a:solidFill>
                  <a:srgbClr val="1B1035"/>
                </a:solidFill>
                <a:latin typeface="Bungee" pitchFamily="34" charset="0"/>
                <a:ea typeface="Bungee" pitchFamily="34" charset="-122"/>
                <a:cs typeface="Bungee" pitchFamily="34" charset="-120"/>
              </a:rPr>
              <a:t>Team mode</a:t>
            </a:r>
            <a:endParaRPr lang="en-US" sz="7500" dirty="0"/>
          </a:p>
        </p:txBody>
      </p:sp>
      <p:sp>
        <p:nvSpPr>
          <p:cNvPr id="4" name="Text 2"/>
          <p:cNvSpPr/>
          <p:nvPr/>
        </p:nvSpPr>
        <p:spPr>
          <a:xfrm>
            <a:off x="812800" y="3948460"/>
            <a:ext cx="6867525"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B1035"/>
                </a:solidFill>
                <a:latin typeface="Fredoka" pitchFamily="34" charset="0"/>
                <a:ea typeface="Fredoka" pitchFamily="34" charset="-122"/>
                <a:cs typeface="Fredoka" pitchFamily="34" charset="-120"/>
              </a:rPr>
              <a:t>Pull requests, GitHub vs GitLab, and pro tips for game repos.</a:t>
            </a:r>
            <a:endParaRPr lang="en-US" sz="2200" dirty="0"/>
          </a:p>
        </p:txBody>
      </p:sp>
      <p:pic>
        <p:nvPicPr>
          <p:cNvPr id="5" name="Image 0" descr="Trophy"/>
          <p:cNvPicPr>
            <a:picLocks noChangeAspect="1"/>
          </p:cNvPicPr>
          <p:nvPr/>
        </p:nvPicPr>
        <p:blipFill>
          <a:blip r:embed="rId3"/>
          <a:srcRect/>
          <a:stretch/>
        </p:blipFill>
        <p:spPr>
          <a:xfrm rot="360000">
            <a:off x="8763000" y="2159000"/>
            <a:ext cx="2286000" cy="2438400"/>
          </a:xfrm>
          <a:prstGeom prst="rect">
            <a:avLst/>
          </a:prstGeom>
        </p:spPr>
      </p:pic>
      <p:sp>
        <p:nvSpPr>
          <p:cNvPr id="6" name="Text 3"/>
          <p:cNvSpPr/>
          <p:nvPr/>
        </p:nvSpPr>
        <p:spPr>
          <a:xfrm rot="21240000">
            <a:off x="8648700" y="1282700"/>
            <a:ext cx="2260600" cy="444500"/>
          </a:xfrm>
          <a:custGeom>
            <a:avLst/>
            <a:gdLst/>
            <a:ahLst/>
            <a:cxnLst/>
            <a:rect l="l" t="t" r="r" b="b"/>
            <a:pathLst>
              <a:path w="2260600" h="444500">
                <a:moveTo>
                  <a:pt x="222250" y="0"/>
                </a:moveTo>
                <a:lnTo>
                  <a:pt x="2038350" y="0"/>
                </a:lnTo>
                <a:arcTo wR="222250" hR="222250" stAng="16200000" swAng="5400000"/>
                <a:lnTo>
                  <a:pt x="2260600" y="222250"/>
                </a:lnTo>
                <a:arcTo wR="222250" hR="222250" stAng="0" swAng="5400000"/>
                <a:lnTo>
                  <a:pt x="222250" y="444500"/>
                </a:lnTo>
                <a:arcTo wR="222250" hR="222250" stAng="5400000" swAng="5400000"/>
                <a:lnTo>
                  <a:pt x="0" y="222250"/>
                </a:lnTo>
                <a:arcTo wR="222250" hR="222250" stAng="10800000" swAng="5400000"/>
                <a:close/>
              </a:path>
            </a:pathLst>
          </a:custGeom>
          <a:solidFill>
            <a:srgbClr val="FF4FA3"/>
          </a:solidFill>
          <a:ln w="25400">
            <a:solidFill>
              <a:srgbClr val="1B1035"/>
            </a:solidFill>
            <a:prstDash val="solid"/>
          </a:ln>
          <a:effectLst>
            <a:outerShdw dist="53882" dir="2700000" algn="bl" rotWithShape="0">
              <a:srgbClr val="1B1035">
                <a:alpha val="100000"/>
              </a:srgbClr>
            </a:outerShdw>
          </a:effectLst>
        </p:spPr>
        <p:txBody>
          <a:bodyPr wrap="square" lIns="83820" tIns="88900" rIns="83820" bIns="63500" rtlCol="0" anchor="t">
            <a:normAutofit/>
          </a:bodyPr>
          <a:lstStyle/>
          <a:p>
            <a:pPr marL="0" indent="0" algn="ctr">
              <a:lnSpc>
                <a:spcPts val="2100"/>
              </a:lnSpc>
              <a:buNone/>
            </a:pPr>
            <a:r>
              <a:rPr lang="en-US" sz="1500" b="1" dirty="0">
                <a:solidFill>
                  <a:srgbClr val="1B1035"/>
                </a:solidFill>
                <a:latin typeface="Fredoka" pitchFamily="34" charset="0"/>
                <a:ea typeface="Fredoka" pitchFamily="34" charset="-122"/>
                <a:cs typeface="Fredoka" pitchFamily="34" charset="-120"/>
              </a:rPr>
              <a:t>almost there 🏁</a:t>
            </a:r>
            <a:endParaRPr lang="en-US" sz="1500" dirty="0"/>
          </a:p>
        </p:txBody>
      </p:sp>
      <p:sp>
        <p:nvSpPr>
          <p:cNvPr id="7" name="Text 4"/>
          <p:cNvSpPr/>
          <p:nvPr/>
        </p:nvSpPr>
        <p:spPr>
          <a:xfrm rot="21300000">
            <a:off x="6362700" y="5283820"/>
            <a:ext cx="2387600" cy="450850"/>
          </a:xfrm>
          <a:prstGeom prst="roundRect">
            <a:avLst>
              <a:gd name="adj" fmla="val 50000"/>
            </a:avLst>
          </a:prstGeom>
          <a:solidFill>
            <a:srgbClr val="3BE8FF"/>
          </a:solidFill>
          <a:ln w="25400">
            <a:solidFill>
              <a:srgbClr val="1B1035"/>
            </a:solidFill>
            <a:prstDash val="solid"/>
          </a:ln>
          <a:effectLst>
            <a:outerShdw dist="53882" dir="2700000" algn="bl" rotWithShape="0">
              <a:srgbClr val="1B1035">
                <a:alpha val="100000"/>
              </a:srgbClr>
            </a:outerShdw>
          </a:effectLst>
        </p:spPr>
        <p:txBody>
          <a:bodyPr wrap="square" lIns="42052" tIns="35575" rIns="4205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boss music starts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377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4 &gt; CO-OP</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24/30</a:t>
            </a:r>
            <a:endParaRPr lang="en-US" sz="1200" dirty="0"/>
          </a:p>
        </p:txBody>
      </p:sp>
      <p:sp>
        <p:nvSpPr>
          <p:cNvPr id="4" name="Text 2"/>
          <p:cNvSpPr>
            <a:spLocks noGrp="1"/>
          </p:cNvSpPr>
          <p:nvPr>
            <p:ph type="title"/>
          </p:nvPr>
        </p:nvSpPr>
        <p:spPr>
          <a:xfrm>
            <a:off x="812800" y="1026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FF4E0"/>
                </a:solidFill>
                <a:latin typeface="Bungee" pitchFamily="34" charset="0"/>
                <a:ea typeface="Bungee" pitchFamily="34" charset="-122"/>
                <a:cs typeface="Bungee" pitchFamily="34" charset="-120"/>
              </a:rPr>
              <a:t>Pull Request = Merge Request</a:t>
            </a:r>
            <a:endParaRPr lang="en-US" sz="3600" dirty="0"/>
          </a:p>
        </p:txBody>
      </p:sp>
      <p:sp>
        <p:nvSpPr>
          <p:cNvPr id="5" name="Text 3"/>
          <p:cNvSpPr/>
          <p:nvPr/>
        </p:nvSpPr>
        <p:spPr>
          <a:xfrm>
            <a:off x="812800" y="173221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AEDB"/>
                </a:solidFill>
                <a:latin typeface="Fredoka" pitchFamily="34" charset="0"/>
                <a:ea typeface="Fredoka" pitchFamily="34" charset="-122"/>
                <a:cs typeface="Fredoka" pitchFamily="34" charset="-120"/>
              </a:rPr>
              <a:t>Same thing, different name. GitHub says </a:t>
            </a:r>
            <a:r>
              <a:rPr lang="en-US" sz="1600" b="1" dirty="0">
                <a:solidFill>
                  <a:srgbClr val="FFF4E0"/>
                </a:solidFill>
                <a:latin typeface="Fredoka" pitchFamily="34" charset="0"/>
                <a:ea typeface="Fredoka" pitchFamily="34" charset="-122"/>
                <a:cs typeface="Fredoka" pitchFamily="34" charset="-120"/>
              </a:rPr>
              <a:t>PR</a:t>
            </a:r>
            <a:r>
              <a:rPr lang="en-US" sz="1600" dirty="0">
                <a:solidFill>
                  <a:srgbClr val="B9AEDB"/>
                </a:solidFill>
                <a:latin typeface="Fredoka" pitchFamily="34" charset="0"/>
                <a:ea typeface="Fredoka" pitchFamily="34" charset="-122"/>
                <a:cs typeface="Fredoka" pitchFamily="34" charset="-120"/>
              </a:rPr>
              <a:t>, GitLab says </a:t>
            </a:r>
            <a:r>
              <a:rPr lang="en-US" sz="1600" b="1" dirty="0">
                <a:solidFill>
                  <a:srgbClr val="FF8A3D"/>
                </a:solidFill>
                <a:latin typeface="Fredoka" pitchFamily="34" charset="0"/>
                <a:ea typeface="Fredoka" pitchFamily="34" charset="-122"/>
                <a:cs typeface="Fredoka" pitchFamily="34" charset="-120"/>
              </a:rPr>
              <a:t>MR</a:t>
            </a:r>
            <a:r>
              <a:rPr lang="en-US" sz="1600" dirty="0">
                <a:solidFill>
                  <a:srgbClr val="B9AEDB"/>
                </a:solidFill>
                <a:latin typeface="Fredoka" pitchFamily="34" charset="0"/>
                <a:ea typeface="Fredoka" pitchFamily="34" charset="-122"/>
                <a:cs typeface="Fredoka" pitchFamily="34" charset="-120"/>
              </a:rPr>
              <a:t>. It’s how teams ask “can I add this?”</a:t>
            </a:r>
            <a:endParaRPr lang="en-US" sz="1600" dirty="0"/>
          </a:p>
        </p:txBody>
      </p:sp>
      <p:sp>
        <p:nvSpPr>
          <p:cNvPr id="6" name="Shape 4"/>
          <p:cNvSpPr/>
          <p:nvPr/>
        </p:nvSpPr>
        <p:spPr>
          <a:xfrm>
            <a:off x="825500" y="2232571"/>
            <a:ext cx="1312317" cy="1056580"/>
          </a:xfrm>
          <a:prstGeom prst="roundRect">
            <a:avLst>
              <a:gd name="adj" fmla="val 10818"/>
            </a:avLst>
          </a:prstGeom>
          <a:solidFill>
            <a:srgbClr val="2A1A52"/>
          </a:solidFill>
          <a:ln w="25400">
            <a:solidFill>
              <a:srgbClr val="3BE8FF"/>
            </a:solidFill>
            <a:prstDash val="solid"/>
          </a:ln>
        </p:spPr>
        <p:txBody>
          <a:bodyPr/>
          <a:lstStyle/>
          <a:p>
            <a:endParaRPr lang="en-US"/>
          </a:p>
        </p:txBody>
      </p:sp>
      <p:sp>
        <p:nvSpPr>
          <p:cNvPr id="7" name="Text 5"/>
          <p:cNvSpPr/>
          <p:nvPr/>
        </p:nvSpPr>
        <p:spPr>
          <a:xfrm>
            <a:off x="1268274" y="2397671"/>
            <a:ext cx="426720" cy="452090"/>
          </a:xfrm>
          <a:prstGeom prst="rect">
            <a:avLst/>
          </a:prstGeom>
          <a:noFill/>
          <a:ln/>
        </p:spPr>
        <p:txBody>
          <a:bodyPr wrap="square" lIns="0" tIns="0" rIns="0" bIns="0" rtlCol="0" anchor="t">
            <a:normAutofit/>
          </a:bodyPr>
          <a:lstStyle/>
          <a:p>
            <a:pPr marL="0" indent="0" algn="ctr">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8" name="Text 6"/>
          <p:cNvSpPr/>
          <p:nvPr/>
        </p:nvSpPr>
        <p:spPr>
          <a:xfrm>
            <a:off x="1140877" y="2875161"/>
            <a:ext cx="681514" cy="27429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4E0"/>
                </a:solidFill>
                <a:latin typeface="Fredoka" pitchFamily="34" charset="0"/>
                <a:ea typeface="Fredoka" pitchFamily="34" charset="-122"/>
                <a:cs typeface="Fredoka" pitchFamily="34" charset="-120"/>
              </a:rPr>
              <a:t>Branch</a:t>
            </a:r>
            <a:endParaRPr lang="en-US" sz="1400" dirty="0"/>
          </a:p>
        </p:txBody>
      </p:sp>
      <p:pic>
        <p:nvPicPr>
          <p:cNvPr id="9" name="Image 0" descr="arrow-right"/>
          <p:cNvPicPr>
            <a:picLocks noChangeAspect="1"/>
          </p:cNvPicPr>
          <p:nvPr/>
        </p:nvPicPr>
        <p:blipFill>
          <a:blip r:embed="rId3"/>
          <a:srcRect/>
          <a:stretch/>
        </p:blipFill>
        <p:spPr>
          <a:xfrm>
            <a:off x="2252117" y="2684661"/>
            <a:ext cx="304800" cy="152400"/>
          </a:xfrm>
          <a:prstGeom prst="rect">
            <a:avLst/>
          </a:prstGeom>
        </p:spPr>
      </p:pic>
      <p:sp>
        <p:nvSpPr>
          <p:cNvPr id="10" name="Shape 7"/>
          <p:cNvSpPr/>
          <p:nvPr/>
        </p:nvSpPr>
        <p:spPr>
          <a:xfrm>
            <a:off x="2671217" y="2232571"/>
            <a:ext cx="1312366" cy="1056580"/>
          </a:xfrm>
          <a:prstGeom prst="roundRect">
            <a:avLst>
              <a:gd name="adj" fmla="val 10818"/>
            </a:avLst>
          </a:prstGeom>
          <a:solidFill>
            <a:srgbClr val="2A1A52"/>
          </a:solidFill>
          <a:ln w="25400">
            <a:solidFill>
              <a:srgbClr val="3BE8FF"/>
            </a:solidFill>
            <a:prstDash val="solid"/>
          </a:ln>
        </p:spPr>
        <p:txBody>
          <a:bodyPr/>
          <a:lstStyle/>
          <a:p>
            <a:endParaRPr lang="en-US"/>
          </a:p>
        </p:txBody>
      </p:sp>
      <p:sp>
        <p:nvSpPr>
          <p:cNvPr id="11" name="Text 8"/>
          <p:cNvSpPr/>
          <p:nvPr/>
        </p:nvSpPr>
        <p:spPr>
          <a:xfrm>
            <a:off x="3114040" y="2397671"/>
            <a:ext cx="426720" cy="452090"/>
          </a:xfrm>
          <a:prstGeom prst="rect">
            <a:avLst/>
          </a:prstGeom>
          <a:noFill/>
          <a:ln/>
        </p:spPr>
        <p:txBody>
          <a:bodyPr wrap="square" lIns="0" tIns="0" rIns="0" bIns="0" rtlCol="0" anchor="t">
            <a:normAutofit/>
          </a:bodyPr>
          <a:lstStyle/>
          <a:p>
            <a:pPr marL="0" indent="0" algn="ctr">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12" name="Text 9"/>
          <p:cNvSpPr/>
          <p:nvPr/>
        </p:nvSpPr>
        <p:spPr>
          <a:xfrm>
            <a:off x="2959204" y="2875161"/>
            <a:ext cx="736342" cy="27429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4E0"/>
                </a:solidFill>
                <a:latin typeface="Fredoka" pitchFamily="34" charset="0"/>
                <a:ea typeface="Fredoka" pitchFamily="34" charset="-122"/>
                <a:cs typeface="Fredoka" pitchFamily="34" charset="-120"/>
              </a:rPr>
              <a:t>Commit</a:t>
            </a:r>
            <a:endParaRPr lang="en-US" sz="1400" dirty="0"/>
          </a:p>
        </p:txBody>
      </p:sp>
      <p:pic>
        <p:nvPicPr>
          <p:cNvPr id="13" name="Image 1" descr="arrow-right"/>
          <p:cNvPicPr>
            <a:picLocks noChangeAspect="1"/>
          </p:cNvPicPr>
          <p:nvPr/>
        </p:nvPicPr>
        <p:blipFill>
          <a:blip r:embed="rId3"/>
          <a:srcRect/>
          <a:stretch/>
        </p:blipFill>
        <p:spPr>
          <a:xfrm>
            <a:off x="4097883" y="2684661"/>
            <a:ext cx="304800" cy="152400"/>
          </a:xfrm>
          <a:prstGeom prst="rect">
            <a:avLst/>
          </a:prstGeom>
        </p:spPr>
      </p:pic>
      <p:sp>
        <p:nvSpPr>
          <p:cNvPr id="14" name="Shape 10"/>
          <p:cNvSpPr/>
          <p:nvPr/>
        </p:nvSpPr>
        <p:spPr>
          <a:xfrm>
            <a:off x="4516983" y="2232571"/>
            <a:ext cx="1312317" cy="1056580"/>
          </a:xfrm>
          <a:prstGeom prst="roundRect">
            <a:avLst>
              <a:gd name="adj" fmla="val 10818"/>
            </a:avLst>
          </a:prstGeom>
          <a:solidFill>
            <a:srgbClr val="2A1A52"/>
          </a:solidFill>
          <a:ln w="25400">
            <a:solidFill>
              <a:srgbClr val="3BE8FF"/>
            </a:solidFill>
            <a:prstDash val="solid"/>
          </a:ln>
        </p:spPr>
        <p:txBody>
          <a:bodyPr/>
          <a:lstStyle/>
          <a:p>
            <a:endParaRPr lang="en-US"/>
          </a:p>
        </p:txBody>
      </p:sp>
      <p:sp>
        <p:nvSpPr>
          <p:cNvPr id="15" name="Text 11"/>
          <p:cNvSpPr/>
          <p:nvPr/>
        </p:nvSpPr>
        <p:spPr>
          <a:xfrm>
            <a:off x="4959757" y="2397671"/>
            <a:ext cx="426720" cy="452090"/>
          </a:xfrm>
          <a:prstGeom prst="rect">
            <a:avLst/>
          </a:prstGeom>
          <a:noFill/>
          <a:ln/>
        </p:spPr>
        <p:txBody>
          <a:bodyPr wrap="square" lIns="0" tIns="0" rIns="0" bIns="0" rtlCol="0" anchor="t">
            <a:normAutofit/>
          </a:bodyPr>
          <a:lstStyle/>
          <a:p>
            <a:pPr marL="0" indent="0" algn="ctr">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16" name="Text 12"/>
          <p:cNvSpPr/>
          <p:nvPr/>
        </p:nvSpPr>
        <p:spPr>
          <a:xfrm>
            <a:off x="4940231" y="2875161"/>
            <a:ext cx="465772" cy="27429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4E0"/>
                </a:solidFill>
                <a:latin typeface="Fredoka" pitchFamily="34" charset="0"/>
                <a:ea typeface="Fredoka" pitchFamily="34" charset="-122"/>
                <a:cs typeface="Fredoka" pitchFamily="34" charset="-120"/>
              </a:rPr>
              <a:t>Push</a:t>
            </a:r>
            <a:endParaRPr lang="en-US" sz="1400" dirty="0"/>
          </a:p>
        </p:txBody>
      </p:sp>
      <p:pic>
        <p:nvPicPr>
          <p:cNvPr id="17" name="Image 2" descr="arrow-right"/>
          <p:cNvPicPr>
            <a:picLocks noChangeAspect="1"/>
          </p:cNvPicPr>
          <p:nvPr/>
        </p:nvPicPr>
        <p:blipFill>
          <a:blip r:embed="rId3"/>
          <a:srcRect/>
          <a:stretch/>
        </p:blipFill>
        <p:spPr>
          <a:xfrm>
            <a:off x="5943600" y="2684661"/>
            <a:ext cx="304800" cy="152400"/>
          </a:xfrm>
          <a:prstGeom prst="rect">
            <a:avLst/>
          </a:prstGeom>
        </p:spPr>
      </p:pic>
      <p:sp>
        <p:nvSpPr>
          <p:cNvPr id="18" name="Shape 13"/>
          <p:cNvSpPr/>
          <p:nvPr/>
        </p:nvSpPr>
        <p:spPr>
          <a:xfrm>
            <a:off x="6362700" y="2232571"/>
            <a:ext cx="1312366" cy="1056580"/>
          </a:xfrm>
          <a:prstGeom prst="roundRect">
            <a:avLst>
              <a:gd name="adj" fmla="val 10818"/>
            </a:avLst>
          </a:prstGeom>
          <a:solidFill>
            <a:srgbClr val="2A1A52"/>
          </a:solidFill>
          <a:ln w="25400">
            <a:solidFill>
              <a:srgbClr val="FF4FA3"/>
            </a:solidFill>
            <a:prstDash val="solid"/>
          </a:ln>
        </p:spPr>
        <p:txBody>
          <a:bodyPr/>
          <a:lstStyle/>
          <a:p>
            <a:endParaRPr lang="en-US"/>
          </a:p>
        </p:txBody>
      </p:sp>
      <p:sp>
        <p:nvSpPr>
          <p:cNvPr id="19" name="Text 14"/>
          <p:cNvSpPr/>
          <p:nvPr/>
        </p:nvSpPr>
        <p:spPr>
          <a:xfrm>
            <a:off x="6805523" y="2397671"/>
            <a:ext cx="426720" cy="452090"/>
          </a:xfrm>
          <a:prstGeom prst="rect">
            <a:avLst/>
          </a:prstGeom>
          <a:noFill/>
          <a:ln/>
        </p:spPr>
        <p:txBody>
          <a:bodyPr wrap="square" lIns="0" tIns="0" rIns="0" bIns="0" rtlCol="0" anchor="t">
            <a:normAutofit/>
          </a:bodyPr>
          <a:lstStyle/>
          <a:p>
            <a:pPr marL="0" indent="0" algn="ctr">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20" name="Text 15"/>
          <p:cNvSpPr/>
          <p:nvPr/>
        </p:nvSpPr>
        <p:spPr>
          <a:xfrm>
            <a:off x="6410891" y="2875161"/>
            <a:ext cx="1215985" cy="27429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4E0"/>
                </a:solidFill>
                <a:latin typeface="Fredoka" pitchFamily="34" charset="0"/>
                <a:ea typeface="Fredoka" pitchFamily="34" charset="-122"/>
                <a:cs typeface="Fredoka" pitchFamily="34" charset="-120"/>
              </a:rPr>
              <a:t>Open PR/MR</a:t>
            </a:r>
            <a:endParaRPr lang="en-US" sz="1400" dirty="0"/>
          </a:p>
        </p:txBody>
      </p:sp>
      <p:pic>
        <p:nvPicPr>
          <p:cNvPr id="21" name="Image 3" descr="arrow-right"/>
          <p:cNvPicPr>
            <a:picLocks noChangeAspect="1"/>
          </p:cNvPicPr>
          <p:nvPr/>
        </p:nvPicPr>
        <p:blipFill>
          <a:blip r:embed="rId3"/>
          <a:srcRect/>
          <a:stretch/>
        </p:blipFill>
        <p:spPr>
          <a:xfrm>
            <a:off x="7789366" y="2684661"/>
            <a:ext cx="304800" cy="152400"/>
          </a:xfrm>
          <a:prstGeom prst="rect">
            <a:avLst/>
          </a:prstGeom>
        </p:spPr>
      </p:pic>
      <p:sp>
        <p:nvSpPr>
          <p:cNvPr id="22" name="Shape 16"/>
          <p:cNvSpPr/>
          <p:nvPr/>
        </p:nvSpPr>
        <p:spPr>
          <a:xfrm>
            <a:off x="8208466" y="2232571"/>
            <a:ext cx="1312317" cy="1056580"/>
          </a:xfrm>
          <a:prstGeom prst="roundRect">
            <a:avLst>
              <a:gd name="adj" fmla="val 10818"/>
            </a:avLst>
          </a:prstGeom>
          <a:solidFill>
            <a:srgbClr val="2A1A52"/>
          </a:solidFill>
          <a:ln w="25400">
            <a:solidFill>
              <a:srgbClr val="FF4FA3"/>
            </a:solidFill>
            <a:prstDash val="solid"/>
          </a:ln>
        </p:spPr>
        <p:txBody>
          <a:bodyPr/>
          <a:lstStyle/>
          <a:p>
            <a:endParaRPr lang="en-US"/>
          </a:p>
        </p:txBody>
      </p:sp>
      <p:sp>
        <p:nvSpPr>
          <p:cNvPr id="23" name="Text 17"/>
          <p:cNvSpPr/>
          <p:nvPr/>
        </p:nvSpPr>
        <p:spPr>
          <a:xfrm>
            <a:off x="8651240" y="2397671"/>
            <a:ext cx="426720" cy="452090"/>
          </a:xfrm>
          <a:prstGeom prst="rect">
            <a:avLst/>
          </a:prstGeom>
          <a:noFill/>
          <a:ln/>
        </p:spPr>
        <p:txBody>
          <a:bodyPr wrap="square" lIns="0" tIns="0" rIns="0" bIns="0" rtlCol="0" anchor="t">
            <a:normAutofit/>
          </a:bodyPr>
          <a:lstStyle/>
          <a:p>
            <a:pPr marL="0" indent="0" algn="ctr">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24" name="Text 18"/>
          <p:cNvSpPr/>
          <p:nvPr/>
        </p:nvSpPr>
        <p:spPr>
          <a:xfrm>
            <a:off x="8527594" y="2875161"/>
            <a:ext cx="674013" cy="27429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4E0"/>
                </a:solidFill>
                <a:latin typeface="Fredoka" pitchFamily="34" charset="0"/>
                <a:ea typeface="Fredoka" pitchFamily="34" charset="-122"/>
                <a:cs typeface="Fredoka" pitchFamily="34" charset="-120"/>
              </a:rPr>
              <a:t>Review</a:t>
            </a:r>
            <a:endParaRPr lang="en-US" sz="1400" dirty="0"/>
          </a:p>
        </p:txBody>
      </p:sp>
      <p:pic>
        <p:nvPicPr>
          <p:cNvPr id="25" name="Image 4" descr="arrow-right"/>
          <p:cNvPicPr>
            <a:picLocks noChangeAspect="1"/>
          </p:cNvPicPr>
          <p:nvPr/>
        </p:nvPicPr>
        <p:blipFill>
          <a:blip r:embed="rId3"/>
          <a:srcRect/>
          <a:stretch/>
        </p:blipFill>
        <p:spPr>
          <a:xfrm>
            <a:off x="9635083" y="2684661"/>
            <a:ext cx="304800" cy="152400"/>
          </a:xfrm>
          <a:prstGeom prst="rect">
            <a:avLst/>
          </a:prstGeom>
        </p:spPr>
      </p:pic>
      <p:sp>
        <p:nvSpPr>
          <p:cNvPr id="26" name="Shape 19"/>
          <p:cNvSpPr/>
          <p:nvPr/>
        </p:nvSpPr>
        <p:spPr>
          <a:xfrm>
            <a:off x="10054183" y="2232571"/>
            <a:ext cx="1312317" cy="1056580"/>
          </a:xfrm>
          <a:prstGeom prst="roundRect">
            <a:avLst>
              <a:gd name="adj" fmla="val 10818"/>
            </a:avLst>
          </a:prstGeom>
          <a:solidFill>
            <a:srgbClr val="2A1A52"/>
          </a:solidFill>
          <a:ln w="25400">
            <a:solidFill>
              <a:srgbClr val="B6FF3B"/>
            </a:solidFill>
            <a:prstDash val="solid"/>
          </a:ln>
        </p:spPr>
        <p:txBody>
          <a:bodyPr/>
          <a:lstStyle/>
          <a:p>
            <a:endParaRPr lang="en-US"/>
          </a:p>
        </p:txBody>
      </p:sp>
      <p:sp>
        <p:nvSpPr>
          <p:cNvPr id="27" name="Text 20"/>
          <p:cNvSpPr/>
          <p:nvPr/>
        </p:nvSpPr>
        <p:spPr>
          <a:xfrm>
            <a:off x="10496957" y="2397671"/>
            <a:ext cx="426720" cy="452090"/>
          </a:xfrm>
          <a:prstGeom prst="rect">
            <a:avLst/>
          </a:prstGeom>
          <a:noFill/>
          <a:ln/>
        </p:spPr>
        <p:txBody>
          <a:bodyPr wrap="square" lIns="0" tIns="0" rIns="0" bIns="0" rtlCol="0" anchor="t">
            <a:normAutofit/>
          </a:bodyPr>
          <a:lstStyle/>
          <a:p>
            <a:pPr marL="0" indent="0" algn="ctr">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28" name="Text 21"/>
          <p:cNvSpPr/>
          <p:nvPr/>
        </p:nvSpPr>
        <p:spPr>
          <a:xfrm>
            <a:off x="10408731" y="2875161"/>
            <a:ext cx="603171" cy="27429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4E0"/>
                </a:solidFill>
                <a:latin typeface="Fredoka" pitchFamily="34" charset="0"/>
                <a:ea typeface="Fredoka" pitchFamily="34" charset="-122"/>
                <a:cs typeface="Fredoka" pitchFamily="34" charset="-120"/>
              </a:rPr>
              <a:t>Merge</a:t>
            </a:r>
            <a:endParaRPr lang="en-US" sz="1400" dirty="0"/>
          </a:p>
        </p:txBody>
      </p:sp>
      <p:sp>
        <p:nvSpPr>
          <p:cNvPr id="29" name="Shape 22"/>
          <p:cNvSpPr/>
          <p:nvPr/>
        </p:nvSpPr>
        <p:spPr>
          <a:xfrm>
            <a:off x="825500" y="3517751"/>
            <a:ext cx="10541000" cy="1379141"/>
          </a:xfrm>
          <a:prstGeom prst="roundRect">
            <a:avLst>
              <a:gd name="adj" fmla="val 10129"/>
            </a:avLst>
          </a:prstGeom>
          <a:solidFill>
            <a:srgbClr val="FFF4E0"/>
          </a:solidFill>
          <a:ln w="25400">
            <a:solidFill>
              <a:srgbClr val="FF4FA3"/>
            </a:solidFill>
            <a:prstDash val="solid"/>
          </a:ln>
          <a:effectLst>
            <a:outerShdw dist="89803" dir="2700000" algn="bl" rotWithShape="0">
              <a:srgbClr val="FF4FA3">
                <a:alpha val="100000"/>
              </a:srgbClr>
            </a:outerShdw>
          </a:effectLst>
        </p:spPr>
        <p:txBody>
          <a:bodyPr/>
          <a:lstStyle/>
          <a:p>
            <a:endParaRPr lang="en-US"/>
          </a:p>
        </p:txBody>
      </p:sp>
      <p:sp>
        <p:nvSpPr>
          <p:cNvPr id="30" name="Text 23"/>
          <p:cNvSpPr/>
          <p:nvPr/>
        </p:nvSpPr>
        <p:spPr>
          <a:xfrm>
            <a:off x="1050925" y="3717776"/>
            <a:ext cx="438150" cy="438150"/>
          </a:xfrm>
          <a:custGeom>
            <a:avLst/>
            <a:gdLst/>
            <a:ahLst/>
            <a:cxnLst/>
            <a:rect l="l" t="t" r="r" b="b"/>
            <a:pathLst>
              <a:path w="438150" h="438150">
                <a:moveTo>
                  <a:pt x="219075" y="0"/>
                </a:moveTo>
                <a:lnTo>
                  <a:pt x="219075" y="0"/>
                </a:lnTo>
                <a:arcTo wR="219075" hR="219075" stAng="16200000" swAng="5400000"/>
                <a:lnTo>
                  <a:pt x="438150" y="219075"/>
                </a:lnTo>
                <a:arcTo wR="219075" hR="219075" stAng="0" swAng="5400000"/>
                <a:lnTo>
                  <a:pt x="219075" y="438150"/>
                </a:lnTo>
                <a:arcTo wR="219075" hR="219075" stAng="5400000" swAng="5400000"/>
                <a:lnTo>
                  <a:pt x="0" y="219075"/>
                </a:lnTo>
                <a:arcTo wR="219075" hR="219075" stAng="10800000" swAng="5400000"/>
                <a:close/>
              </a:path>
            </a:pathLst>
          </a:custGeom>
          <a:solidFill>
            <a:srgbClr val="3BE8FF"/>
          </a:solidFill>
          <a:ln w="19050">
            <a:solidFill>
              <a:srgbClr val="1B1035"/>
            </a:solidFill>
            <a:prstDash val="solid"/>
          </a:ln>
        </p:spPr>
        <p:txBody>
          <a:bodyPr wrap="square" lIns="9525" tIns="9525" rIns="9525" bIns="9525" rtlCol="0" anchor="ctr">
            <a:normAutofit/>
          </a:bodyPr>
          <a:lstStyle/>
          <a:p>
            <a:pPr marL="0" indent="0" algn="ctr">
              <a:lnSpc>
                <a:spcPts val="2000"/>
              </a:lnSpc>
              <a:buNone/>
            </a:pPr>
            <a:r>
              <a:rPr lang="en-US" sz="2000" dirty="0">
                <a:solidFill>
                  <a:srgbClr val="1B1035"/>
                </a:solidFill>
                <a:latin typeface="Fredoka" pitchFamily="34" charset="0"/>
                <a:ea typeface="Fredoka" pitchFamily="34" charset="-122"/>
                <a:cs typeface="Fredoka" pitchFamily="34" charset="-120"/>
              </a:rPr>
              <a:t>🐸</a:t>
            </a:r>
            <a:endParaRPr lang="en-US" sz="2000" dirty="0"/>
          </a:p>
        </p:txBody>
      </p:sp>
      <p:sp>
        <p:nvSpPr>
          <p:cNvPr id="31" name="Text 24"/>
          <p:cNvSpPr/>
          <p:nvPr/>
        </p:nvSpPr>
        <p:spPr>
          <a:xfrm>
            <a:off x="1651000" y="3708251"/>
            <a:ext cx="978458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1035"/>
                </a:solidFill>
                <a:latin typeface="Fredoka" pitchFamily="34" charset="0"/>
                <a:ea typeface="Fredoka" pitchFamily="34" charset="-122"/>
                <a:cs typeface="Fredoka" pitchFamily="34" charset="-120"/>
              </a:rPr>
              <a:t>[teammate]</a:t>
            </a:r>
            <a:r>
              <a:rPr lang="en-US" sz="1300" dirty="0">
                <a:solidFill>
                  <a:srgbClr val="4A3F6B"/>
                </a:solidFill>
                <a:latin typeface="Fredoka" pitchFamily="34" charset="0"/>
                <a:ea typeface="Fredoka" pitchFamily="34" charset="-122"/>
                <a:cs typeface="Fredoka" pitchFamily="34" charset="-120"/>
              </a:rPr>
              <a:t> reviewed </a:t>
            </a:r>
            <a:r>
              <a:rPr lang="en-US" sz="1300" dirty="0">
                <a:solidFill>
                  <a:srgbClr val="6A2FD6"/>
                </a:solidFill>
                <a:latin typeface="Fredoka" pitchFamily="34" charset="0"/>
                <a:ea typeface="Fredoka" pitchFamily="34" charset="-122"/>
                <a:cs typeface="Fredoka" pitchFamily="34" charset="-120"/>
              </a:rPr>
              <a:t>PlayerController.cs</a:t>
            </a:r>
            <a:endParaRPr lang="en-US" sz="1300" dirty="0"/>
          </a:p>
        </p:txBody>
      </p:sp>
      <p:sp>
        <p:nvSpPr>
          <p:cNvPr id="32" name="Text 25"/>
          <p:cNvSpPr/>
          <p:nvPr/>
        </p:nvSpPr>
        <p:spPr>
          <a:xfrm>
            <a:off x="1651000" y="4015581"/>
            <a:ext cx="9784588"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B1035"/>
                </a:solidFill>
                <a:latin typeface="Fredoka" pitchFamily="34" charset="0"/>
                <a:ea typeface="Fredoka" pitchFamily="34" charset="-122"/>
                <a:cs typeface="Fredoka" pitchFamily="34" charset="-120"/>
              </a:rPr>
              <a:t>Nice jump!! 🔥 but pls delete </a:t>
            </a:r>
            <a:r>
              <a:rPr lang="en-US" sz="1600" dirty="0">
                <a:solidFill>
                  <a:srgbClr val="C2185B"/>
                </a:solidFill>
                <a:latin typeface="Fredoka" pitchFamily="34" charset="0"/>
                <a:ea typeface="Fredoka" pitchFamily="34" charset="-122"/>
                <a:cs typeface="Fredoka" pitchFamily="34" charset="-120"/>
              </a:rPr>
              <a:t>Debug.Log("AAAAAAAAA")</a:t>
            </a:r>
            <a:r>
              <a:rPr lang="en-US" sz="1600" dirty="0">
                <a:solidFill>
                  <a:srgbClr val="1B1035"/>
                </a:solidFill>
                <a:latin typeface="Fredoka" pitchFamily="34" charset="0"/>
                <a:ea typeface="Fredoka" pitchFamily="34" charset="-122"/>
                <a:cs typeface="Fredoka" pitchFamily="34" charset="-120"/>
              </a:rPr>
              <a:t> before we merge 😭</a:t>
            </a:r>
            <a:endParaRPr lang="en-US" sz="1600" dirty="0"/>
          </a:p>
        </p:txBody>
      </p:sp>
      <p:sp>
        <p:nvSpPr>
          <p:cNvPr id="33" name="Text 26"/>
          <p:cNvSpPr/>
          <p:nvPr/>
        </p:nvSpPr>
        <p:spPr>
          <a:xfrm>
            <a:off x="1657350" y="4372421"/>
            <a:ext cx="1033066" cy="327620"/>
          </a:xfrm>
          <a:prstGeom prst="roundRect">
            <a:avLst>
              <a:gd name="adj" fmla="val 50000"/>
            </a:avLst>
          </a:prstGeom>
          <a:solidFill>
            <a:srgbClr val="B6FF3B"/>
          </a:solidFill>
          <a:ln w="12700">
            <a:solidFill>
              <a:srgbClr val="1B1035"/>
            </a:solidFill>
            <a:prstDash val="solid"/>
          </a:ln>
        </p:spPr>
        <p:txBody>
          <a:bodyPr wrap="none" lIns="0" tIns="0" rIns="0" bIns="0" rtlCol="0" anchor="ctr">
            <a:normAutofit/>
          </a:bodyPr>
          <a:lstStyle/>
          <a:p>
            <a:pPr marL="0" indent="0" algn="ctr">
              <a:lnSpc>
                <a:spcPts val="1680"/>
              </a:lnSpc>
              <a:buNone/>
            </a:pPr>
            <a:r>
              <a:rPr lang="en-US" sz="1200" b="1" dirty="0">
                <a:solidFill>
                  <a:srgbClr val="1B1035"/>
                </a:solidFill>
                <a:latin typeface="Fredoka" pitchFamily="34" charset="0"/>
                <a:ea typeface="Fredoka" pitchFamily="34" charset="-122"/>
                <a:cs typeface="Fredoka" pitchFamily="34" charset="-120"/>
              </a:rPr>
              <a:t>✅ Approve</a:t>
            </a:r>
            <a:endParaRPr lang="en-US" sz="1200" dirty="0"/>
          </a:p>
        </p:txBody>
      </p:sp>
      <p:sp>
        <p:nvSpPr>
          <p:cNvPr id="34" name="Text 27"/>
          <p:cNvSpPr/>
          <p:nvPr/>
        </p:nvSpPr>
        <p:spPr>
          <a:xfrm>
            <a:off x="2792016" y="4372421"/>
            <a:ext cx="1610221" cy="327620"/>
          </a:xfrm>
          <a:prstGeom prst="roundRect">
            <a:avLst>
              <a:gd name="adj" fmla="val 50000"/>
            </a:avLst>
          </a:prstGeom>
          <a:solidFill>
            <a:srgbClr val="FFD23F"/>
          </a:solidFill>
          <a:ln w="12700">
            <a:solidFill>
              <a:srgbClr val="1B1035"/>
            </a:solidFill>
            <a:prstDash val="solid"/>
          </a:ln>
        </p:spPr>
        <p:txBody>
          <a:bodyPr wrap="none" lIns="0" tIns="0" rIns="0" bIns="0" rtlCol="0" anchor="ctr">
            <a:normAutofit/>
          </a:bodyPr>
          <a:lstStyle/>
          <a:p>
            <a:pPr marL="0" indent="0" algn="ctr">
              <a:lnSpc>
                <a:spcPts val="1680"/>
              </a:lnSpc>
              <a:buNone/>
            </a:pPr>
            <a:r>
              <a:rPr lang="en-US" sz="1200" b="1" dirty="0">
                <a:solidFill>
                  <a:srgbClr val="1B1035"/>
                </a:solidFill>
                <a:latin typeface="Fredoka" pitchFamily="34" charset="0"/>
                <a:ea typeface="Fredoka" pitchFamily="34" charset="-122"/>
                <a:cs typeface="Fredoka" pitchFamily="34" charset="-120"/>
              </a:rPr>
              <a:t>🔁 Request changes</a:t>
            </a:r>
            <a:endParaRPr lang="en-US" sz="1200" dirty="0"/>
          </a:p>
        </p:txBody>
      </p:sp>
      <p:sp>
        <p:nvSpPr>
          <p:cNvPr id="35" name="Text 28"/>
          <p:cNvSpPr/>
          <p:nvPr/>
        </p:nvSpPr>
        <p:spPr>
          <a:xfrm>
            <a:off x="4503837" y="4372421"/>
            <a:ext cx="1112341" cy="327620"/>
          </a:xfrm>
          <a:prstGeom prst="roundRect">
            <a:avLst>
              <a:gd name="adj" fmla="val 50000"/>
            </a:avLst>
          </a:prstGeom>
          <a:solidFill>
            <a:srgbClr val="E9E1FF"/>
          </a:solidFill>
          <a:ln w="12700">
            <a:solidFill>
              <a:srgbClr val="1B1035"/>
            </a:solidFill>
            <a:prstDash val="solid"/>
          </a:ln>
        </p:spPr>
        <p:txBody>
          <a:bodyPr wrap="none" lIns="0" tIns="0" rIns="0" bIns="0" rtlCol="0" anchor="ctr">
            <a:normAutofit/>
          </a:bodyPr>
          <a:lstStyle/>
          <a:p>
            <a:pPr marL="0" indent="0" algn="ctr">
              <a:lnSpc>
                <a:spcPts val="1680"/>
              </a:lnSpc>
              <a:buNone/>
            </a:pPr>
            <a:r>
              <a:rPr lang="en-US" sz="1200" b="1" dirty="0">
                <a:solidFill>
                  <a:srgbClr val="1B1035"/>
                </a:solidFill>
                <a:latin typeface="Fredoka" pitchFamily="34" charset="0"/>
                <a:ea typeface="Fredoka" pitchFamily="34" charset="-122"/>
                <a:cs typeface="Fredoka" pitchFamily="34" charset="-120"/>
              </a:rPr>
              <a:t>💬 Comment</a:t>
            </a:r>
            <a:endParaRPr lang="en-US" sz="1200" dirty="0"/>
          </a:p>
        </p:txBody>
      </p:sp>
      <p:sp>
        <p:nvSpPr>
          <p:cNvPr id="36" name="Text 29"/>
          <p:cNvSpPr/>
          <p:nvPr/>
        </p:nvSpPr>
        <p:spPr>
          <a:xfrm rot="21300000">
            <a:off x="8267700" y="5029820"/>
            <a:ext cx="2641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1B1035">
                <a:alpha val="100000"/>
              </a:srgbClr>
            </a:outerShdw>
          </a:effectLst>
        </p:spPr>
        <p:txBody>
          <a:bodyPr wrap="square" lIns="38242" tIns="35575" rIns="3824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LGTM 👍 (didn’t read it)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560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4 &gt; VERSUS</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25/30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GitHub vs GitLab</a:t>
            </a:r>
            <a:endParaRPr lang="en-US" sz="4000" dirty="0"/>
          </a:p>
        </p:txBody>
      </p:sp>
      <p:sp>
        <p:nvSpPr>
          <p:cNvPr id="5" name="Shape 3"/>
          <p:cNvSpPr/>
          <p:nvPr/>
        </p:nvSpPr>
        <p:spPr>
          <a:xfrm>
            <a:off x="812800" y="1788120"/>
            <a:ext cx="10566400" cy="3126184"/>
          </a:xfrm>
          <a:prstGeom prst="roundRect">
            <a:avLst>
              <a:gd name="adj" fmla="val 4062"/>
            </a:avLst>
          </a:prstGeom>
          <a:solidFill>
            <a:srgbClr val="FFFDF8"/>
          </a:solidFill>
          <a:ln/>
        </p:spPr>
        <p:txBody>
          <a:bodyPr/>
          <a:lstStyle/>
          <a:p>
            <a:endParaRPr lang="en-US"/>
          </a:p>
        </p:txBody>
      </p:sp>
      <p:sp>
        <p:nvSpPr>
          <p:cNvPr id="6" name="Shape 4"/>
          <p:cNvSpPr/>
          <p:nvPr/>
        </p:nvSpPr>
        <p:spPr>
          <a:xfrm>
            <a:off x="812800" y="1788120"/>
            <a:ext cx="10566400" cy="3126184"/>
          </a:xfrm>
          <a:custGeom>
            <a:avLst/>
            <a:gdLst/>
            <a:ahLst/>
            <a:cxnLst/>
            <a:rect l="l" t="t" r="r" b="b"/>
            <a:pathLst>
              <a:path w="10566400" h="3126184">
                <a:moveTo>
                  <a:pt x="10439400" y="0"/>
                </a:moveTo>
                <a:lnTo>
                  <a:pt x="10439400" y="0"/>
                </a:lnTo>
                <a:arcTo wR="127000" hR="127000" stAng="16200000" swAng="5400000"/>
                <a:lnTo>
                  <a:pt x="10566400" y="2999184"/>
                </a:lnTo>
                <a:arcTo wR="127000" hR="127000" stAng="0" swAng="5400000"/>
                <a:lnTo>
                  <a:pt x="127000" y="3126184"/>
                </a:lnTo>
                <a:arcTo wR="127000" hR="127000" stAng="5400000" swAng="5400000"/>
                <a:lnTo>
                  <a:pt x="0" y="2999184"/>
                </a:lnTo>
                <a:arcTo wR="127000" hR="101600" stAng="10800000" swAng="-5400000"/>
                <a:lnTo>
                  <a:pt x="10439400" y="3100784"/>
                </a:lnTo>
                <a:arcTo wR="101600" hR="101600" stAng="5400000" swAng="-5400000"/>
                <a:lnTo>
                  <a:pt x="10541000" y="127000"/>
                </a:lnTo>
                <a:arcTo wR="101600" hR="127000" stAng="0" swAng="-5400000"/>
                <a:close/>
              </a:path>
            </a:pathLst>
          </a:custGeom>
          <a:solidFill>
            <a:srgbClr val="1B1035"/>
          </a:solidFill>
          <a:ln/>
        </p:spPr>
        <p:txBody>
          <a:bodyPr/>
          <a:lstStyle/>
          <a:p>
            <a:endParaRPr lang="en-US"/>
          </a:p>
        </p:txBody>
      </p:sp>
      <p:sp>
        <p:nvSpPr>
          <p:cNvPr id="7" name="Shape 5"/>
          <p:cNvSpPr/>
          <p:nvPr/>
        </p:nvSpPr>
        <p:spPr>
          <a:xfrm>
            <a:off x="812800" y="1788120"/>
            <a:ext cx="10566400" cy="3126184"/>
          </a:xfrm>
          <a:custGeom>
            <a:avLst/>
            <a:gdLst/>
            <a:ahLst/>
            <a:cxnLst/>
            <a:rect l="l" t="t" r="r" b="b"/>
            <a:pathLst>
              <a:path w="10566400" h="3126184">
                <a:moveTo>
                  <a:pt x="127000" y="3126184"/>
                </a:moveTo>
                <a:lnTo>
                  <a:pt x="127000" y="3126184"/>
                </a:lnTo>
                <a:arcTo wR="127000" hR="127000" stAng="5400000" swAng="5400000"/>
                <a:lnTo>
                  <a:pt x="0" y="127000"/>
                </a:lnTo>
                <a:arcTo wR="127000" hR="127000" stAng="10800000" swAng="5400000"/>
                <a:lnTo>
                  <a:pt x="10439400" y="0"/>
                </a:lnTo>
                <a:arcTo wR="127000" hR="127000" stAng="16200000" swAng="5400000"/>
                <a:lnTo>
                  <a:pt x="10566400" y="127000"/>
                </a:lnTo>
                <a:arcTo wR="127000" hR="114300" stAng="0" swAng="-5400000"/>
                <a:lnTo>
                  <a:pt x="127000" y="12700"/>
                </a:lnTo>
                <a:arcTo wR="114300" hR="114300" stAng="16200000" swAng="-5400000"/>
                <a:lnTo>
                  <a:pt x="12700" y="2999184"/>
                </a:lnTo>
                <a:arcTo wR="114300" hR="127000" stAng="10800000" swAng="-5400000"/>
                <a:close/>
              </a:path>
            </a:pathLst>
          </a:custGeom>
          <a:solidFill>
            <a:srgbClr val="141413">
              <a:alpha val="22000"/>
            </a:srgbClr>
          </a:solidFill>
          <a:ln/>
        </p:spPr>
        <p:txBody>
          <a:bodyPr/>
          <a:lstStyle/>
          <a:p>
            <a:endParaRPr lang="en-US"/>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00820"/>
          <a:ext cx="10528300" cy="3088088"/>
        </p:xfrm>
        <a:graphic>
          <a:graphicData uri="http://schemas.openxmlformats.org/drawingml/2006/table">
            <a:tbl>
              <a:tblPr/>
              <a:tblGrid>
                <a:gridCol w="2737358">
                  <a:extLst>
                    <a:ext uri="{9D8B030D-6E8A-4147-A177-3AD203B41FA5}">
                      <a16:colId xmlns:a16="http://schemas.microsoft.com/office/drawing/2014/main" val="20000"/>
                    </a:ext>
                  </a:extLst>
                </a:gridCol>
                <a:gridCol w="3895471">
                  <a:extLst>
                    <a:ext uri="{9D8B030D-6E8A-4147-A177-3AD203B41FA5}">
                      <a16:colId xmlns:a16="http://schemas.microsoft.com/office/drawing/2014/main" val="20001"/>
                    </a:ext>
                  </a:extLst>
                </a:gridCol>
                <a:gridCol w="3895471">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FFD23F"/>
                          </a:solidFill>
                          <a:latin typeface="Fredoka" pitchFamily="34" charset="0"/>
                          <a:ea typeface="Fredoka" pitchFamily="34" charset="-122"/>
                          <a:cs typeface="Fredoka" pitchFamily="34" charset="-120"/>
                        </a:rPr>
                        <a:t>Round</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19112E"/>
                      </a:solidFill>
                      <a:prstDash val="solid"/>
                      <a:round/>
                      <a:headEnd type="none" w="med" len="med"/>
                      <a:tailEnd type="none" w="med" len="med"/>
                    </a:lnR>
                    <a:lnT w="0" cap="flat" cmpd="sng" algn="ctr">
                      <a:noFill/>
                    </a:lnT>
                    <a:lnB w="12700" cap="flat" cmpd="sng" algn="ctr">
                      <a:solidFill>
                        <a:srgbClr val="19112E"/>
                      </a:solidFill>
                      <a:prstDash val="solid"/>
                      <a:round/>
                      <a:headEnd type="none" w="med" len="med"/>
                      <a:tailEnd type="none" w="med" len="med"/>
                    </a:lnB>
                    <a:solidFill>
                      <a:srgbClr val="1B1035"/>
                    </a:solidFill>
                  </a:tcPr>
                </a:tc>
                <a:tc>
                  <a:txBody>
                    <a:bodyPr/>
                    <a:lstStyle/>
                    <a:p>
                      <a:pPr marL="0" indent="0">
                        <a:lnSpc>
                          <a:spcPts val="1960"/>
                        </a:lnSpc>
                        <a:buNone/>
                      </a:pPr>
                      <a:r>
                        <a:rPr lang="en-US" sz="1400" b="1" dirty="0">
                          <a:solidFill>
                            <a:srgbClr val="E9E1FF"/>
                          </a:solidFill>
                          <a:latin typeface="Fredoka" pitchFamily="34" charset="0"/>
                          <a:ea typeface="Fredoka" pitchFamily="34" charset="-122"/>
                          <a:cs typeface="Fredoka" pitchFamily="34" charset="-120"/>
                        </a:rPr>
                        <a:t>GitHub 🐙</a:t>
                      </a:r>
                      <a:endParaRPr lang="en-US" sz="1400" dirty="0">
                        <a:latin typeface="Fredoka" charset="0"/>
                        <a:ea typeface="Fredoka" charset="0"/>
                        <a:cs typeface="Fredoka" charset="0"/>
                      </a:endParaRPr>
                    </a:p>
                  </a:txBody>
                  <a:tcPr marL="62230" marR="62230" marT="62230" marB="62230">
                    <a:lnL w="12700" cap="flat" cmpd="sng" algn="ctr">
                      <a:solidFill>
                        <a:srgbClr val="19112E"/>
                      </a:solidFill>
                      <a:prstDash val="solid"/>
                      <a:round/>
                      <a:headEnd type="none" w="med" len="med"/>
                      <a:tailEnd type="none" w="med" len="med"/>
                    </a:lnL>
                    <a:lnR w="12700" cap="flat" cmpd="sng" algn="ctr">
                      <a:solidFill>
                        <a:srgbClr val="19112E"/>
                      </a:solidFill>
                      <a:prstDash val="solid"/>
                      <a:round/>
                      <a:headEnd type="none" w="med" len="med"/>
                      <a:tailEnd type="none" w="med" len="med"/>
                    </a:lnR>
                    <a:lnT w="0" cap="flat" cmpd="sng" algn="ctr">
                      <a:noFill/>
                    </a:lnT>
                    <a:lnB w="12700" cap="flat" cmpd="sng" algn="ctr">
                      <a:solidFill>
                        <a:srgbClr val="19112E"/>
                      </a:solidFill>
                      <a:prstDash val="solid"/>
                      <a:round/>
                      <a:headEnd type="none" w="med" len="med"/>
                      <a:tailEnd type="none" w="med" len="med"/>
                    </a:lnB>
                    <a:solidFill>
                      <a:srgbClr val="1B1035"/>
                    </a:solidFill>
                  </a:tcPr>
                </a:tc>
                <a:tc>
                  <a:txBody>
                    <a:bodyPr/>
                    <a:lstStyle/>
                    <a:p>
                      <a:pPr marL="0" indent="0">
                        <a:lnSpc>
                          <a:spcPts val="1960"/>
                        </a:lnSpc>
                        <a:buNone/>
                      </a:pPr>
                      <a:r>
                        <a:rPr lang="en-US" sz="1400" b="1" dirty="0">
                          <a:solidFill>
                            <a:srgbClr val="FF8A3D"/>
                          </a:solidFill>
                          <a:latin typeface="Fredoka" pitchFamily="34" charset="0"/>
                          <a:ea typeface="Fredoka" pitchFamily="34" charset="-122"/>
                          <a:cs typeface="Fredoka" pitchFamily="34" charset="-120"/>
                        </a:rPr>
                        <a:t>GitLab 🧡</a:t>
                      </a:r>
                      <a:endParaRPr lang="en-US" sz="1400" dirty="0">
                        <a:latin typeface="Fredoka" charset="0"/>
                        <a:ea typeface="Fredoka" charset="0"/>
                        <a:cs typeface="Fredoka" charset="0"/>
                      </a:endParaRPr>
                    </a:p>
                  </a:txBody>
                  <a:tcPr marL="62230" marR="62230" marT="62230" marB="62230">
                    <a:lnL w="12700" cap="flat" cmpd="sng" algn="ctr">
                      <a:solidFill>
                        <a:srgbClr val="19112E"/>
                      </a:solidFill>
                      <a:prstDash val="solid"/>
                      <a:round/>
                      <a:headEnd type="none" w="med" len="med"/>
                      <a:tailEnd type="none" w="med" len="med"/>
                    </a:lnL>
                    <a:lnR w="12700" cap="flat" cmpd="sng" algn="ctr">
                      <a:solidFill>
                        <a:srgbClr val="19112E"/>
                      </a:solidFill>
                      <a:prstDash val="solid"/>
                      <a:round/>
                      <a:headEnd type="none" w="med" len="med"/>
                      <a:tailEnd type="none" w="med" len="med"/>
                    </a:lnR>
                    <a:lnT w="0" cap="flat" cmpd="sng" algn="ctr">
                      <a:noFill/>
                    </a:lnT>
                    <a:lnB w="12700" cap="flat" cmpd="sng" algn="ctr">
                      <a:solidFill>
                        <a:srgbClr val="19112E"/>
                      </a:solidFill>
                      <a:prstDash val="solid"/>
                      <a:round/>
                      <a:headEnd type="none" w="med" len="med"/>
                      <a:tailEnd type="none" w="med" len="med"/>
                    </a:lnB>
                    <a:solidFill>
                      <a:srgbClr val="1B1035"/>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Vibe</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19112E"/>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Huge community + open source hub</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112E"/>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All-in-one DevOps platform</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9112E"/>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Code review</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Pull Requests (PR)</a:t>
                      </a:r>
                      <a:endParaRPr lang="en-US" sz="1400" dirty="0">
                        <a:latin typeface="Fredoka" charset="0"/>
                        <a:ea typeface="Fredoka" charset="0"/>
                        <a:cs typeface="Fredoka" charset="0"/>
                      </a:endParaRPr>
                    </a:p>
                  </a:txBody>
                  <a:tcPr marL="62230" marR="62230" marT="62230" marB="62230">
                    <a:lnL w="12700" cap="flat" cmpd="sng" algn="ctr">
                      <a:solidFill>
                        <a:srgbClr val="C4BCCB"/>
                      </a:solidFill>
                      <a:prstDash val="solid"/>
                      <a:round/>
                      <a:headEnd type="none" w="med" len="med"/>
                      <a:tailEnd type="none" w="med" len="med"/>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Merge Requests (MR)</a:t>
                      </a:r>
                      <a:endParaRPr lang="en-US" sz="1400" dirty="0">
                        <a:latin typeface="Fredoka" charset="0"/>
                        <a:ea typeface="Fredoka" charset="0"/>
                        <a:cs typeface="Fredoka" charset="0"/>
                      </a:endParaRPr>
                    </a:p>
                  </a:txBody>
                  <a:tcPr marL="62230" marR="62230" marT="62230" marB="62230">
                    <a:lnL w="12700" cap="flat" cmpd="sng" algn="ctr">
                      <a:solidFill>
                        <a:srgbClr val="C4BCCB"/>
                      </a:solidFill>
                      <a:prstDash val="solid"/>
                      <a:round/>
                      <a:headEnd type="none" w="med" len="med"/>
                      <a:tailEnd type="none" w="med" len="med"/>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Automation</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GitHub Actions</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GitLab CI/CD, built in</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Host it yourself</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Enterprise Server (paid)</a:t>
                      </a:r>
                      <a:endParaRPr lang="en-US" sz="1400" dirty="0">
                        <a:latin typeface="Fredoka" charset="0"/>
                        <a:ea typeface="Fredoka" charset="0"/>
                        <a:cs typeface="Fredoka" charset="0"/>
                      </a:endParaRPr>
                    </a:p>
                  </a:txBody>
                  <a:tcPr marL="62230" marR="62230" marT="62230" marB="62230">
                    <a:lnL w="12700" cap="flat" cmpd="sng" algn="ctr">
                      <a:solidFill>
                        <a:srgbClr val="C4BCCB"/>
                      </a:solidFill>
                      <a:prstDash val="solid"/>
                      <a:round/>
                      <a:headEnd type="none" w="med" len="med"/>
                      <a:tailEnd type="none" w="med" len="med"/>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Free Community Edition</a:t>
                      </a:r>
                      <a:endParaRPr lang="en-US" sz="1400" dirty="0">
                        <a:latin typeface="Fredoka" charset="0"/>
                        <a:ea typeface="Fredoka" charset="0"/>
                        <a:cs typeface="Fredoka" charset="0"/>
                      </a:endParaRPr>
                    </a:p>
                  </a:txBody>
                  <a:tcPr marL="62230" marR="62230" marT="62230" marB="62230">
                    <a:lnL w="12700" cap="flat" cmpd="sng" algn="ctr">
                      <a:solidFill>
                        <a:srgbClr val="C4BCCB"/>
                      </a:solidFill>
                      <a:prstDash val="solid"/>
                      <a:round/>
                      <a:headEnd type="none" w="med" len="med"/>
                      <a:tailEnd type="none" w="med" len="med"/>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Owned by</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Microsoft</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GitLab Inc.</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Free private repos</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Yes</a:t>
                      </a:r>
                      <a:endParaRPr lang="en-US" sz="1400" dirty="0">
                        <a:latin typeface="Fredoka" charset="0"/>
                        <a:ea typeface="Fredoka" charset="0"/>
                        <a:cs typeface="Fredoka" charset="0"/>
                      </a:endParaRPr>
                    </a:p>
                  </a:txBody>
                  <a:tcPr marL="62230" marR="62230" marT="62230" marB="62230">
                    <a:lnL w="12700" cap="flat" cmpd="sng" algn="ctr">
                      <a:solidFill>
                        <a:srgbClr val="C4BCCB"/>
                      </a:solidFill>
                      <a:prstDash val="solid"/>
                      <a:round/>
                      <a:headEnd type="none" w="med" len="med"/>
                      <a:tailEnd type="none" w="med" len="med"/>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Yes</a:t>
                      </a:r>
                      <a:endParaRPr lang="en-US" sz="1400" dirty="0">
                        <a:latin typeface="Fredoka" charset="0"/>
                        <a:ea typeface="Fredoka" charset="0"/>
                        <a:cs typeface="Fredoka" charset="0"/>
                      </a:endParaRPr>
                    </a:p>
                  </a:txBody>
                  <a:tcPr marL="62230" marR="62230" marT="62230" marB="62230">
                    <a:lnL w="12700" cap="flat" cmpd="sng" algn="ctr">
                      <a:solidFill>
                        <a:srgbClr val="C4BCCB"/>
                      </a:solidFill>
                      <a:prstDash val="solid"/>
                      <a:round/>
                      <a:headEnd type="none" w="med" len="med"/>
                      <a:tailEnd type="none" w="med" len="med"/>
                    </a:lnL>
                    <a:lnR w="12700" cap="flat" cmpd="sng" algn="ctr">
                      <a:solidFill>
                        <a:srgbClr val="C4BCCB"/>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4BCCB"/>
                      </a:solidFill>
                      <a:prstDash val="solid"/>
                      <a:round/>
                      <a:headEnd type="none" w="med" len="med"/>
                      <a:tailEnd type="none" w="med" len="med"/>
                    </a:lnB>
                    <a:solidFill>
                      <a:srgbClr val="F6ECFF"/>
                    </a:solidFill>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Best for us</a:t>
                      </a:r>
                      <a:endParaRPr lang="en-US" sz="1400" dirty="0">
                        <a:latin typeface="Fredoka" charset="0"/>
                        <a:ea typeface="Fredoka" charset="0"/>
                        <a:cs typeface="Fredoka"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Portfolios, open source, game jams</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1B1035"/>
                          </a:solidFill>
                          <a:latin typeface="Fredoka" pitchFamily="34" charset="0"/>
                          <a:ea typeface="Fredoka" pitchFamily="34" charset="-122"/>
                          <a:cs typeface="Fredoka" pitchFamily="34" charset="-120"/>
                        </a:rPr>
                        <a:t>Teams wanting their own server</a:t>
                      </a:r>
                      <a:endParaRPr lang="en-US" sz="1400" dirty="0">
                        <a:latin typeface="Fredoka" charset="0"/>
                        <a:ea typeface="Fredoka" charset="0"/>
                        <a:cs typeface="Fredoka"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4BCC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Text 6"/>
          <p:cNvSpPr/>
          <p:nvPr/>
        </p:nvSpPr>
        <p:spPr>
          <a:xfrm>
            <a:off x="812800" y="5117505"/>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1035"/>
                </a:solidFill>
                <a:latin typeface="Fredoka" pitchFamily="34" charset="0"/>
                <a:ea typeface="Fredoka" pitchFamily="34" charset="-122"/>
                <a:cs typeface="Fredoka" pitchFamily="34" charset="-120"/>
              </a:rPr>
              <a:t>🤝 Both run on Git. Learn the commands once, use them on either.</a:t>
            </a:r>
            <a:endParaRPr lang="en-US" sz="1600" dirty="0"/>
          </a:p>
        </p:txBody>
      </p:sp>
      <p:sp>
        <p:nvSpPr>
          <p:cNvPr id="10" name="Text 7"/>
          <p:cNvSpPr/>
          <p:nvPr/>
        </p:nvSpPr>
        <p:spPr>
          <a:xfrm rot="300000">
            <a:off x="8521700" y="1092820"/>
            <a:ext cx="2387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1B1035">
                <a:alpha val="100000"/>
              </a:srgbClr>
            </a:outerShdw>
          </a:effectLst>
        </p:spPr>
        <p:txBody>
          <a:bodyPr wrap="square" lIns="42052" tIns="35575" rIns="4205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spoiler: it’s a tie 🤝</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9260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4 &gt; PRO TIPS</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26/30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Pro tips for game repos</a:t>
            </a:r>
            <a:endParaRPr lang="en-US" sz="4000" dirty="0"/>
          </a:p>
        </p:txBody>
      </p:sp>
      <p:sp>
        <p:nvSpPr>
          <p:cNvPr id="5" name="Shape 3"/>
          <p:cNvSpPr/>
          <p:nvPr/>
        </p:nvSpPr>
        <p:spPr>
          <a:xfrm>
            <a:off x="825500" y="1800820"/>
            <a:ext cx="3395117" cy="1917601"/>
          </a:xfrm>
          <a:prstGeom prst="roundRect">
            <a:avLst>
              <a:gd name="adj" fmla="val 7285"/>
            </a:avLst>
          </a:prstGeom>
          <a:solidFill>
            <a:srgbClr val="2A1A52"/>
          </a:solidFill>
          <a:ln w="25400">
            <a:solidFill>
              <a:srgbClr val="3BE8FF"/>
            </a:solidFill>
            <a:prstDash val="solid"/>
          </a:ln>
        </p:spPr>
        <p:txBody>
          <a:bodyPr/>
          <a:lstStyle/>
          <a:p>
            <a:endParaRPr lang="en-US"/>
          </a:p>
        </p:txBody>
      </p:sp>
      <p:sp>
        <p:nvSpPr>
          <p:cNvPr id="6" name="Text 4"/>
          <p:cNvSpPr/>
          <p:nvPr/>
        </p:nvSpPr>
        <p:spPr>
          <a:xfrm>
            <a:off x="1016000" y="1991320"/>
            <a:ext cx="3104540"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7" name="Text 5"/>
          <p:cNvSpPr/>
          <p:nvPr/>
        </p:nvSpPr>
        <p:spPr>
          <a:xfrm>
            <a:off x="1016000" y="248151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Git LFS for big files</a:t>
            </a:r>
            <a:endParaRPr lang="en-US" sz="1600" dirty="0"/>
          </a:p>
        </p:txBody>
      </p:sp>
      <p:sp>
        <p:nvSpPr>
          <p:cNvPr id="8" name="Text 6"/>
          <p:cNvSpPr/>
          <p:nvPr/>
        </p:nvSpPr>
        <p:spPr>
          <a:xfrm>
            <a:off x="1016000" y="278884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PSDs, WAVs, 3D models go in Large File Storage</a:t>
            </a:r>
            <a:endParaRPr lang="en-US" sz="1300" dirty="0"/>
          </a:p>
        </p:txBody>
      </p:sp>
      <p:sp>
        <p:nvSpPr>
          <p:cNvPr id="9" name="Text 7"/>
          <p:cNvSpPr/>
          <p:nvPr/>
        </p:nvSpPr>
        <p:spPr>
          <a:xfrm>
            <a:off x="1016000" y="3314601"/>
            <a:ext cx="31045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E8FF"/>
                </a:solidFill>
                <a:latin typeface="JetBrains Mono" pitchFamily="49" charset="0"/>
                <a:ea typeface="JetBrains Mono" pitchFamily="49" charset="-122"/>
                <a:cs typeface="JetBrains Mono" pitchFamily="49" charset="-120"/>
              </a:rPr>
              <a:t>git lfs track "*.psd"</a:t>
            </a:r>
            <a:endParaRPr lang="en-US" sz="1200" dirty="0"/>
          </a:p>
        </p:txBody>
      </p:sp>
      <p:sp>
        <p:nvSpPr>
          <p:cNvPr id="10" name="Shape 8"/>
          <p:cNvSpPr/>
          <p:nvPr/>
        </p:nvSpPr>
        <p:spPr>
          <a:xfrm>
            <a:off x="4398417" y="1800820"/>
            <a:ext cx="3395117" cy="1917601"/>
          </a:xfrm>
          <a:prstGeom prst="roundRect">
            <a:avLst>
              <a:gd name="adj" fmla="val 7285"/>
            </a:avLst>
          </a:prstGeom>
          <a:solidFill>
            <a:srgbClr val="2A1A52"/>
          </a:solidFill>
          <a:ln w="25400">
            <a:solidFill>
              <a:srgbClr val="FF4FA3"/>
            </a:solidFill>
            <a:prstDash val="solid"/>
          </a:ln>
        </p:spPr>
        <p:txBody>
          <a:bodyPr/>
          <a:lstStyle/>
          <a:p>
            <a:endParaRPr lang="en-US"/>
          </a:p>
        </p:txBody>
      </p:sp>
      <p:sp>
        <p:nvSpPr>
          <p:cNvPr id="11" name="Text 9"/>
          <p:cNvSpPr/>
          <p:nvPr/>
        </p:nvSpPr>
        <p:spPr>
          <a:xfrm>
            <a:off x="4588917" y="1991320"/>
            <a:ext cx="3104540"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12" name="Text 10"/>
          <p:cNvSpPr/>
          <p:nvPr/>
        </p:nvSpPr>
        <p:spPr>
          <a:xfrm>
            <a:off x="4588917" y="248151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Commit small &amp; often</a:t>
            </a:r>
            <a:endParaRPr lang="en-US" sz="1600" dirty="0"/>
          </a:p>
        </p:txBody>
      </p:sp>
      <p:sp>
        <p:nvSpPr>
          <p:cNvPr id="13" name="Text 11"/>
          <p:cNvSpPr/>
          <p:nvPr/>
        </p:nvSpPr>
        <p:spPr>
          <a:xfrm>
            <a:off x="4588917" y="278884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One feature per save. Way easier to undo one thing.</a:t>
            </a:r>
            <a:endParaRPr lang="en-US" sz="1300" dirty="0"/>
          </a:p>
        </p:txBody>
      </p:sp>
      <p:sp>
        <p:nvSpPr>
          <p:cNvPr id="14" name="Shape 12"/>
          <p:cNvSpPr/>
          <p:nvPr/>
        </p:nvSpPr>
        <p:spPr>
          <a:xfrm>
            <a:off x="7971334" y="1800820"/>
            <a:ext cx="3395166" cy="1917601"/>
          </a:xfrm>
          <a:prstGeom prst="roundRect">
            <a:avLst>
              <a:gd name="adj" fmla="val 7285"/>
            </a:avLst>
          </a:prstGeom>
          <a:solidFill>
            <a:srgbClr val="2A1A52"/>
          </a:solidFill>
          <a:ln w="25400">
            <a:solidFill>
              <a:srgbClr val="B6FF3B"/>
            </a:solidFill>
            <a:prstDash val="solid"/>
          </a:ln>
        </p:spPr>
        <p:txBody>
          <a:bodyPr/>
          <a:lstStyle/>
          <a:p>
            <a:endParaRPr lang="en-US"/>
          </a:p>
        </p:txBody>
      </p:sp>
      <p:sp>
        <p:nvSpPr>
          <p:cNvPr id="15" name="Text 13"/>
          <p:cNvSpPr/>
          <p:nvPr/>
        </p:nvSpPr>
        <p:spPr>
          <a:xfrm>
            <a:off x="8161834" y="1991320"/>
            <a:ext cx="3104591"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16" name="Text 14"/>
          <p:cNvSpPr/>
          <p:nvPr/>
        </p:nvSpPr>
        <p:spPr>
          <a:xfrm>
            <a:off x="8161834" y="2481511"/>
            <a:ext cx="310459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Messages = patch notes</a:t>
            </a:r>
            <a:endParaRPr lang="en-US" sz="1600" dirty="0"/>
          </a:p>
        </p:txBody>
      </p:sp>
      <p:sp>
        <p:nvSpPr>
          <p:cNvPr id="17" name="Text 15"/>
          <p:cNvSpPr/>
          <p:nvPr/>
        </p:nvSpPr>
        <p:spPr>
          <a:xfrm>
            <a:off x="8161834" y="2788841"/>
            <a:ext cx="319196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“Fix enemy spawning in walls”, not “stuff”</a:t>
            </a:r>
            <a:endParaRPr lang="en-US" sz="1300" dirty="0"/>
          </a:p>
        </p:txBody>
      </p:sp>
      <p:sp>
        <p:nvSpPr>
          <p:cNvPr id="18" name="Shape 16"/>
          <p:cNvSpPr/>
          <p:nvPr/>
        </p:nvSpPr>
        <p:spPr>
          <a:xfrm>
            <a:off x="825500" y="3896221"/>
            <a:ext cx="3395117" cy="1640780"/>
          </a:xfrm>
          <a:prstGeom prst="roundRect">
            <a:avLst>
              <a:gd name="adj" fmla="val 8514"/>
            </a:avLst>
          </a:prstGeom>
          <a:solidFill>
            <a:srgbClr val="2A1A52"/>
          </a:solidFill>
          <a:ln w="25400">
            <a:solidFill>
              <a:srgbClr val="FFD23F"/>
            </a:solidFill>
            <a:prstDash val="solid"/>
          </a:ln>
        </p:spPr>
        <p:txBody>
          <a:bodyPr/>
          <a:lstStyle/>
          <a:p>
            <a:endParaRPr lang="en-US"/>
          </a:p>
        </p:txBody>
      </p:sp>
      <p:sp>
        <p:nvSpPr>
          <p:cNvPr id="19" name="Text 17"/>
          <p:cNvSpPr/>
          <p:nvPr/>
        </p:nvSpPr>
        <p:spPr>
          <a:xfrm>
            <a:off x="1016000" y="4086721"/>
            <a:ext cx="3104540"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20" name="Text 18"/>
          <p:cNvSpPr/>
          <p:nvPr/>
        </p:nvSpPr>
        <p:spPr>
          <a:xfrm>
            <a:off x="1016000" y="457691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Never commit secrets</a:t>
            </a:r>
            <a:endParaRPr lang="en-US" sz="1600" dirty="0"/>
          </a:p>
        </p:txBody>
      </p:sp>
      <p:sp>
        <p:nvSpPr>
          <p:cNvPr id="21" name="Text 19"/>
          <p:cNvSpPr/>
          <p:nvPr/>
        </p:nvSpPr>
        <p:spPr>
          <a:xfrm>
            <a:off x="1016000" y="488424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API keys &amp; passwords stay out. Bots scan public repos.</a:t>
            </a:r>
            <a:endParaRPr lang="en-US" sz="1300" dirty="0"/>
          </a:p>
        </p:txBody>
      </p:sp>
      <p:sp>
        <p:nvSpPr>
          <p:cNvPr id="22" name="Shape 20"/>
          <p:cNvSpPr/>
          <p:nvPr/>
        </p:nvSpPr>
        <p:spPr>
          <a:xfrm>
            <a:off x="4398417" y="3896221"/>
            <a:ext cx="3395117" cy="1640780"/>
          </a:xfrm>
          <a:prstGeom prst="roundRect">
            <a:avLst>
              <a:gd name="adj" fmla="val 8514"/>
            </a:avLst>
          </a:prstGeom>
          <a:solidFill>
            <a:srgbClr val="2A1A52"/>
          </a:solidFill>
          <a:ln w="25400">
            <a:solidFill>
              <a:srgbClr val="9B6BFF"/>
            </a:solidFill>
            <a:prstDash val="solid"/>
          </a:ln>
        </p:spPr>
        <p:txBody>
          <a:bodyPr/>
          <a:lstStyle/>
          <a:p>
            <a:endParaRPr lang="en-US"/>
          </a:p>
        </p:txBody>
      </p:sp>
      <p:sp>
        <p:nvSpPr>
          <p:cNvPr id="23" name="Text 21"/>
          <p:cNvSpPr/>
          <p:nvPr/>
        </p:nvSpPr>
        <p:spPr>
          <a:xfrm>
            <a:off x="4588917" y="4086721"/>
            <a:ext cx="3104540"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24" name="Text 22"/>
          <p:cNvSpPr/>
          <p:nvPr/>
        </p:nvSpPr>
        <p:spPr>
          <a:xfrm>
            <a:off x="4588917" y="4576911"/>
            <a:ext cx="310454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One scene, one person</a:t>
            </a:r>
            <a:endParaRPr lang="en-US" sz="1600" dirty="0"/>
          </a:p>
        </p:txBody>
      </p:sp>
      <p:sp>
        <p:nvSpPr>
          <p:cNvPr id="25" name="Text 23"/>
          <p:cNvSpPr/>
          <p:nvPr/>
        </p:nvSpPr>
        <p:spPr>
          <a:xfrm>
            <a:off x="4588917" y="4884241"/>
            <a:ext cx="310454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Scene files merge badly. Split work into prefabs.</a:t>
            </a:r>
            <a:endParaRPr lang="en-US" sz="1300" dirty="0"/>
          </a:p>
        </p:txBody>
      </p:sp>
      <p:sp>
        <p:nvSpPr>
          <p:cNvPr id="26" name="Shape 24"/>
          <p:cNvSpPr/>
          <p:nvPr/>
        </p:nvSpPr>
        <p:spPr>
          <a:xfrm>
            <a:off x="7971334" y="3896221"/>
            <a:ext cx="3395166" cy="1640780"/>
          </a:xfrm>
          <a:prstGeom prst="roundRect">
            <a:avLst>
              <a:gd name="adj" fmla="val 8514"/>
            </a:avLst>
          </a:prstGeom>
          <a:solidFill>
            <a:srgbClr val="2A1A52"/>
          </a:solidFill>
          <a:ln w="25400">
            <a:solidFill>
              <a:srgbClr val="FF8A3D"/>
            </a:solidFill>
            <a:prstDash val="solid"/>
          </a:ln>
        </p:spPr>
        <p:txBody>
          <a:bodyPr/>
          <a:lstStyle/>
          <a:p>
            <a:endParaRPr lang="en-US"/>
          </a:p>
        </p:txBody>
      </p:sp>
      <p:sp>
        <p:nvSpPr>
          <p:cNvPr id="27" name="Text 25"/>
          <p:cNvSpPr/>
          <p:nvPr/>
        </p:nvSpPr>
        <p:spPr>
          <a:xfrm>
            <a:off x="8161834" y="4086721"/>
            <a:ext cx="3104591"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E9E1FF"/>
                </a:solidFill>
                <a:latin typeface="Fredoka" pitchFamily="34" charset="0"/>
                <a:ea typeface="Fredoka" pitchFamily="34" charset="-122"/>
                <a:cs typeface="Fredoka" pitchFamily="34" charset="-120"/>
              </a:rPr>
              <a:t>🔄</a:t>
            </a:r>
            <a:endParaRPr lang="en-US" sz="2800" dirty="0"/>
          </a:p>
        </p:txBody>
      </p:sp>
      <p:sp>
        <p:nvSpPr>
          <p:cNvPr id="28" name="Text 26"/>
          <p:cNvSpPr/>
          <p:nvPr/>
        </p:nvSpPr>
        <p:spPr>
          <a:xfrm>
            <a:off x="8161834" y="4576911"/>
            <a:ext cx="310459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FF4E0"/>
                </a:solidFill>
                <a:latin typeface="Fredoka" pitchFamily="34" charset="0"/>
                <a:ea typeface="Fredoka" pitchFamily="34" charset="-122"/>
                <a:cs typeface="Fredoka" pitchFamily="34" charset="-120"/>
              </a:rPr>
              <a:t>Pull before you push</a:t>
            </a:r>
            <a:endParaRPr lang="en-US" sz="1600" dirty="0"/>
          </a:p>
        </p:txBody>
      </p:sp>
      <p:sp>
        <p:nvSpPr>
          <p:cNvPr id="29" name="Text 27"/>
          <p:cNvSpPr/>
          <p:nvPr/>
        </p:nvSpPr>
        <p:spPr>
          <a:xfrm>
            <a:off x="8161834" y="4884241"/>
            <a:ext cx="3104591"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AEDB"/>
                </a:solidFill>
                <a:latin typeface="Fredoka" pitchFamily="34" charset="0"/>
                <a:ea typeface="Fredoka" pitchFamily="34" charset="-122"/>
                <a:cs typeface="Fredoka" pitchFamily="34" charset="-120"/>
              </a:rPr>
              <a:t>Dodges most merge conflicts before they spawn.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4E0"/>
        </a:solidFill>
        <a:effectLst/>
      </p:bgPr>
    </p:bg>
    <p:spTree>
      <p:nvGrpSpPr>
        <p:cNvPr id="1" name=""/>
        <p:cNvGrpSpPr/>
        <p:nvPr/>
      </p:nvGrpSpPr>
      <p:grpSpPr>
        <a:xfrm>
          <a:off x="0" y="0"/>
          <a:ext cx="0" cy="0"/>
          <a:chOff x="0" y="0"/>
          <a:chExt cx="0" cy="0"/>
        </a:xfrm>
      </p:grpSpPr>
      <p:sp>
        <p:nvSpPr>
          <p:cNvPr id="2" name="Text 0"/>
          <p:cNvSpPr/>
          <p:nvPr/>
        </p:nvSpPr>
        <p:spPr>
          <a:xfrm>
            <a:off x="812800" y="609600"/>
            <a:ext cx="2194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2FD6"/>
                </a:solidFill>
                <a:latin typeface="Press Start 2P" pitchFamily="49" charset="0"/>
                <a:ea typeface="Press Start 2P" pitchFamily="49" charset="-122"/>
                <a:cs typeface="Press Start 2P" pitchFamily="49" charset="-120"/>
              </a:rPr>
              <a:t>LVL 4 &gt; HALL</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2185B"/>
                </a:solidFill>
                <a:latin typeface="Press Start 2P" pitchFamily="49" charset="0"/>
                <a:ea typeface="Press Start 2P" pitchFamily="49" charset="-122"/>
                <a:cs typeface="Press Start 2P" pitchFamily="49" charset="-120"/>
              </a:rPr>
              <a:t>♥♥♥ 27/30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1B1035"/>
                </a:solidFill>
                <a:latin typeface="Bungee" pitchFamily="34" charset="0"/>
                <a:ea typeface="Bungee" pitchFamily="34" charset="-122"/>
                <a:cs typeface="Bungee" pitchFamily="34" charset="-120"/>
              </a:rPr>
              <a:t>Commit message tier list</a:t>
            </a:r>
            <a:endParaRPr lang="en-US" sz="4000" dirty="0"/>
          </a:p>
        </p:txBody>
      </p:sp>
      <p:sp>
        <p:nvSpPr>
          <p:cNvPr id="5" name="Shape 3"/>
          <p:cNvSpPr/>
          <p:nvPr/>
        </p:nvSpPr>
        <p:spPr>
          <a:xfrm>
            <a:off x="825500" y="1800820"/>
            <a:ext cx="5105400" cy="2707432"/>
          </a:xfrm>
          <a:prstGeom prst="roundRect">
            <a:avLst>
              <a:gd name="adj" fmla="val 5160"/>
            </a:avLst>
          </a:prstGeom>
          <a:solidFill>
            <a:srgbClr val="FFE3EF"/>
          </a:solidFill>
          <a:ln w="25400">
            <a:solidFill>
              <a:srgbClr val="1B1035"/>
            </a:solidFill>
            <a:prstDash val="solid"/>
          </a:ln>
          <a:effectLst>
            <a:outerShdw dist="89803" dir="2700000" algn="bl" rotWithShape="0">
              <a:srgbClr val="FF4FA3">
                <a:alpha val="100000"/>
              </a:srgbClr>
            </a:outerShdw>
          </a:effectLst>
        </p:spPr>
        <p:txBody>
          <a:bodyPr/>
          <a:lstStyle/>
          <a:p>
            <a:endParaRPr lang="en-US"/>
          </a:p>
        </p:txBody>
      </p:sp>
      <p:sp>
        <p:nvSpPr>
          <p:cNvPr id="6" name="Text 4"/>
          <p:cNvSpPr/>
          <p:nvPr/>
        </p:nvSpPr>
        <p:spPr>
          <a:xfrm>
            <a:off x="1041400" y="201672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185B"/>
                </a:solidFill>
                <a:latin typeface="Press Start 2P" pitchFamily="49" charset="0"/>
                <a:ea typeface="Press Start 2P" pitchFamily="49" charset="-122"/>
                <a:cs typeface="Press Start 2P" pitchFamily="49" charset="-120"/>
              </a:rPr>
              <a:t>F TIER 🤡</a:t>
            </a:r>
            <a:endParaRPr lang="en-US" sz="1400" dirty="0"/>
          </a:p>
        </p:txBody>
      </p:sp>
      <p:sp>
        <p:nvSpPr>
          <p:cNvPr id="7" name="Text 5"/>
          <p:cNvSpPr/>
          <p:nvPr/>
        </p:nvSpPr>
        <p:spPr>
          <a:xfrm>
            <a:off x="1041400" y="235451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fixed stuff</a:t>
            </a:r>
            <a:endParaRPr lang="en-US" sz="1400" dirty="0"/>
          </a:p>
        </p:txBody>
      </p:sp>
      <p:sp>
        <p:nvSpPr>
          <p:cNvPr id="8" name="Text 6"/>
          <p:cNvSpPr/>
          <p:nvPr/>
        </p:nvSpPr>
        <p:spPr>
          <a:xfrm>
            <a:off x="1041400" y="269230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asdfghjkl</a:t>
            </a:r>
            <a:endParaRPr lang="en-US" sz="1400" dirty="0"/>
          </a:p>
        </p:txBody>
      </p:sp>
      <p:sp>
        <p:nvSpPr>
          <p:cNvPr id="9" name="Text 7"/>
          <p:cNvSpPr/>
          <p:nvPr/>
        </p:nvSpPr>
        <p:spPr>
          <a:xfrm>
            <a:off x="1041400" y="303009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pls work</a:t>
            </a:r>
            <a:endParaRPr lang="en-US" sz="1400" dirty="0"/>
          </a:p>
        </p:txBody>
      </p:sp>
      <p:sp>
        <p:nvSpPr>
          <p:cNvPr id="10" name="Text 8"/>
          <p:cNvSpPr/>
          <p:nvPr/>
        </p:nvSpPr>
        <p:spPr>
          <a:xfrm>
            <a:off x="1041400" y="336788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final fix (not final)</a:t>
            </a:r>
            <a:endParaRPr lang="en-US" sz="1400" dirty="0"/>
          </a:p>
        </p:txBody>
      </p:sp>
      <p:sp>
        <p:nvSpPr>
          <p:cNvPr id="11" name="Text 9"/>
          <p:cNvSpPr/>
          <p:nvPr/>
        </p:nvSpPr>
        <p:spPr>
          <a:xfrm>
            <a:off x="1041400" y="370567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i hate unity</a:t>
            </a:r>
            <a:endParaRPr lang="en-US" sz="1400" dirty="0"/>
          </a:p>
        </p:txBody>
      </p:sp>
      <p:sp>
        <p:nvSpPr>
          <p:cNvPr id="12" name="Text 10"/>
          <p:cNvSpPr/>
          <p:nvPr/>
        </p:nvSpPr>
        <p:spPr>
          <a:xfrm>
            <a:off x="1041400" y="4043462"/>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AAAAAAAAAAAA</a:t>
            </a:r>
            <a:endParaRPr lang="en-US" sz="1400" dirty="0"/>
          </a:p>
        </p:txBody>
      </p:sp>
      <p:sp>
        <p:nvSpPr>
          <p:cNvPr id="13" name="Shape 11"/>
          <p:cNvSpPr/>
          <p:nvPr/>
        </p:nvSpPr>
        <p:spPr>
          <a:xfrm>
            <a:off x="6261100" y="1800820"/>
            <a:ext cx="5105400" cy="2707432"/>
          </a:xfrm>
          <a:prstGeom prst="roundRect">
            <a:avLst>
              <a:gd name="adj" fmla="val 5160"/>
            </a:avLst>
          </a:prstGeom>
          <a:solidFill>
            <a:srgbClr val="EEFFD6"/>
          </a:solidFill>
          <a:ln w="25400">
            <a:solidFill>
              <a:srgbClr val="1B1035"/>
            </a:solidFill>
            <a:prstDash val="solid"/>
          </a:ln>
          <a:effectLst>
            <a:outerShdw dist="89803" dir="2700000" algn="bl" rotWithShape="0">
              <a:srgbClr val="B6FF3B">
                <a:alpha val="100000"/>
              </a:srgbClr>
            </a:outerShdw>
          </a:effectLst>
        </p:spPr>
        <p:txBody>
          <a:bodyPr/>
          <a:lstStyle/>
          <a:p>
            <a:endParaRPr lang="en-US"/>
          </a:p>
        </p:txBody>
      </p:sp>
      <p:sp>
        <p:nvSpPr>
          <p:cNvPr id="14" name="Text 12"/>
          <p:cNvSpPr/>
          <p:nvPr/>
        </p:nvSpPr>
        <p:spPr>
          <a:xfrm>
            <a:off x="6477000" y="201672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F6B00"/>
                </a:solidFill>
                <a:latin typeface="Press Start 2P" pitchFamily="49" charset="0"/>
                <a:ea typeface="Press Start 2P" pitchFamily="49" charset="-122"/>
                <a:cs typeface="Press Start 2P" pitchFamily="49" charset="-120"/>
              </a:rPr>
              <a:t>S TIER 🏆</a:t>
            </a:r>
            <a:endParaRPr lang="en-US" sz="1400" dirty="0"/>
          </a:p>
        </p:txBody>
      </p:sp>
      <p:sp>
        <p:nvSpPr>
          <p:cNvPr id="15" name="Text 13"/>
          <p:cNvSpPr/>
          <p:nvPr/>
        </p:nvSpPr>
        <p:spPr>
          <a:xfrm>
            <a:off x="6477000" y="235451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Add coyote time to jump</a:t>
            </a:r>
            <a:endParaRPr lang="en-US" sz="1400" dirty="0"/>
          </a:p>
        </p:txBody>
      </p:sp>
      <p:sp>
        <p:nvSpPr>
          <p:cNvPr id="16" name="Text 14"/>
          <p:cNvSpPr/>
          <p:nvPr/>
        </p:nvSpPr>
        <p:spPr>
          <a:xfrm>
            <a:off x="6477000" y="269230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Fix enemies spawning in walls</a:t>
            </a:r>
            <a:endParaRPr lang="en-US" sz="1400" dirty="0"/>
          </a:p>
        </p:txBody>
      </p:sp>
      <p:sp>
        <p:nvSpPr>
          <p:cNvPr id="17" name="Text 15"/>
          <p:cNvSpPr/>
          <p:nvPr/>
        </p:nvSpPr>
        <p:spPr>
          <a:xfrm>
            <a:off x="6477000" y="303009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Lower boss HP from 500 to 350</a:t>
            </a:r>
            <a:endParaRPr lang="en-US" sz="1400" dirty="0"/>
          </a:p>
        </p:txBody>
      </p:sp>
      <p:sp>
        <p:nvSpPr>
          <p:cNvPr id="18" name="Text 16"/>
          <p:cNvSpPr/>
          <p:nvPr/>
        </p:nvSpPr>
        <p:spPr>
          <a:xfrm>
            <a:off x="6477000" y="336788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Add pause menu + volume slider</a:t>
            </a:r>
            <a:endParaRPr lang="en-US" sz="1400" dirty="0"/>
          </a:p>
        </p:txBody>
      </p:sp>
      <p:sp>
        <p:nvSpPr>
          <p:cNvPr id="19" name="Text 17"/>
          <p:cNvSpPr/>
          <p:nvPr/>
        </p:nvSpPr>
        <p:spPr>
          <a:xfrm>
            <a:off x="6477000" y="3705671"/>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Remove debug logs before demo</a:t>
            </a:r>
            <a:endParaRPr lang="en-US" sz="1400" dirty="0"/>
          </a:p>
        </p:txBody>
      </p:sp>
      <p:sp>
        <p:nvSpPr>
          <p:cNvPr id="20" name="Text 18"/>
          <p:cNvSpPr/>
          <p:nvPr/>
        </p:nvSpPr>
        <p:spPr>
          <a:xfrm>
            <a:off x="6477000" y="4043462"/>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035"/>
                </a:solidFill>
                <a:latin typeface="JetBrains Mono" pitchFamily="49" charset="0"/>
                <a:ea typeface="JetBrains Mono" pitchFamily="49" charset="-122"/>
                <a:cs typeface="JetBrains Mono" pitchFamily="49" charset="-120"/>
              </a:rPr>
              <a:t>Speed up level 2 loading</a:t>
            </a:r>
            <a:endParaRPr lang="en-US" sz="1400" dirty="0"/>
          </a:p>
        </p:txBody>
      </p:sp>
      <p:sp>
        <p:nvSpPr>
          <p:cNvPr id="21" name="Shape 19"/>
          <p:cNvSpPr/>
          <p:nvPr/>
        </p:nvSpPr>
        <p:spPr>
          <a:xfrm>
            <a:off x="812800" y="4724152"/>
            <a:ext cx="10566400" cy="563860"/>
          </a:xfrm>
          <a:prstGeom prst="roundRect">
            <a:avLst>
              <a:gd name="adj" fmla="val 22523"/>
            </a:avLst>
          </a:prstGeom>
          <a:solidFill>
            <a:srgbClr val="1B1035"/>
          </a:solidFill>
          <a:ln/>
        </p:spPr>
        <p:txBody>
          <a:bodyPr/>
          <a:lstStyle/>
          <a:p>
            <a:endParaRPr lang="en-US"/>
          </a:p>
        </p:txBody>
      </p:sp>
      <p:sp>
        <p:nvSpPr>
          <p:cNvPr id="22" name="Text 20"/>
          <p:cNvSpPr/>
          <p:nvPr/>
        </p:nvSpPr>
        <p:spPr>
          <a:xfrm>
            <a:off x="1016000" y="4899422"/>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D23F"/>
                </a:solidFill>
                <a:latin typeface="Press Start 2P" pitchFamily="49" charset="0"/>
                <a:ea typeface="Press Start 2P" pitchFamily="49" charset="-122"/>
                <a:cs typeface="Press Start 2P" pitchFamily="49" charset="-120"/>
              </a:rPr>
              <a:t>FORMULA</a:t>
            </a:r>
            <a:endParaRPr lang="en-US" sz="1200" dirty="0"/>
          </a:p>
        </p:txBody>
      </p:sp>
      <p:sp>
        <p:nvSpPr>
          <p:cNvPr id="23" name="Text 21"/>
          <p:cNvSpPr/>
          <p:nvPr/>
        </p:nvSpPr>
        <p:spPr>
          <a:xfrm>
            <a:off x="2209800" y="4863852"/>
            <a:ext cx="785252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4E0"/>
                </a:solidFill>
                <a:latin typeface="Fredoka" pitchFamily="34" charset="0"/>
                <a:ea typeface="Fredoka" pitchFamily="34" charset="-122"/>
                <a:cs typeface="Fredoka" pitchFamily="34" charset="-120"/>
              </a:rPr>
              <a:t>Verb + what changed. Write it like a patch note your players would read.</a:t>
            </a:r>
            <a:endParaRPr lang="en-US" sz="1600" dirty="0"/>
          </a:p>
        </p:txBody>
      </p:sp>
      <p:sp>
        <p:nvSpPr>
          <p:cNvPr id="24" name="Text 22"/>
          <p:cNvSpPr/>
          <p:nvPr/>
        </p:nvSpPr>
        <p:spPr>
          <a:xfrm rot="480000">
            <a:off x="3568700" y="2680320"/>
            <a:ext cx="2387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1B1035">
                <a:alpha val="100000"/>
              </a:srgbClr>
            </a:outerShdw>
          </a:effectLst>
        </p:spPr>
        <p:txBody>
          <a:bodyPr wrap="square" lIns="42052" tIns="35575" rIns="4205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we’ve all been there 😔</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035"/>
        </a:solidFill>
        <a:effectLst/>
      </p:bgPr>
    </p:bg>
    <p:spTree>
      <p:nvGrpSpPr>
        <p:cNvPr id="1" name=""/>
        <p:cNvGrpSpPr/>
        <p:nvPr/>
      </p:nvGrpSpPr>
      <p:grpSpPr>
        <a:xfrm>
          <a:off x="0" y="0"/>
          <a:ext cx="0" cy="0"/>
          <a:chOff x="0" y="0"/>
          <a:chExt cx="0" cy="0"/>
        </a:xfrm>
      </p:grpSpPr>
      <p:sp>
        <p:nvSpPr>
          <p:cNvPr id="2" name="Text 0"/>
          <p:cNvSpPr/>
          <p:nvPr/>
        </p:nvSpPr>
        <p:spPr>
          <a:xfrm>
            <a:off x="812800" y="609600"/>
            <a:ext cx="25603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LVL 4 &gt; CHEATS</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28/30</a:t>
            </a:r>
            <a:endParaRPr lang="en-US" sz="1200" dirty="0"/>
          </a:p>
        </p:txBody>
      </p:sp>
      <p:sp>
        <p:nvSpPr>
          <p:cNvPr id="4" name="Text 2"/>
          <p:cNvSpPr>
            <a:spLocks noGrp="1"/>
          </p:cNvSpPr>
          <p:nvPr>
            <p:ph type="title"/>
          </p:nvPr>
        </p:nvSpPr>
        <p:spPr>
          <a:xfrm>
            <a:off x="812800" y="102612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0" i="0" dirty="0">
                <a:solidFill>
                  <a:srgbClr val="FFF4E0"/>
                </a:solidFill>
                <a:latin typeface="Bungee" pitchFamily="34" charset="0"/>
                <a:ea typeface="Bungee" pitchFamily="34" charset="-122"/>
                <a:cs typeface="Bungee" pitchFamily="34" charset="-120"/>
              </a:rPr>
              <a:t>Cheat codes 🕹</a:t>
            </a:r>
            <a:endParaRPr lang="en-US" sz="4000" dirty="0"/>
          </a:p>
        </p:txBody>
      </p:sp>
      <p:sp>
        <p:nvSpPr>
          <p:cNvPr id="5" name="Shape 3"/>
          <p:cNvSpPr/>
          <p:nvPr/>
        </p:nvSpPr>
        <p:spPr>
          <a:xfrm>
            <a:off x="812800" y="1788120"/>
            <a:ext cx="3437434" cy="754311"/>
          </a:xfrm>
          <a:prstGeom prst="roundRect">
            <a:avLst>
              <a:gd name="adj" fmla="val 10102"/>
            </a:avLst>
          </a:prstGeom>
          <a:solidFill>
            <a:srgbClr val="2A1A52"/>
          </a:solidFill>
          <a:ln/>
        </p:spPr>
        <p:txBody>
          <a:bodyPr/>
          <a:lstStyle/>
          <a:p>
            <a:endParaRPr lang="en-US"/>
          </a:p>
        </p:txBody>
      </p:sp>
      <p:sp>
        <p:nvSpPr>
          <p:cNvPr id="6" name="Shape 4"/>
          <p:cNvSpPr/>
          <p:nvPr/>
        </p:nvSpPr>
        <p:spPr>
          <a:xfrm>
            <a:off x="812800" y="1788120"/>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3BE8FF"/>
          </a:solidFill>
          <a:ln/>
        </p:spPr>
        <p:txBody>
          <a:bodyPr/>
          <a:lstStyle/>
          <a:p>
            <a:endParaRPr lang="en-US"/>
          </a:p>
        </p:txBody>
      </p:sp>
      <p:sp>
        <p:nvSpPr>
          <p:cNvPr id="7" name="Text 5"/>
          <p:cNvSpPr/>
          <p:nvPr/>
        </p:nvSpPr>
        <p:spPr>
          <a:xfrm>
            <a:off x="1016000" y="1915120"/>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3BE8FF"/>
                </a:solidFill>
                <a:latin typeface="JetBrains Mono" pitchFamily="49" charset="0"/>
                <a:ea typeface="JetBrains Mono" pitchFamily="49" charset="-122"/>
                <a:cs typeface="JetBrains Mono" pitchFamily="49" charset="-120"/>
              </a:rPr>
              <a:t>git init</a:t>
            </a:r>
            <a:endParaRPr lang="en-US" sz="1400" dirty="0"/>
          </a:p>
        </p:txBody>
      </p:sp>
      <p:sp>
        <p:nvSpPr>
          <p:cNvPr id="8" name="Text 6"/>
          <p:cNvSpPr/>
          <p:nvPr/>
        </p:nvSpPr>
        <p:spPr>
          <a:xfrm>
            <a:off x="1016000" y="2202111"/>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start a new repo</a:t>
            </a:r>
            <a:endParaRPr lang="en-US" sz="1200" dirty="0"/>
          </a:p>
        </p:txBody>
      </p:sp>
      <p:sp>
        <p:nvSpPr>
          <p:cNvPr id="9" name="Shape 7"/>
          <p:cNvSpPr/>
          <p:nvPr/>
        </p:nvSpPr>
        <p:spPr>
          <a:xfrm>
            <a:off x="4377234" y="1788120"/>
            <a:ext cx="3437483" cy="754311"/>
          </a:xfrm>
          <a:prstGeom prst="roundRect">
            <a:avLst>
              <a:gd name="adj" fmla="val 10102"/>
            </a:avLst>
          </a:prstGeom>
          <a:solidFill>
            <a:srgbClr val="2A1A52"/>
          </a:solidFill>
          <a:ln/>
        </p:spPr>
        <p:txBody>
          <a:bodyPr/>
          <a:lstStyle/>
          <a:p>
            <a:endParaRPr lang="en-US"/>
          </a:p>
        </p:txBody>
      </p:sp>
      <p:sp>
        <p:nvSpPr>
          <p:cNvPr id="10" name="Shape 8"/>
          <p:cNvSpPr/>
          <p:nvPr/>
        </p:nvSpPr>
        <p:spPr>
          <a:xfrm>
            <a:off x="4377234" y="1788120"/>
            <a:ext cx="3437483" cy="754311"/>
          </a:xfrm>
          <a:custGeom>
            <a:avLst/>
            <a:gdLst/>
            <a:ahLst/>
            <a:cxnLst/>
            <a:rect l="l" t="t" r="r" b="b"/>
            <a:pathLst>
              <a:path w="3437483"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FF4FA3"/>
          </a:solidFill>
          <a:ln/>
        </p:spPr>
        <p:txBody>
          <a:bodyPr/>
          <a:lstStyle/>
          <a:p>
            <a:endParaRPr lang="en-US"/>
          </a:p>
        </p:txBody>
      </p:sp>
      <p:sp>
        <p:nvSpPr>
          <p:cNvPr id="11" name="Text 9"/>
          <p:cNvSpPr/>
          <p:nvPr/>
        </p:nvSpPr>
        <p:spPr>
          <a:xfrm>
            <a:off x="4580434" y="1915120"/>
            <a:ext cx="3174340"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F4FA3"/>
                </a:solidFill>
                <a:latin typeface="JetBrains Mono" pitchFamily="49" charset="0"/>
                <a:ea typeface="JetBrains Mono" pitchFamily="49" charset="-122"/>
                <a:cs typeface="JetBrains Mono" pitchFamily="49" charset="-120"/>
              </a:rPr>
              <a:t>git clone &lt;url&gt;</a:t>
            </a:r>
            <a:endParaRPr lang="en-US" sz="1400" dirty="0"/>
          </a:p>
        </p:txBody>
      </p:sp>
      <p:sp>
        <p:nvSpPr>
          <p:cNvPr id="12" name="Text 10"/>
          <p:cNvSpPr/>
          <p:nvPr/>
        </p:nvSpPr>
        <p:spPr>
          <a:xfrm>
            <a:off x="4580434" y="2202111"/>
            <a:ext cx="31743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download a project</a:t>
            </a:r>
            <a:endParaRPr lang="en-US" sz="1200" dirty="0"/>
          </a:p>
        </p:txBody>
      </p:sp>
      <p:sp>
        <p:nvSpPr>
          <p:cNvPr id="13" name="Shape 11"/>
          <p:cNvSpPr/>
          <p:nvPr/>
        </p:nvSpPr>
        <p:spPr>
          <a:xfrm>
            <a:off x="7941717" y="1788120"/>
            <a:ext cx="3437434" cy="754311"/>
          </a:xfrm>
          <a:prstGeom prst="roundRect">
            <a:avLst>
              <a:gd name="adj" fmla="val 10102"/>
            </a:avLst>
          </a:prstGeom>
          <a:solidFill>
            <a:srgbClr val="2A1A52"/>
          </a:solidFill>
          <a:ln/>
        </p:spPr>
        <p:txBody>
          <a:bodyPr/>
          <a:lstStyle/>
          <a:p>
            <a:endParaRPr lang="en-US"/>
          </a:p>
        </p:txBody>
      </p:sp>
      <p:sp>
        <p:nvSpPr>
          <p:cNvPr id="14" name="Shape 12"/>
          <p:cNvSpPr/>
          <p:nvPr/>
        </p:nvSpPr>
        <p:spPr>
          <a:xfrm>
            <a:off x="7941717" y="1788120"/>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B6FF3B"/>
          </a:solidFill>
          <a:ln/>
        </p:spPr>
        <p:txBody>
          <a:bodyPr/>
          <a:lstStyle/>
          <a:p>
            <a:endParaRPr lang="en-US"/>
          </a:p>
        </p:txBody>
      </p:sp>
      <p:sp>
        <p:nvSpPr>
          <p:cNvPr id="15" name="Text 13"/>
          <p:cNvSpPr/>
          <p:nvPr/>
        </p:nvSpPr>
        <p:spPr>
          <a:xfrm>
            <a:off x="8144917" y="1915120"/>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B6FF3B"/>
                </a:solidFill>
                <a:latin typeface="JetBrains Mono" pitchFamily="49" charset="0"/>
                <a:ea typeface="JetBrains Mono" pitchFamily="49" charset="-122"/>
                <a:cs typeface="JetBrains Mono" pitchFamily="49" charset="-120"/>
              </a:rPr>
              <a:t>git status</a:t>
            </a:r>
            <a:endParaRPr lang="en-US" sz="1400" dirty="0"/>
          </a:p>
        </p:txBody>
      </p:sp>
      <p:sp>
        <p:nvSpPr>
          <p:cNvPr id="16" name="Text 14"/>
          <p:cNvSpPr/>
          <p:nvPr/>
        </p:nvSpPr>
        <p:spPr>
          <a:xfrm>
            <a:off x="8144917" y="2202111"/>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what changed?</a:t>
            </a:r>
            <a:endParaRPr lang="en-US" sz="1200" dirty="0"/>
          </a:p>
        </p:txBody>
      </p:sp>
      <p:sp>
        <p:nvSpPr>
          <p:cNvPr id="17" name="Shape 15"/>
          <p:cNvSpPr/>
          <p:nvPr/>
        </p:nvSpPr>
        <p:spPr>
          <a:xfrm>
            <a:off x="812800" y="2669431"/>
            <a:ext cx="3437434" cy="754311"/>
          </a:xfrm>
          <a:prstGeom prst="roundRect">
            <a:avLst>
              <a:gd name="adj" fmla="val 10102"/>
            </a:avLst>
          </a:prstGeom>
          <a:solidFill>
            <a:srgbClr val="2A1A52"/>
          </a:solidFill>
          <a:ln/>
        </p:spPr>
        <p:txBody>
          <a:bodyPr/>
          <a:lstStyle/>
          <a:p>
            <a:endParaRPr lang="en-US"/>
          </a:p>
        </p:txBody>
      </p:sp>
      <p:sp>
        <p:nvSpPr>
          <p:cNvPr id="18" name="Shape 16"/>
          <p:cNvSpPr/>
          <p:nvPr/>
        </p:nvSpPr>
        <p:spPr>
          <a:xfrm>
            <a:off x="812800" y="2669431"/>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FFD23F"/>
          </a:solidFill>
          <a:ln/>
        </p:spPr>
        <p:txBody>
          <a:bodyPr/>
          <a:lstStyle/>
          <a:p>
            <a:endParaRPr lang="en-US"/>
          </a:p>
        </p:txBody>
      </p:sp>
      <p:sp>
        <p:nvSpPr>
          <p:cNvPr id="19" name="Text 17"/>
          <p:cNvSpPr/>
          <p:nvPr/>
        </p:nvSpPr>
        <p:spPr>
          <a:xfrm>
            <a:off x="1016000" y="2796431"/>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FD23F"/>
                </a:solidFill>
                <a:latin typeface="JetBrains Mono" pitchFamily="49" charset="0"/>
                <a:ea typeface="JetBrains Mono" pitchFamily="49" charset="-122"/>
                <a:cs typeface="JetBrains Mono" pitchFamily="49" charset="-120"/>
              </a:rPr>
              <a:t>git add .</a:t>
            </a:r>
            <a:endParaRPr lang="en-US" sz="1400" dirty="0"/>
          </a:p>
        </p:txBody>
      </p:sp>
      <p:sp>
        <p:nvSpPr>
          <p:cNvPr id="20" name="Text 18"/>
          <p:cNvSpPr/>
          <p:nvPr/>
        </p:nvSpPr>
        <p:spPr>
          <a:xfrm>
            <a:off x="1016000" y="3083421"/>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stage everything</a:t>
            </a:r>
            <a:endParaRPr lang="en-US" sz="1200" dirty="0"/>
          </a:p>
        </p:txBody>
      </p:sp>
      <p:sp>
        <p:nvSpPr>
          <p:cNvPr id="21" name="Shape 19"/>
          <p:cNvSpPr/>
          <p:nvPr/>
        </p:nvSpPr>
        <p:spPr>
          <a:xfrm>
            <a:off x="4377234" y="2669431"/>
            <a:ext cx="3437483" cy="754311"/>
          </a:xfrm>
          <a:prstGeom prst="roundRect">
            <a:avLst>
              <a:gd name="adj" fmla="val 10102"/>
            </a:avLst>
          </a:prstGeom>
          <a:solidFill>
            <a:srgbClr val="2A1A52"/>
          </a:solidFill>
          <a:ln/>
        </p:spPr>
        <p:txBody>
          <a:bodyPr/>
          <a:lstStyle/>
          <a:p>
            <a:endParaRPr lang="en-US"/>
          </a:p>
        </p:txBody>
      </p:sp>
      <p:sp>
        <p:nvSpPr>
          <p:cNvPr id="22" name="Shape 20"/>
          <p:cNvSpPr/>
          <p:nvPr/>
        </p:nvSpPr>
        <p:spPr>
          <a:xfrm>
            <a:off x="4377234" y="2669431"/>
            <a:ext cx="3437483" cy="754311"/>
          </a:xfrm>
          <a:custGeom>
            <a:avLst/>
            <a:gdLst/>
            <a:ahLst/>
            <a:cxnLst/>
            <a:rect l="l" t="t" r="r" b="b"/>
            <a:pathLst>
              <a:path w="3437483"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3BE8FF"/>
          </a:solidFill>
          <a:ln/>
        </p:spPr>
        <p:txBody>
          <a:bodyPr/>
          <a:lstStyle/>
          <a:p>
            <a:endParaRPr lang="en-US"/>
          </a:p>
        </p:txBody>
      </p:sp>
      <p:sp>
        <p:nvSpPr>
          <p:cNvPr id="23" name="Text 21"/>
          <p:cNvSpPr/>
          <p:nvPr/>
        </p:nvSpPr>
        <p:spPr>
          <a:xfrm>
            <a:off x="4580434" y="2796431"/>
            <a:ext cx="3174340"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3BE8FF"/>
                </a:solidFill>
                <a:latin typeface="JetBrains Mono" pitchFamily="49" charset="0"/>
                <a:ea typeface="JetBrains Mono" pitchFamily="49" charset="-122"/>
                <a:cs typeface="JetBrains Mono" pitchFamily="49" charset="-120"/>
              </a:rPr>
              <a:t>git commit -m "msg"</a:t>
            </a:r>
            <a:endParaRPr lang="en-US" sz="1400" dirty="0"/>
          </a:p>
        </p:txBody>
      </p:sp>
      <p:sp>
        <p:nvSpPr>
          <p:cNvPr id="24" name="Text 22"/>
          <p:cNvSpPr/>
          <p:nvPr/>
        </p:nvSpPr>
        <p:spPr>
          <a:xfrm>
            <a:off x="4580434" y="3083421"/>
            <a:ext cx="31743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SAVE with a name</a:t>
            </a:r>
            <a:endParaRPr lang="en-US" sz="1200" dirty="0"/>
          </a:p>
        </p:txBody>
      </p:sp>
      <p:sp>
        <p:nvSpPr>
          <p:cNvPr id="25" name="Shape 23"/>
          <p:cNvSpPr/>
          <p:nvPr/>
        </p:nvSpPr>
        <p:spPr>
          <a:xfrm>
            <a:off x="7941717" y="2669431"/>
            <a:ext cx="3437434" cy="754311"/>
          </a:xfrm>
          <a:prstGeom prst="roundRect">
            <a:avLst>
              <a:gd name="adj" fmla="val 10102"/>
            </a:avLst>
          </a:prstGeom>
          <a:solidFill>
            <a:srgbClr val="2A1A52"/>
          </a:solidFill>
          <a:ln/>
        </p:spPr>
        <p:txBody>
          <a:bodyPr/>
          <a:lstStyle/>
          <a:p>
            <a:endParaRPr lang="en-US"/>
          </a:p>
        </p:txBody>
      </p:sp>
      <p:sp>
        <p:nvSpPr>
          <p:cNvPr id="26" name="Shape 24"/>
          <p:cNvSpPr/>
          <p:nvPr/>
        </p:nvSpPr>
        <p:spPr>
          <a:xfrm>
            <a:off x="7941717" y="2669431"/>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FF4FA3"/>
          </a:solidFill>
          <a:ln/>
        </p:spPr>
        <p:txBody>
          <a:bodyPr/>
          <a:lstStyle/>
          <a:p>
            <a:endParaRPr lang="en-US"/>
          </a:p>
        </p:txBody>
      </p:sp>
      <p:sp>
        <p:nvSpPr>
          <p:cNvPr id="27" name="Text 25"/>
          <p:cNvSpPr/>
          <p:nvPr/>
        </p:nvSpPr>
        <p:spPr>
          <a:xfrm>
            <a:off x="8144917" y="2796431"/>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F4FA3"/>
                </a:solidFill>
                <a:latin typeface="JetBrains Mono" pitchFamily="49" charset="0"/>
                <a:ea typeface="JetBrains Mono" pitchFamily="49" charset="-122"/>
                <a:cs typeface="JetBrains Mono" pitchFamily="49" charset="-120"/>
              </a:rPr>
              <a:t>git push</a:t>
            </a:r>
            <a:endParaRPr lang="en-US" sz="1400" dirty="0"/>
          </a:p>
        </p:txBody>
      </p:sp>
      <p:sp>
        <p:nvSpPr>
          <p:cNvPr id="28" name="Text 26"/>
          <p:cNvSpPr/>
          <p:nvPr/>
        </p:nvSpPr>
        <p:spPr>
          <a:xfrm>
            <a:off x="8144917" y="3083421"/>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upload your saves</a:t>
            </a:r>
            <a:endParaRPr lang="en-US" sz="1200" dirty="0"/>
          </a:p>
        </p:txBody>
      </p:sp>
      <p:sp>
        <p:nvSpPr>
          <p:cNvPr id="29" name="Shape 27"/>
          <p:cNvSpPr/>
          <p:nvPr/>
        </p:nvSpPr>
        <p:spPr>
          <a:xfrm>
            <a:off x="812800" y="3550741"/>
            <a:ext cx="3437434" cy="754311"/>
          </a:xfrm>
          <a:prstGeom prst="roundRect">
            <a:avLst>
              <a:gd name="adj" fmla="val 10102"/>
            </a:avLst>
          </a:prstGeom>
          <a:solidFill>
            <a:srgbClr val="2A1A52"/>
          </a:solidFill>
          <a:ln/>
        </p:spPr>
        <p:txBody>
          <a:bodyPr/>
          <a:lstStyle/>
          <a:p>
            <a:endParaRPr lang="en-US"/>
          </a:p>
        </p:txBody>
      </p:sp>
      <p:sp>
        <p:nvSpPr>
          <p:cNvPr id="30" name="Shape 28"/>
          <p:cNvSpPr/>
          <p:nvPr/>
        </p:nvSpPr>
        <p:spPr>
          <a:xfrm>
            <a:off x="812800" y="3550741"/>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B6FF3B"/>
          </a:solidFill>
          <a:ln/>
        </p:spPr>
        <p:txBody>
          <a:bodyPr/>
          <a:lstStyle/>
          <a:p>
            <a:endParaRPr lang="en-US"/>
          </a:p>
        </p:txBody>
      </p:sp>
      <p:sp>
        <p:nvSpPr>
          <p:cNvPr id="31" name="Text 29"/>
          <p:cNvSpPr/>
          <p:nvPr/>
        </p:nvSpPr>
        <p:spPr>
          <a:xfrm>
            <a:off x="1016000" y="3677741"/>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B6FF3B"/>
                </a:solidFill>
                <a:latin typeface="JetBrains Mono" pitchFamily="49" charset="0"/>
                <a:ea typeface="JetBrains Mono" pitchFamily="49" charset="-122"/>
                <a:cs typeface="JetBrains Mono" pitchFamily="49" charset="-120"/>
              </a:rPr>
              <a:t>git pull</a:t>
            </a:r>
            <a:endParaRPr lang="en-US" sz="1400" dirty="0"/>
          </a:p>
        </p:txBody>
      </p:sp>
      <p:sp>
        <p:nvSpPr>
          <p:cNvPr id="32" name="Text 30"/>
          <p:cNvSpPr/>
          <p:nvPr/>
        </p:nvSpPr>
        <p:spPr>
          <a:xfrm>
            <a:off x="1016000" y="3964732"/>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get teammates’ saves</a:t>
            </a:r>
            <a:endParaRPr lang="en-US" sz="1200" dirty="0"/>
          </a:p>
        </p:txBody>
      </p:sp>
      <p:sp>
        <p:nvSpPr>
          <p:cNvPr id="33" name="Shape 31"/>
          <p:cNvSpPr/>
          <p:nvPr/>
        </p:nvSpPr>
        <p:spPr>
          <a:xfrm>
            <a:off x="4377234" y="3550741"/>
            <a:ext cx="3437483" cy="754311"/>
          </a:xfrm>
          <a:prstGeom prst="roundRect">
            <a:avLst>
              <a:gd name="adj" fmla="val 10102"/>
            </a:avLst>
          </a:prstGeom>
          <a:solidFill>
            <a:srgbClr val="2A1A52"/>
          </a:solidFill>
          <a:ln/>
        </p:spPr>
        <p:txBody>
          <a:bodyPr/>
          <a:lstStyle/>
          <a:p>
            <a:endParaRPr lang="en-US"/>
          </a:p>
        </p:txBody>
      </p:sp>
      <p:sp>
        <p:nvSpPr>
          <p:cNvPr id="34" name="Shape 32"/>
          <p:cNvSpPr/>
          <p:nvPr/>
        </p:nvSpPr>
        <p:spPr>
          <a:xfrm>
            <a:off x="4377234" y="3550741"/>
            <a:ext cx="3437483" cy="754311"/>
          </a:xfrm>
          <a:custGeom>
            <a:avLst/>
            <a:gdLst/>
            <a:ahLst/>
            <a:cxnLst/>
            <a:rect l="l" t="t" r="r" b="b"/>
            <a:pathLst>
              <a:path w="3437483"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FFD23F"/>
          </a:solidFill>
          <a:ln/>
        </p:spPr>
        <p:txBody>
          <a:bodyPr/>
          <a:lstStyle/>
          <a:p>
            <a:endParaRPr lang="en-US"/>
          </a:p>
        </p:txBody>
      </p:sp>
      <p:sp>
        <p:nvSpPr>
          <p:cNvPr id="35" name="Text 33"/>
          <p:cNvSpPr/>
          <p:nvPr/>
        </p:nvSpPr>
        <p:spPr>
          <a:xfrm>
            <a:off x="4580434" y="3677741"/>
            <a:ext cx="3174340"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FD23F"/>
                </a:solidFill>
                <a:latin typeface="JetBrains Mono" pitchFamily="49" charset="0"/>
                <a:ea typeface="JetBrains Mono" pitchFamily="49" charset="-122"/>
                <a:cs typeface="JetBrains Mono" pitchFamily="49" charset="-120"/>
              </a:rPr>
              <a:t>git log --oneline</a:t>
            </a:r>
            <a:endParaRPr lang="en-US" sz="1400" dirty="0"/>
          </a:p>
        </p:txBody>
      </p:sp>
      <p:sp>
        <p:nvSpPr>
          <p:cNvPr id="36" name="Text 34"/>
          <p:cNvSpPr/>
          <p:nvPr/>
        </p:nvSpPr>
        <p:spPr>
          <a:xfrm>
            <a:off x="4580434" y="3964732"/>
            <a:ext cx="31743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your save history</a:t>
            </a:r>
            <a:endParaRPr lang="en-US" sz="1200" dirty="0"/>
          </a:p>
        </p:txBody>
      </p:sp>
      <p:sp>
        <p:nvSpPr>
          <p:cNvPr id="37" name="Shape 35"/>
          <p:cNvSpPr/>
          <p:nvPr/>
        </p:nvSpPr>
        <p:spPr>
          <a:xfrm>
            <a:off x="7941717" y="3550741"/>
            <a:ext cx="3437434" cy="754311"/>
          </a:xfrm>
          <a:prstGeom prst="roundRect">
            <a:avLst>
              <a:gd name="adj" fmla="val 10102"/>
            </a:avLst>
          </a:prstGeom>
          <a:solidFill>
            <a:srgbClr val="2A1A52"/>
          </a:solidFill>
          <a:ln/>
        </p:spPr>
        <p:txBody>
          <a:bodyPr/>
          <a:lstStyle/>
          <a:p>
            <a:endParaRPr lang="en-US"/>
          </a:p>
        </p:txBody>
      </p:sp>
      <p:sp>
        <p:nvSpPr>
          <p:cNvPr id="38" name="Shape 36"/>
          <p:cNvSpPr/>
          <p:nvPr/>
        </p:nvSpPr>
        <p:spPr>
          <a:xfrm>
            <a:off x="7941717" y="3550741"/>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3BE8FF"/>
          </a:solidFill>
          <a:ln/>
        </p:spPr>
        <p:txBody>
          <a:bodyPr/>
          <a:lstStyle/>
          <a:p>
            <a:endParaRPr lang="en-US"/>
          </a:p>
        </p:txBody>
      </p:sp>
      <p:sp>
        <p:nvSpPr>
          <p:cNvPr id="39" name="Text 37"/>
          <p:cNvSpPr/>
          <p:nvPr/>
        </p:nvSpPr>
        <p:spPr>
          <a:xfrm>
            <a:off x="8144917" y="3677741"/>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3BE8FF"/>
                </a:solidFill>
                <a:latin typeface="JetBrains Mono" pitchFamily="49" charset="0"/>
                <a:ea typeface="JetBrains Mono" pitchFamily="49" charset="-122"/>
                <a:cs typeface="JetBrains Mono" pitchFamily="49" charset="-120"/>
              </a:rPr>
              <a:t>git switch -c name</a:t>
            </a:r>
            <a:endParaRPr lang="en-US" sz="1400" dirty="0"/>
          </a:p>
        </p:txBody>
      </p:sp>
      <p:sp>
        <p:nvSpPr>
          <p:cNvPr id="40" name="Text 38"/>
          <p:cNvSpPr/>
          <p:nvPr/>
        </p:nvSpPr>
        <p:spPr>
          <a:xfrm>
            <a:off x="8144917" y="3964732"/>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new branch</a:t>
            </a:r>
            <a:endParaRPr lang="en-US" sz="1200" dirty="0"/>
          </a:p>
        </p:txBody>
      </p:sp>
      <p:sp>
        <p:nvSpPr>
          <p:cNvPr id="41" name="Shape 39"/>
          <p:cNvSpPr/>
          <p:nvPr/>
        </p:nvSpPr>
        <p:spPr>
          <a:xfrm>
            <a:off x="812800" y="4432052"/>
            <a:ext cx="3437434" cy="754311"/>
          </a:xfrm>
          <a:prstGeom prst="roundRect">
            <a:avLst>
              <a:gd name="adj" fmla="val 10102"/>
            </a:avLst>
          </a:prstGeom>
          <a:solidFill>
            <a:srgbClr val="2A1A52"/>
          </a:solidFill>
          <a:ln/>
        </p:spPr>
        <p:txBody>
          <a:bodyPr/>
          <a:lstStyle/>
          <a:p>
            <a:endParaRPr lang="en-US"/>
          </a:p>
        </p:txBody>
      </p:sp>
      <p:sp>
        <p:nvSpPr>
          <p:cNvPr id="42" name="Shape 40"/>
          <p:cNvSpPr/>
          <p:nvPr/>
        </p:nvSpPr>
        <p:spPr>
          <a:xfrm>
            <a:off x="812800" y="4432052"/>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FF4FA3"/>
          </a:solidFill>
          <a:ln/>
        </p:spPr>
        <p:txBody>
          <a:bodyPr/>
          <a:lstStyle/>
          <a:p>
            <a:endParaRPr lang="en-US"/>
          </a:p>
        </p:txBody>
      </p:sp>
      <p:sp>
        <p:nvSpPr>
          <p:cNvPr id="43" name="Text 41"/>
          <p:cNvSpPr/>
          <p:nvPr/>
        </p:nvSpPr>
        <p:spPr>
          <a:xfrm>
            <a:off x="1016000" y="4559052"/>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F4FA3"/>
                </a:solidFill>
                <a:latin typeface="JetBrains Mono" pitchFamily="49" charset="0"/>
                <a:ea typeface="JetBrains Mono" pitchFamily="49" charset="-122"/>
                <a:cs typeface="JetBrains Mono" pitchFamily="49" charset="-120"/>
              </a:rPr>
              <a:t>git merge name</a:t>
            </a:r>
            <a:endParaRPr lang="en-US" sz="1400" dirty="0"/>
          </a:p>
        </p:txBody>
      </p:sp>
      <p:sp>
        <p:nvSpPr>
          <p:cNvPr id="44" name="Text 42"/>
          <p:cNvSpPr/>
          <p:nvPr/>
        </p:nvSpPr>
        <p:spPr>
          <a:xfrm>
            <a:off x="1016000" y="4846042"/>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combine branches</a:t>
            </a:r>
            <a:endParaRPr lang="en-US" sz="1200" dirty="0"/>
          </a:p>
        </p:txBody>
      </p:sp>
      <p:sp>
        <p:nvSpPr>
          <p:cNvPr id="45" name="Shape 43"/>
          <p:cNvSpPr/>
          <p:nvPr/>
        </p:nvSpPr>
        <p:spPr>
          <a:xfrm>
            <a:off x="4377234" y="4432052"/>
            <a:ext cx="3437483" cy="754311"/>
          </a:xfrm>
          <a:prstGeom prst="roundRect">
            <a:avLst>
              <a:gd name="adj" fmla="val 10102"/>
            </a:avLst>
          </a:prstGeom>
          <a:solidFill>
            <a:srgbClr val="2A1A52"/>
          </a:solidFill>
          <a:ln/>
        </p:spPr>
        <p:txBody>
          <a:bodyPr/>
          <a:lstStyle/>
          <a:p>
            <a:endParaRPr lang="en-US"/>
          </a:p>
        </p:txBody>
      </p:sp>
      <p:sp>
        <p:nvSpPr>
          <p:cNvPr id="46" name="Shape 44"/>
          <p:cNvSpPr/>
          <p:nvPr/>
        </p:nvSpPr>
        <p:spPr>
          <a:xfrm>
            <a:off x="4377234" y="4432052"/>
            <a:ext cx="3437483" cy="754311"/>
          </a:xfrm>
          <a:custGeom>
            <a:avLst/>
            <a:gdLst/>
            <a:ahLst/>
            <a:cxnLst/>
            <a:rect l="l" t="t" r="r" b="b"/>
            <a:pathLst>
              <a:path w="3437483"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B6FF3B"/>
          </a:solidFill>
          <a:ln/>
        </p:spPr>
        <p:txBody>
          <a:bodyPr/>
          <a:lstStyle/>
          <a:p>
            <a:endParaRPr lang="en-US"/>
          </a:p>
        </p:txBody>
      </p:sp>
      <p:sp>
        <p:nvSpPr>
          <p:cNvPr id="47" name="Text 45"/>
          <p:cNvSpPr/>
          <p:nvPr/>
        </p:nvSpPr>
        <p:spPr>
          <a:xfrm>
            <a:off x="4580434" y="4559052"/>
            <a:ext cx="3174340"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B6FF3B"/>
                </a:solidFill>
                <a:latin typeface="JetBrains Mono" pitchFamily="49" charset="0"/>
                <a:ea typeface="JetBrains Mono" pitchFamily="49" charset="-122"/>
                <a:cs typeface="JetBrains Mono" pitchFamily="49" charset="-120"/>
              </a:rPr>
              <a:t>git restore file</a:t>
            </a:r>
            <a:endParaRPr lang="en-US" sz="1400" dirty="0"/>
          </a:p>
        </p:txBody>
      </p:sp>
      <p:sp>
        <p:nvSpPr>
          <p:cNvPr id="48" name="Text 46"/>
          <p:cNvSpPr/>
          <p:nvPr/>
        </p:nvSpPr>
        <p:spPr>
          <a:xfrm>
            <a:off x="4580434" y="4846042"/>
            <a:ext cx="31743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undo unsaved edits</a:t>
            </a:r>
            <a:endParaRPr lang="en-US" sz="1200" dirty="0"/>
          </a:p>
        </p:txBody>
      </p:sp>
      <p:sp>
        <p:nvSpPr>
          <p:cNvPr id="49" name="Shape 47"/>
          <p:cNvSpPr/>
          <p:nvPr/>
        </p:nvSpPr>
        <p:spPr>
          <a:xfrm>
            <a:off x="7941717" y="4432052"/>
            <a:ext cx="3437434" cy="754311"/>
          </a:xfrm>
          <a:prstGeom prst="roundRect">
            <a:avLst>
              <a:gd name="adj" fmla="val 10102"/>
            </a:avLst>
          </a:prstGeom>
          <a:solidFill>
            <a:srgbClr val="2A1A52"/>
          </a:solidFill>
          <a:ln/>
        </p:spPr>
        <p:txBody>
          <a:bodyPr/>
          <a:lstStyle/>
          <a:p>
            <a:endParaRPr lang="en-US"/>
          </a:p>
        </p:txBody>
      </p:sp>
      <p:sp>
        <p:nvSpPr>
          <p:cNvPr id="50" name="Shape 48"/>
          <p:cNvSpPr/>
          <p:nvPr/>
        </p:nvSpPr>
        <p:spPr>
          <a:xfrm>
            <a:off x="7941717" y="4432052"/>
            <a:ext cx="3437434" cy="754311"/>
          </a:xfrm>
          <a:custGeom>
            <a:avLst/>
            <a:gdLst/>
            <a:ahLst/>
            <a:cxnLst/>
            <a:rect l="l" t="t" r="r" b="b"/>
            <a:pathLst>
              <a:path w="3437434" h="754311">
                <a:moveTo>
                  <a:pt x="76200" y="754311"/>
                </a:moveTo>
                <a:lnTo>
                  <a:pt x="76200" y="754311"/>
                </a:lnTo>
                <a:arcTo wR="76200" hR="76200" stAng="5400000" swAng="5400000"/>
                <a:lnTo>
                  <a:pt x="0" y="76200"/>
                </a:lnTo>
                <a:arcTo wR="76200" hR="76200" stAng="10800000" swAng="5400000"/>
                <a:lnTo>
                  <a:pt x="76200" y="0"/>
                </a:lnTo>
                <a:arcTo wR="25400" hR="76200" stAng="16200000" swAng="-5400000"/>
                <a:lnTo>
                  <a:pt x="50800" y="678111"/>
                </a:lnTo>
                <a:arcTo wR="25400" hR="76200" stAng="10800000" swAng="-5400000"/>
                <a:close/>
              </a:path>
            </a:pathLst>
          </a:custGeom>
          <a:solidFill>
            <a:srgbClr val="FFD23F"/>
          </a:solidFill>
          <a:ln/>
        </p:spPr>
        <p:txBody>
          <a:bodyPr/>
          <a:lstStyle/>
          <a:p>
            <a:endParaRPr lang="en-US"/>
          </a:p>
        </p:txBody>
      </p:sp>
      <p:sp>
        <p:nvSpPr>
          <p:cNvPr id="51" name="Text 49"/>
          <p:cNvSpPr/>
          <p:nvPr/>
        </p:nvSpPr>
        <p:spPr>
          <a:xfrm>
            <a:off x="8144917" y="4559052"/>
            <a:ext cx="3174289"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FD23F"/>
                </a:solidFill>
                <a:latin typeface="JetBrains Mono" pitchFamily="49" charset="0"/>
                <a:ea typeface="JetBrains Mono" pitchFamily="49" charset="-122"/>
                <a:cs typeface="JetBrains Mono" pitchFamily="49" charset="-120"/>
              </a:rPr>
              <a:t>git stash</a:t>
            </a:r>
            <a:endParaRPr lang="en-US" sz="1400" dirty="0"/>
          </a:p>
        </p:txBody>
      </p:sp>
      <p:sp>
        <p:nvSpPr>
          <p:cNvPr id="52" name="Text 50"/>
          <p:cNvSpPr/>
          <p:nvPr/>
        </p:nvSpPr>
        <p:spPr>
          <a:xfrm>
            <a:off x="8144917" y="4846042"/>
            <a:ext cx="31742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AEDB"/>
                </a:solidFill>
                <a:latin typeface="Fredoka" pitchFamily="34" charset="0"/>
                <a:ea typeface="Fredoka" pitchFamily="34" charset="-122"/>
                <a:cs typeface="Fredoka" pitchFamily="34" charset="-120"/>
              </a:rPr>
              <a:t>hide edits for later</a:t>
            </a:r>
            <a:endParaRPr lang="en-US" sz="1200" dirty="0"/>
          </a:p>
        </p:txBody>
      </p:sp>
      <p:sp>
        <p:nvSpPr>
          <p:cNvPr id="53" name="Text 51"/>
          <p:cNvSpPr/>
          <p:nvPr/>
        </p:nvSpPr>
        <p:spPr>
          <a:xfrm rot="300000">
            <a:off x="8267700" y="1092820"/>
            <a:ext cx="2641600" cy="450850"/>
          </a:xfrm>
          <a:prstGeom prst="roundRect">
            <a:avLst>
              <a:gd name="adj" fmla="val 50000"/>
            </a:avLst>
          </a:prstGeom>
          <a:solidFill>
            <a:srgbClr val="FFD23F"/>
          </a:solidFill>
          <a:ln w="25400">
            <a:solidFill>
              <a:srgbClr val="1B1035"/>
            </a:solidFill>
            <a:prstDash val="solid"/>
          </a:ln>
          <a:effectLst>
            <a:outerShdw dist="53882" dir="2700000" algn="bl" rotWithShape="0">
              <a:srgbClr val="FF4FA3">
                <a:alpha val="100000"/>
              </a:srgbClr>
            </a:outerShdw>
          </a:effectLst>
        </p:spPr>
        <p:txBody>
          <a:bodyPr wrap="square" lIns="38242" tIns="35575" rIns="38242"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 screenshot this one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812800" y="609600"/>
            <a:ext cx="16459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FF3B"/>
                </a:solidFill>
                <a:latin typeface="Press Start 2P" pitchFamily="49" charset="0"/>
                <a:ea typeface="Press Start 2P" pitchFamily="49" charset="-122"/>
                <a:cs typeface="Press Start 2P" pitchFamily="49" charset="-120"/>
              </a:rPr>
              <a:t>QUEST LOG</a:t>
            </a: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29/30</a:t>
            </a:r>
            <a:endParaRPr lang="en-US" sz="1200" dirty="0"/>
          </a:p>
        </p:txBody>
      </p:sp>
      <p:sp>
        <p:nvSpPr>
          <p:cNvPr id="4" name="Text 2"/>
          <p:cNvSpPr/>
          <p:nvPr/>
        </p:nvSpPr>
        <p:spPr>
          <a:xfrm>
            <a:off x="812800" y="1026120"/>
            <a:ext cx="7521575"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FFD23F"/>
                </a:solidFill>
                <a:latin typeface="Bungee" pitchFamily="34" charset="0"/>
                <a:ea typeface="Bungee" pitchFamily="34" charset="-122"/>
                <a:cs typeface="Bungee" pitchFamily="34" charset="-120"/>
              </a:rPr>
              <a:t>Side quest unlocked!</a:t>
            </a:r>
            <a:endParaRPr lang="en-US" sz="4000" dirty="0"/>
          </a:p>
        </p:txBody>
      </p:sp>
      <p:sp>
        <p:nvSpPr>
          <p:cNvPr id="5" name="Shape 3"/>
          <p:cNvSpPr/>
          <p:nvPr/>
        </p:nvSpPr>
        <p:spPr>
          <a:xfrm>
            <a:off x="828675" y="1824286"/>
            <a:ext cx="247650" cy="247650"/>
          </a:xfrm>
          <a:prstGeom prst="roundRect">
            <a:avLst>
              <a:gd name="adj" fmla="val 14103"/>
            </a:avLst>
          </a:prstGeom>
          <a:noFill/>
          <a:ln w="31750">
            <a:solidFill>
              <a:srgbClr val="B6FF3B"/>
            </a:solidFill>
            <a:prstDash val="solid"/>
          </a:ln>
        </p:spPr>
        <p:txBody>
          <a:bodyPr/>
          <a:lstStyle/>
          <a:p>
            <a:endParaRPr lang="en-US"/>
          </a:p>
        </p:txBody>
      </p:sp>
      <p:sp>
        <p:nvSpPr>
          <p:cNvPr id="6" name="Text 4"/>
          <p:cNvSpPr/>
          <p:nvPr/>
        </p:nvSpPr>
        <p:spPr>
          <a:xfrm>
            <a:off x="1244600" y="1788120"/>
            <a:ext cx="1159431"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F4E0"/>
                </a:solidFill>
                <a:latin typeface="Fredoka" pitchFamily="34" charset="0"/>
                <a:ea typeface="Fredoka" pitchFamily="34" charset="-122"/>
                <a:cs typeface="Fredoka" pitchFamily="34" charset="-120"/>
              </a:rPr>
              <a:t>Install Git</a:t>
            </a:r>
            <a:endParaRPr lang="en-US" sz="1800" dirty="0"/>
          </a:p>
        </p:txBody>
      </p:sp>
      <p:sp>
        <p:nvSpPr>
          <p:cNvPr id="7" name="Shape 5"/>
          <p:cNvSpPr/>
          <p:nvPr/>
        </p:nvSpPr>
        <p:spPr>
          <a:xfrm>
            <a:off x="828675" y="2284016"/>
            <a:ext cx="247650" cy="247650"/>
          </a:xfrm>
          <a:prstGeom prst="roundRect">
            <a:avLst>
              <a:gd name="adj" fmla="val 14103"/>
            </a:avLst>
          </a:prstGeom>
          <a:noFill/>
          <a:ln w="31750">
            <a:solidFill>
              <a:srgbClr val="B6FF3B"/>
            </a:solidFill>
            <a:prstDash val="solid"/>
          </a:ln>
        </p:spPr>
        <p:txBody>
          <a:bodyPr/>
          <a:lstStyle/>
          <a:p>
            <a:endParaRPr lang="en-US"/>
          </a:p>
        </p:txBody>
      </p:sp>
      <p:sp>
        <p:nvSpPr>
          <p:cNvPr id="8" name="Text 6"/>
          <p:cNvSpPr/>
          <p:nvPr/>
        </p:nvSpPr>
        <p:spPr>
          <a:xfrm>
            <a:off x="1244600" y="2247850"/>
            <a:ext cx="4076819"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F4E0"/>
                </a:solidFill>
                <a:latin typeface="Fredoka" pitchFamily="34" charset="0"/>
                <a:ea typeface="Fredoka" pitchFamily="34" charset="-122"/>
                <a:cs typeface="Fredoka" pitchFamily="34" charset="-120"/>
              </a:rPr>
              <a:t>Make a GitHub or GitLab account</a:t>
            </a:r>
            <a:endParaRPr lang="en-US" sz="1800" dirty="0"/>
          </a:p>
        </p:txBody>
      </p:sp>
      <p:sp>
        <p:nvSpPr>
          <p:cNvPr id="9" name="Shape 7"/>
          <p:cNvSpPr/>
          <p:nvPr/>
        </p:nvSpPr>
        <p:spPr>
          <a:xfrm>
            <a:off x="828675" y="2743746"/>
            <a:ext cx="247650" cy="247650"/>
          </a:xfrm>
          <a:prstGeom prst="roundRect">
            <a:avLst>
              <a:gd name="adj" fmla="val 14103"/>
            </a:avLst>
          </a:prstGeom>
          <a:noFill/>
          <a:ln w="31750">
            <a:solidFill>
              <a:srgbClr val="B6FF3B"/>
            </a:solidFill>
            <a:prstDash val="solid"/>
          </a:ln>
        </p:spPr>
        <p:txBody>
          <a:bodyPr/>
          <a:lstStyle/>
          <a:p>
            <a:endParaRPr lang="en-US"/>
          </a:p>
        </p:txBody>
      </p:sp>
      <p:sp>
        <p:nvSpPr>
          <p:cNvPr id="10" name="Text 8"/>
          <p:cNvSpPr/>
          <p:nvPr/>
        </p:nvSpPr>
        <p:spPr>
          <a:xfrm>
            <a:off x="1244600" y="2707580"/>
            <a:ext cx="4133850"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F4E0"/>
                </a:solidFill>
                <a:latin typeface="Fredoka" pitchFamily="34" charset="0"/>
                <a:ea typeface="Fredoka" pitchFamily="34" charset="-122"/>
                <a:cs typeface="Fredoka" pitchFamily="34" charset="-120"/>
              </a:rPr>
              <a:t>Push any project (yes, even Pong)</a:t>
            </a:r>
            <a:endParaRPr lang="en-US" sz="1800" dirty="0"/>
          </a:p>
        </p:txBody>
      </p:sp>
      <p:sp>
        <p:nvSpPr>
          <p:cNvPr id="11" name="Shape 9"/>
          <p:cNvSpPr/>
          <p:nvPr/>
        </p:nvSpPr>
        <p:spPr>
          <a:xfrm>
            <a:off x="828675" y="3203476"/>
            <a:ext cx="247650" cy="247650"/>
          </a:xfrm>
          <a:prstGeom prst="roundRect">
            <a:avLst>
              <a:gd name="adj" fmla="val 14103"/>
            </a:avLst>
          </a:prstGeom>
          <a:noFill/>
          <a:ln w="31750">
            <a:solidFill>
              <a:srgbClr val="B6FF3B"/>
            </a:solidFill>
            <a:prstDash val="solid"/>
          </a:ln>
        </p:spPr>
        <p:txBody>
          <a:bodyPr/>
          <a:lstStyle/>
          <a:p>
            <a:endParaRPr lang="en-US"/>
          </a:p>
        </p:txBody>
      </p:sp>
      <p:sp>
        <p:nvSpPr>
          <p:cNvPr id="12" name="Text 10"/>
          <p:cNvSpPr/>
          <p:nvPr/>
        </p:nvSpPr>
        <p:spPr>
          <a:xfrm>
            <a:off x="1244600" y="3167311"/>
            <a:ext cx="5445443"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FF4E0"/>
                </a:solidFill>
                <a:latin typeface="Fredoka" pitchFamily="34" charset="0"/>
                <a:ea typeface="Fredoka" pitchFamily="34" charset="-122"/>
                <a:cs typeface="Fredoka" pitchFamily="34" charset="-120"/>
              </a:rPr>
              <a:t>Drop your repo link in [club Discord channel]</a:t>
            </a:r>
            <a:endParaRPr lang="en-US" sz="1800" dirty="0"/>
          </a:p>
        </p:txBody>
      </p:sp>
      <p:sp>
        <p:nvSpPr>
          <p:cNvPr id="13" name="Text 11"/>
          <p:cNvSpPr/>
          <p:nvPr/>
        </p:nvSpPr>
        <p:spPr>
          <a:xfrm>
            <a:off x="812800" y="3690541"/>
            <a:ext cx="4826000" cy="480020"/>
          </a:xfrm>
          <a:prstGeom prst="roundRect">
            <a:avLst>
              <a:gd name="adj" fmla="val 50000"/>
            </a:avLst>
          </a:prstGeom>
          <a:solidFill>
            <a:srgbClr val="FF4FA3"/>
          </a:solidFill>
          <a:ln/>
        </p:spPr>
        <p:txBody>
          <a:bodyPr wrap="square" lIns="132903" tIns="18603" rIns="315" bIns="0" rtlCol="0" anchor="t">
            <a:normAutofit/>
          </a:bodyPr>
          <a:lstStyle/>
          <a:p>
            <a:pPr marL="0" indent="0" algn="l">
              <a:lnSpc>
                <a:spcPts val="2380"/>
              </a:lnSpc>
              <a:buNone/>
            </a:pPr>
            <a:r>
              <a:rPr lang="en-US" sz="1700" b="1" dirty="0">
                <a:solidFill>
                  <a:srgbClr val="1B1035"/>
                </a:solidFill>
                <a:latin typeface="Fredoka" pitchFamily="34" charset="0"/>
                <a:ea typeface="Fredoka" pitchFamily="34" charset="-122"/>
                <a:cs typeface="Fredoka" pitchFamily="34" charset="-120"/>
              </a:rPr>
              <a:t>🎁 Reward: +500 XP &amp; eternal bragging rights</a:t>
            </a:r>
            <a:endParaRPr lang="en-US" sz="1700" dirty="0"/>
          </a:p>
        </p:txBody>
      </p:sp>
      <p:sp>
        <p:nvSpPr>
          <p:cNvPr id="14" name="Text 12"/>
          <p:cNvSpPr>
            <a:spLocks noGrp="1"/>
          </p:cNvSpPr>
          <p:nvPr>
            <p:ph type="title"/>
          </p:nvPr>
        </p:nvSpPr>
        <p:spPr>
          <a:xfrm>
            <a:off x="812800" y="4373761"/>
            <a:ext cx="10883392" cy="758825"/>
          </a:xfrm>
          <a:prstGeom prst="rect">
            <a:avLst/>
          </a:prstGeom>
          <a:noFill/>
          <a:ln/>
        </p:spPr>
        <p:txBody>
          <a:bodyPr wrap="square" lIns="0" tIns="0" rIns="0" bIns="0" rtlCol="0" anchor="t">
            <a:normAutofit/>
          </a:bodyPr>
          <a:lstStyle/>
          <a:p>
            <a:pPr marL="0" indent="0" algn="l">
              <a:lnSpc>
                <a:spcPts val="5775"/>
              </a:lnSpc>
              <a:buNone/>
            </a:pPr>
            <a:r>
              <a:rPr lang="en-US" sz="5500" b="0" i="0" dirty="0">
                <a:solidFill>
                  <a:srgbClr val="FFF4E0"/>
                </a:solidFill>
                <a:latin typeface="Bungee" pitchFamily="34" charset="0"/>
                <a:ea typeface="Bungee" pitchFamily="34" charset="-122"/>
                <a:cs typeface="Bungee" pitchFamily="34" charset="-120"/>
              </a:rPr>
              <a:t>GG! Questions?</a:t>
            </a:r>
            <a:endParaRPr lang="en-US" sz="5500" dirty="0"/>
          </a:p>
        </p:txBody>
      </p:sp>
      <p:pic>
        <p:nvPicPr>
          <p:cNvPr id="15" name="Image 0" descr="Trophy"/>
          <p:cNvPicPr>
            <a:picLocks noChangeAspect="1"/>
          </p:cNvPicPr>
          <p:nvPr/>
        </p:nvPicPr>
        <p:blipFill>
          <a:blip r:embed="rId3"/>
          <a:srcRect/>
          <a:stretch/>
        </p:blipFill>
        <p:spPr>
          <a:xfrm rot="480000">
            <a:off x="7547818" y="3153817"/>
            <a:ext cx="2159000" cy="2305050"/>
          </a:xfrm>
          <a:prstGeom prst="rect">
            <a:avLst/>
          </a:prstGeom>
        </p:spPr>
      </p:pic>
      <p:sp>
        <p:nvSpPr>
          <p:cNvPr id="16" name="Text 13"/>
          <p:cNvSpPr/>
          <p:nvPr/>
        </p:nvSpPr>
        <p:spPr>
          <a:xfrm rot="21300000">
            <a:off x="9404945" y="5370041"/>
            <a:ext cx="2260600" cy="450850"/>
          </a:xfrm>
          <a:prstGeom prst="roundRect">
            <a:avLst>
              <a:gd name="adj" fmla="val 50000"/>
            </a:avLst>
          </a:prstGeom>
          <a:solidFill>
            <a:srgbClr val="B6FF3B"/>
          </a:solidFill>
          <a:ln w="25400">
            <a:solidFill>
              <a:srgbClr val="1B1035"/>
            </a:solidFill>
            <a:prstDash val="solid"/>
          </a:ln>
          <a:effectLst>
            <a:outerShdw dist="53882" dir="2700000" algn="bl" rotWithShape="0">
              <a:srgbClr val="FF4FA3">
                <a:alpha val="100000"/>
              </a:srgbClr>
            </a:outerShdw>
          </a:effectLst>
        </p:spPr>
        <p:txBody>
          <a:bodyPr wrap="square" lIns="43957" tIns="35575" rIns="43957" bIns="10175" rtlCol="0" anchor="t">
            <a:normAutofit/>
          </a:bodyPr>
          <a:lstStyle/>
          <a:p>
            <a:pPr marL="0" indent="0" algn="ctr">
              <a:lnSpc>
                <a:spcPts val="1960"/>
              </a:lnSpc>
              <a:buNone/>
            </a:pPr>
            <a:r>
              <a:rPr lang="en-US" sz="1400" b="1" dirty="0">
                <a:solidFill>
                  <a:srgbClr val="1B1035"/>
                </a:solidFill>
                <a:latin typeface="Fredoka" pitchFamily="34" charset="0"/>
                <a:ea typeface="Fredoka" pitchFamily="34" charset="-122"/>
                <a:cs typeface="Fredoka" pitchFamily="34" charset="-120"/>
              </a:rPr>
              <a:t>due: next meeting ⏰</a:t>
            </a:r>
            <a:endParaRPr lang="en-US" sz="1400" dirty="0"/>
          </a:p>
        </p:txBody>
      </p:sp>
      <p:pic>
        <p:nvPicPr>
          <p:cNvPr id="17" name="Image 1" descr="200.gif"/>
          <p:cNvPicPr>
            <a:picLocks noChangeAspect="1"/>
          </p:cNvPicPr>
          <p:nvPr/>
        </p:nvPicPr>
        <p:blipFill>
          <a:blip r:embed="rId4"/>
          <a:srcRect t="16" b="16"/>
          <a:stretch/>
        </p:blipFill>
        <p:spPr>
          <a:xfrm>
            <a:off x="7630716" y="1274862"/>
            <a:ext cx="4064000" cy="17399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812800" y="609600"/>
            <a:ext cx="256032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3" name="Text 1"/>
          <p:cNvSpPr/>
          <p:nvPr/>
        </p:nvSpPr>
        <p:spPr>
          <a:xfrm>
            <a:off x="9952653" y="609600"/>
            <a:ext cx="1426547"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F4FA3"/>
                </a:solidFill>
                <a:latin typeface="Press Start 2P" pitchFamily="49" charset="0"/>
                <a:ea typeface="Press Start 2P" pitchFamily="49" charset="-122"/>
                <a:cs typeface="Press Start 2P" pitchFamily="49" charset="-120"/>
              </a:rPr>
              <a:t>♥♥♥ 30/30</a:t>
            </a:r>
            <a:endParaRPr lang="en-US" sz="1200" dirty="0"/>
          </a:p>
        </p:txBody>
      </p:sp>
      <p:sp>
        <p:nvSpPr>
          <p:cNvPr id="9" name="Text 6"/>
          <p:cNvSpPr/>
          <p:nvPr/>
        </p:nvSpPr>
        <p:spPr>
          <a:xfrm>
            <a:off x="1981200" y="3553371"/>
            <a:ext cx="6017260" cy="256530"/>
          </a:xfrm>
          <a:prstGeom prst="rect">
            <a:avLst/>
          </a:prstGeom>
          <a:noFill/>
          <a:ln/>
        </p:spPr>
        <p:txBody>
          <a:bodyPr wrap="square" lIns="0" tIns="0" rIns="0" bIns="0" rtlCol="0" anchor="t">
            <a:normAutofit/>
          </a:bodyPr>
          <a:lstStyle/>
          <a:p>
            <a:pPr marL="0" indent="0" algn="l">
              <a:lnSpc>
                <a:spcPts val="1820"/>
              </a:lnSpc>
              <a:buNone/>
            </a:pPr>
            <a:endParaRPr lang="en-US" sz="1300" dirty="0"/>
          </a:p>
        </p:txBody>
      </p:sp>
      <p:sp>
        <p:nvSpPr>
          <p:cNvPr id="12" name="Text 8"/>
          <p:cNvSpPr/>
          <p:nvPr/>
        </p:nvSpPr>
        <p:spPr>
          <a:xfrm>
            <a:off x="8991739" y="3782020"/>
            <a:ext cx="1853922" cy="309860"/>
          </a:xfrm>
          <a:prstGeom prst="rect">
            <a:avLst/>
          </a:prstGeom>
          <a:noFill/>
          <a:ln/>
        </p:spPr>
        <p:txBody>
          <a:bodyPr wrap="square" lIns="0" tIns="0" rIns="0" bIns="0" rtlCol="0" anchor="t">
            <a:normAutofit/>
          </a:bodyPr>
          <a:lstStyle/>
          <a:p>
            <a:pPr marL="0" indent="0" algn="ctr">
              <a:lnSpc>
                <a:spcPts val="2240"/>
              </a:lnSpc>
              <a:buNone/>
            </a:pPr>
            <a:endParaRPr lang="en-US" sz="1600" dirty="0"/>
          </a:p>
        </p:txBody>
      </p:sp>
      <p:pic>
        <p:nvPicPr>
          <p:cNvPr id="22" name="presentation_7E95EF18-24A2-4103-99E6-5FB4D9213164.mp4">
            <a:hlinkClick r:id="" action="ppaction://media"/>
            <a:extLst>
              <a:ext uri="{FF2B5EF4-FFF2-40B4-BE49-F238E27FC236}">
                <a16:creationId xmlns:a16="http://schemas.microsoft.com/office/drawing/2014/main" id="{A93DE02D-ADDC-FD82-A474-85DEE498FCA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769"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2"/>
                </p:tgtEl>
              </p:cMediaNode>
            </p:video>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theme/theme1.xml><?xml version="1.0" encoding="utf-8"?>
<a:theme xmlns:a="http://schemas.openxmlformats.org/drawingml/2006/main" name="Git Gud: Git, GitHub &amp; GitLab">
  <a:themeElements>
    <a:clrScheme name="Git Gud: Git, GitHub &amp; GitLab">
      <a:dk1>
        <a:srgbClr val="1B1035"/>
      </a:dk1>
      <a:lt1>
        <a:srgbClr val="FFF4E0"/>
      </a:lt1>
      <a:dk2>
        <a:srgbClr val="322746"/>
      </a:dk2>
      <a:lt2>
        <a:srgbClr val="C6BBB5"/>
      </a:lt2>
      <a:accent1>
        <a:srgbClr val="2A1A52"/>
      </a:accent1>
      <a:accent2>
        <a:srgbClr val="B9AEDB"/>
      </a:accent2>
      <a:accent3>
        <a:srgbClr val="FFD23F"/>
      </a:accent3>
      <a:accent4>
        <a:srgbClr val="FF4FA3"/>
      </a:accent4>
      <a:accent5>
        <a:srgbClr val="B6FF3B"/>
      </a:accent5>
      <a:accent6>
        <a:srgbClr val="3BE8FF"/>
      </a:accent6>
      <a:hlink>
        <a:srgbClr val="0563C1"/>
      </a:hlink>
      <a:folHlink>
        <a:srgbClr val="954F72"/>
      </a:folHlink>
    </a:clrScheme>
    <a:fontScheme name="Git Gud: Git, GitHub &amp; GitLab">
      <a:majorFont>
        <a:latin typeface="Fredok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redok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4142</Words>
  <Application>Microsoft Macintosh PowerPoint</Application>
  <PresentationFormat>Widescreen</PresentationFormat>
  <Paragraphs>631</Paragraphs>
  <Slides>30</Slides>
  <Notes>30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Press Start 2P</vt:lpstr>
      <vt:lpstr>JetBrains Mono</vt:lpstr>
      <vt:lpstr>Arial</vt:lpstr>
      <vt:lpstr>Bungee</vt:lpstr>
      <vt:lpstr>Fredoka</vt:lpstr>
      <vt:lpstr>Git Gud: Git, GitHub &amp; GitLab</vt:lpstr>
      <vt:lpstr>GIT GUD</vt:lpstr>
      <vt:lpstr>Hello, devs! 👋</vt:lpstr>
      <vt:lpstr>Meet your host 🎤</vt:lpstr>
      <vt:lpstr>What even is Git?</vt:lpstr>
      <vt:lpstr>Git = save points 💾</vt:lpstr>
      <vt:lpstr>Speak Git like a gamer</vt:lpstr>
      <vt:lpstr>How a save happens</vt:lpstr>
      <vt:lpstr>What is GitHub? 🐙</vt:lpstr>
      <vt:lpstr>What is GitLab? </vt:lpstr>
      <vt:lpstr>Why even bother?</vt:lpstr>
      <vt:lpstr>Life without Git 😱</vt:lpstr>
      <vt:lpstr>Real coding time</vt:lpstr>
      <vt:lpstr>Boss prep: setup</vt:lpstr>
      <vt:lpstr>The daily combo 🔥</vt:lpstr>
      <vt:lpstr>Join a team project</vt:lpstr>
      <vt:lpstr>Branches: parallel worlds 🌌</vt:lpstr>
      <vt:lpstr>Boss fight: merge conflict ⚔️</vt:lpstr>
      <vt:lpstr>Don’t upload the junk 🗑</vt:lpstr>
      <vt:lpstr>Push from your IDE</vt:lpstr>
      <vt:lpstr>VS Code: stage &amp; commit</vt:lpstr>
      <vt:lpstr>VS Code: push it online</vt:lpstr>
      <vt:lpstr>Not a VS Code main?</vt:lpstr>
      <vt:lpstr>Team mode</vt:lpstr>
      <vt:lpstr>Pull Request = Merge Request</vt:lpstr>
      <vt:lpstr>GitHub vs GitLab</vt:lpstr>
      <vt:lpstr>Pro tips for game repos</vt:lpstr>
      <vt:lpstr>Commit message tier list</vt:lpstr>
      <vt:lpstr>Cheat codes 🕹</vt:lpstr>
      <vt:lpstr>GG!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Gud: Git, GitHub &amp; GitLab</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Fredoka
Copyright 2016 The Fredoka Project Authors (https://github.com/hafontia/Fredoka-One)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Bungee
Copyright 2023 The Bungee Project Authors (https://github.com/djrrb/Bungee)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Ilgiz Satkynov</cp:lastModifiedBy>
  <cp:revision>2</cp:revision>
  <dcterms:created xsi:type="dcterms:W3CDTF">2026-10-29T00:43:00Z</dcterms:created>
  <dcterms:modified xsi:type="dcterms:W3CDTF">2026-10-29T01:41:52Z</dcterms:modified>
</cp:coreProperties>
</file>